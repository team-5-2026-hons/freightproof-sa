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31"/>
  </p:notesMasterIdLst>
  <p:sldIdLst>
    <p:sldId id="256" r:id="rId5"/>
    <p:sldId id="257" r:id="rId6"/>
    <p:sldId id="282" r:id="rId36"/>
    <p:sldId id="258" r:id="rId7"/>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alk" id="{49B58B94-FBE1-6137-DB30-E94DE8FF432B}">
          <p14:sldIdLst>
            <p14:sldId id="256"/>
            <p14:sldId id="257"/>
            <p14:sldId id="258"/>
            <p14:sldId id="259"/>
            <p14:sldId id="260"/>
            <p14:sldId id="261"/>
            <p14:sldId id="262"/>
            <p14:sldId id="263"/>
            <p14:sldId id="264"/>
            <p14:sldId id="265"/>
            <p14:sldId id="266"/>
            <p14:sldId id="267"/>
            <p14:sldId id="268"/>
            <p14:sldId id="269"/>
            <p14:sldId id="270"/>
            <p14:sldId id="271"/>
            <p14:sldId id="272"/>
          </p14:sldIdLst>
        </p14:section>
        <p14:section name="Recorded walkthrough" id="{9A900760-49A8-A83D-F722-E146E5D1FAC8}">
          <p14:sldIdLst>
            <p14:sldId id="273"/>
          </p14:sldIdLst>
        </p14:section>
        <p14:section name="Backup" id="{7C7D6536-7201-5299-DF92-3E8363F4351F}">
          <p14:sldIdLst>
            <p14:sldId id="274"/>
            <p14:sldId id="275"/>
            <p14:sldId id="276"/>
            <p14:sldId id="277"/>
            <p14:sldId id="278"/>
            <p14:sldId id="279"/>
            <p14:sldId id="280"/>
            <p14:sldId id="28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6" d="100"/>
          <a:sy n="126" d="100"/>
        </p:scale>
        <p:origin x="58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4.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 Id="rId36"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D1B2A"/>
                </a:solidFill>
                <a:latin typeface="+mn-lt"/>
              </a:defRPr>
            </a:pPr>
            <a:r>
              <a:rPr lang="en-US" sz="1800" b="0" i="0" u="none" strike="noStrike">
                <a:solidFill>
                  <a:srgbClr val="0D1B2A"/>
                </a:solidFill>
                <a:latin typeface="+mn-lt"/>
              </a:rPr>
              <a:t>Points per sprint day</a:t>
            </a:r>
          </a:p>
        </c:rich>
      </c:tx>
      <c:overlay val="0"/>
    </c:title>
    <c:autoTitleDeleted val="0"/>
    <c:plotArea>
      <c:layout/>
      <c:barChart>
        <c:barDir val="col"/>
        <c:grouping val="clustered"/>
        <c:varyColors val="0"/>
        <c:ser>
          <c:idx val="0"/>
          <c:order val="0"/>
          <c:tx>
            <c:strRef>
              <c:f>Sheet1!$B$1</c:f>
              <c:strCache>
                <c:ptCount val="1"/>
                <c:pt idx="0">
                  <c:v>Points per sprint day</c:v>
                </c:pt>
              </c:strCache>
            </c:strRef>
          </c:tx>
          <c:spPr>
            <a:solidFill>
              <a:srgbClr val="8FA8B8"/>
            </a:solidFill>
            <a:effectLst/>
          </c:spPr>
          <c:invertIfNegative val="0"/>
          <c:dPt>
            <c:idx val="0"/>
            <c:invertIfNegative val="0"/>
            <c:bubble3D val="0"/>
            <c:extLst>
              <c:ext xmlns:c16="http://schemas.microsoft.com/office/drawing/2014/chart" uri="{C3380CC4-5D6E-409C-BE32-E72D297353CC}">
                <c16:uniqueId val="{00000001-A4EC-ED4B-8AC5-CEE2A1DB2F85}"/>
              </c:ext>
            </c:extLst>
          </c:dPt>
          <c:dPt>
            <c:idx val="1"/>
            <c:invertIfNegative val="0"/>
            <c:bubble3D val="0"/>
            <c:extLst>
              <c:ext xmlns:c16="http://schemas.microsoft.com/office/drawing/2014/chart" uri="{C3380CC4-5D6E-409C-BE32-E72D297353CC}">
                <c16:uniqueId val="{00000003-A4EC-ED4B-8AC5-CEE2A1DB2F85}"/>
              </c:ext>
            </c:extLst>
          </c:dPt>
          <c:dPt>
            <c:idx val="2"/>
            <c:invertIfNegative val="0"/>
            <c:bubble3D val="0"/>
            <c:extLst>
              <c:ext xmlns:c16="http://schemas.microsoft.com/office/drawing/2014/chart" uri="{C3380CC4-5D6E-409C-BE32-E72D297353CC}">
                <c16:uniqueId val="{00000005-A4EC-ED4B-8AC5-CEE2A1DB2F85}"/>
              </c:ext>
            </c:extLst>
          </c:dPt>
          <c:dPt>
            <c:idx val="3"/>
            <c:invertIfNegative val="0"/>
            <c:bubble3D val="0"/>
            <c:extLst>
              <c:ext xmlns:c16="http://schemas.microsoft.com/office/drawing/2014/chart" uri="{C3380CC4-5D6E-409C-BE32-E72D297353CC}">
                <c16:uniqueId val="{00000007-A4EC-ED4B-8AC5-CEE2A1DB2F85}"/>
              </c:ext>
            </c:extLst>
          </c:dPt>
          <c:dPt>
            <c:idx val="4"/>
            <c:invertIfNegative val="0"/>
            <c:bubble3D val="0"/>
            <c:spPr>
              <a:solidFill>
                <a:srgbClr val="E8A020"/>
              </a:solidFill>
              <a:effectLst/>
            </c:spPr>
            <c:extLst>
              <c:ext xmlns:c16="http://schemas.microsoft.com/office/drawing/2014/chart" uri="{C3380CC4-5D6E-409C-BE32-E72D297353CC}">
                <c16:uniqueId val="{00000009-A4EC-ED4B-8AC5-CEE2A1DB2F85}"/>
              </c:ext>
            </c:extLst>
          </c:dPt>
          <c:dPt>
            <c:idx val="5"/>
            <c:invertIfNegative val="0"/>
            <c:bubble3D val="0"/>
            <c:spPr>
              <a:solidFill>
                <a:srgbClr val="E8A020"/>
              </a:solidFill>
              <a:effectLst/>
            </c:spPr>
            <c:extLst>
              <c:ext xmlns:c16="http://schemas.microsoft.com/office/drawing/2014/chart" uri="{C3380CC4-5D6E-409C-BE32-E72D297353CC}">
                <c16:uniqueId val="{0000000B-A4EC-ED4B-8AC5-CEE2A1DB2F85}"/>
              </c:ext>
            </c:extLst>
          </c:dPt>
          <c:dLbls>
            <c:numFmt formatCode="0.0" sourceLinked="0"/>
            <c:spPr>
              <a:noFill/>
              <a:ln>
                <a:noFill/>
              </a:ln>
              <a:effectLst/>
            </c:spPr>
            <c:txPr>
              <a:bodyPr/>
              <a:lstStyle/>
              <a:p>
                <a:pPr>
                  <a:defRPr sz="1600" b="0" i="0" u="none" strike="noStrike">
                    <a:solidFill>
                      <a:srgbClr val="0D1B2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S2</c:v>
                </c:pt>
                <c:pt idx="1">
                  <c:v>S5</c:v>
                </c:pt>
                <c:pt idx="2">
                  <c:v>S6</c:v>
                </c:pt>
                <c:pt idx="3">
                  <c:v>S7</c:v>
                </c:pt>
                <c:pt idx="4">
                  <c:v>S8</c:v>
                </c:pt>
                <c:pt idx="5">
                  <c:v>S9</c:v>
                </c:pt>
              </c:strCache>
            </c:strRef>
          </c:cat>
          <c:val>
            <c:numRef>
              <c:f>Sheet1!$B$2:$B$7</c:f>
              <c:numCache>
                <c:formatCode>General</c:formatCode>
                <c:ptCount val="6"/>
                <c:pt idx="0">
                  <c:v>6.7</c:v>
                </c:pt>
                <c:pt idx="1">
                  <c:v>6.5</c:v>
                </c:pt>
                <c:pt idx="2">
                  <c:v>4.7</c:v>
                </c:pt>
                <c:pt idx="3">
                  <c:v>7.1</c:v>
                </c:pt>
                <c:pt idx="4">
                  <c:v>3.3</c:v>
                </c:pt>
                <c:pt idx="5">
                  <c:v>10.1</c:v>
                </c:pt>
              </c:numCache>
            </c:numRef>
          </c:val>
          <c:extLst>
            <c:ext xmlns:c16="http://schemas.microsoft.com/office/drawing/2014/chart" uri="{C3380CC4-5D6E-409C-BE32-E72D297353CC}">
              <c16:uniqueId val="{0000000C-A4EC-ED4B-8AC5-CEE2A1DB2F85}"/>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600" b="0" i="0" u="none" strike="noStrike">
                <a:solidFill>
                  <a:srgbClr val="4A6274"/>
                </a:solidFill>
                <a:latin typeface="+mn-lt"/>
              </a:defRPr>
            </a:pPr>
            <a:endParaRPr lang="en-US"/>
          </a:p>
        </c:txPr>
        <c:crossAx val="2094734552"/>
        <c:crosses val="autoZero"/>
        <c:auto val="1"/>
        <c:lblAlgn val="ctr"/>
        <c:lblOffset val="100"/>
        <c:noMultiLvlLbl val="1"/>
      </c:catAx>
      <c:valAx>
        <c:axId val="2094734552"/>
        <c:scaling>
          <c:orientation val="minMax"/>
          <c:max val="12"/>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80006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 FreightProof SA (Tim, 0:15)
Marksheet row: None (opening)
Point: Who we are, and the one promise the whole project rests on.
Point at: The promise line under the name.
Number: 4 presenters, one block each.
New this iteration: The promise line: evidence an insurer can verify without trusting us.
Next: Slide 2, still Tim.</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2: The handover gap (Tim, 1:00)</a:t>
            </a:r>
          </a:p>
          <a:p>
            <a:r>
              <a:t>Marksheet row: Project Overview (background, problems)</a:t>
            </a:r>
          </a:p>
          <a:p>
            <a:r>
              <a:t>Point: Every party's system works on its own terms. Parcel Perfect knows the waybill, Pulsit knows the vehicle, the gate knows the entry. Nothing ties them to one trip, so after an incident someone has to stitch them together.</a:t>
            </a:r>
          </a:p>
          <a:p>
            <a:r>
              <a:t>Point at: The four cards, one line each, then the insurer box.</a:t>
            </a:r>
          </a:p>
          <a:p>
            <a:r>
              <a:t>Number: 1,589 truck hijackings in 2024/25, about 4.4 a day (SAPS, 2025).</a:t>
            </a:r>
          </a:p>
          <a:p>
            <a:r>
              <a:t>If asked: the receiver may be another depot scanning into Parcel Perfect, or a customer signing paper; either way the record is keyed to the waybill, not the trip.</a:t>
            </a:r>
          </a:p>
          <a:p>
            <a:r>
              <a:t>New this iteration: Seven research interviews in September 2026 confirmed the gap is connecting the records.</a:t>
            </a:r>
          </a:p>
          <a:p>
            <a:r>
              <a:t>Next: Slide 3, still Tim: how FreightProof closes the gap.</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4: What we set out to achieve (Tim, 0:45)</a:t>
            </a:r>
          </a:p>
          <a:p>
            <a:r>
              <a:t>Marksheet row: Project Overview (objectives)</a:t>
            </a:r>
          </a:p>
          <a:p>
            <a:r>
              <a:t>Point: Business objectives are FreightProof's goals as a venture and are measured in the pilot. All four project objectives are achieved and all eight system objectives are delivered.</a:t>
            </a:r>
          </a:p>
          <a:p>
            <a:r>
              <a:t>Point at: The goal line, then the System column.</a:t>
            </a:r>
          </a:p>
          <a:p>
            <a:r>
              <a:t>Number: 4 of 4 project objectives, 8 of 8 system objectives.</a:t>
            </a:r>
          </a:p>
          <a:p>
            <a:r>
              <a:t>Say plainly: three of them run on simulated partner feeds, named in the footnote.</a:t>
            </a:r>
          </a:p>
          <a:p>
            <a:r>
              <a:t>New this iteration: Business objectives reframed for FreightProof as a venture.</a:t>
            </a:r>
          </a:p>
          <a:p>
            <a:r>
              <a:t>Next: Slide 5, Chiko.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5: Plan and progress (Chiko, 0:50)
Marksheet row: Project Management (overall plan, progress)
Point: Nine sprints over four iterations. Sprint 8 started late on purpose.
Point at: The gap before Sprint 8, then the two orange bars.
Number: Sprint 8 started 29 September.
New this iteration: Revised Sprint 8 start; code freeze from 19 October.
Next: Slide 6, still Chiko.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6: User story map (Chiko, 0:50)</a:t>
            </a:r>
          </a:p>
          <a:p>
            <a:r>
              <a:t>Marksheet row: Project Management (story map overall; Iteration 4 user stories)</a:t>
            </a:r>
          </a:p>
          <a:p>
            <a:r>
              <a:t>Point: Same backbone since Iteration 1. Each iteration filled in more of it; Iteration 4 (orange) concentrated on Assure and prove, because that is where the panel pushed.</a:t>
            </a:r>
          </a:p>
          <a:p>
            <a:r>
              <a:t>Point at: The backbone, then the orange Iteration 4 row, then the Verify and analyse column.</a:t>
            </a:r>
          </a:p>
          <a:p>
            <a:r>
              <a:t>Number: 16 Iteration 4 stories across all seven activities.</a:t>
            </a:r>
          </a:p>
          <a:p>
            <a:r>
              <a:t>New this iteration: Every orange card.</a:t>
            </a:r>
          </a:p>
          <a:p>
            <a:r>
              <a:t>Next: Slide 7, still Chiko.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7: Sprints 8 and 9 (Chiko, 1:00)
Marksheet row: Project Management (Scrum artefacts: burndown, velocity)
Point: Sprint 8 completed 51% in the sprint because large stories closed in single steps. Taken together, Sprints 8 and 9 ran at the team's usual rate.
Point at: Marker 1 on the burndown, then the two orange bars in the chart.
Number: 154 points in 24 days, 6.4 a day.
New this iteration: Carried work reported separately from new work, as promised in Iteration 3.
Next: Slide 8, still Chiko.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8: Risk register (Chiko, 0:50)</a:t>
            </a:r>
          </a:p>
          <a:p>
            <a:r>
              <a:t>Marksheet row: Project Management (revisions to the risk assessment)</a:t>
            </a:r>
          </a:p>
          <a:p>
            <a:r>
              <a:t>Point: The whole register on one slide: where each risk sits, what it is, and what changed. Seven scores came down because the work behind them shipped; five risks are new; one has happened.</a:t>
            </a:r>
          </a:p>
          <a:p>
            <a:r>
              <a:t>Point at: The top of the list (R-01, R-22), then R-14 (security, 15 down to 10), then the orange IDs.</a:t>
            </a:r>
          </a:p>
          <a:p>
            <a:r>
              <a:t>Number: R-22, no partner credentials, has happened: that is why three feeds are simulated.</a:t>
            </a:r>
          </a:p>
          <a:p>
            <a:r>
              <a:t>Scoring: likelihood × impact; Critical 15-25, High 8-14, Medium 4-7.</a:t>
            </a:r>
          </a:p>
          <a:p>
            <a:r>
              <a:t>New this iteration: R-19 to R-23 are new; R-22 has happened.</a:t>
            </a:r>
          </a:p>
          <a:p>
            <a:r>
              <a:t>Next: Slide 9, Thomas.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9: Deployment architecture (Thomas, 0:55)</a:t>
            </a:r>
          </a:p>
          <a:p>
            <a:r>
              <a:t>Marksheet row: Software Engineering Approach (architecture diagram)</a:t>
            </a:r>
          </a:p>
          <a:p>
            <a:r>
              <a:t>Point: A real deployment view: devices, hosts, protocols, and which outside services are live and which are simulated.</a:t>
            </a:r>
          </a:p>
          <a:p>
            <a:r>
              <a:t>Point at: The Railway node (API and worker), then the dashed boxes on the right.</a:t>
            </a:r>
          </a:p>
          <a:p>
            <a:r>
              <a:t>Number: Personal data stays in our Supabase database (EU region today); only fingerprints reach Hedera.</a:t>
            </a:r>
          </a:p>
          <a:p>
            <a:r>
              <a:t>New this iteration: Orange outlines: client portal, SendGrid, OpenRouteService, Gemini.</a:t>
            </a:r>
          </a:p>
          <a:p>
            <a:r>
              <a:t>Next: Slide 10, still Thomas.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10: Package diagram (Thomas, 0:30)
Marksheet row: Software Engineering Approach (UML for this iteration)
Point: The orchestration layer is split into one package per job, and CI enforces the layering.
Point at: The Trust and Evidence group, then Audit Packs and Reporting.
Number: 23 import-linter contracts, 0 broken.
New this iteration: Client portal, audit packs, incidents, evidence anchors, analytics chat, parcel trace.
Next: Slide 11, still Thomas.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11: Class diagram: Iteration 4 additions (Thomas, 0:40)
Marksheet row: Software Engineering Approach (UML: class diagram)
Point: The cargo hierarchy, and the classes that let an outsider get and check the evidence.
Point at: Trip, Consignment, Parcel down the middle, then AuditPack on the left.
Number: Manifest, then waybill, then parcel: three levels.
New this iteration: AuditPack and its access classes, Incident, IncidentUpdate, IncidentDeclaration, EvidenceAnchorEvent, CostProfile, DriverSubstitution, DriverSubstitutionRequest.
Next: Slide 12, still Thomas.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12: State machine and use cases (Thomas, 0:50)
Marksheet row: Software Engineering Approach (UML: state machine, use cases)
Point: Three fixes from the last review, and four new use cases.
Point at: The refused-activation loop, the Arrival state, then the More stops planned branches.
Number: 4 new use cases.
New this iteration: Arrival state; new outside actor, the audit-pack recipient.
Next: Slide 13, still Thomas.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13: How we build (Thomas, 0:35)</a:t>
            </a:r>
          </a:p>
          <a:p>
            <a:r>
              <a:t>Marksheet row: Software Engineering Approach (approach adopted, standards)</a:t>
            </a:r>
          </a:p>
          <a:p>
            <a:r>
              <a:t>Point: Scrum on the left. On the right, the one path every change takes, and the two standards that keep four developers from breaking each other's work.</a:t>
            </a:r>
          </a:p>
          <a:p>
            <a:r>
              <a:t>Point at: The three steps, then the layer stack, then migrations.</a:t>
            </a:r>
          </a:p>
          <a:p>
            <a:r>
              <a:t>Say: an endpoint can never call Hedera or a partner system directly; it has to go through orchestration. import-linter fails the build if anyone tries.</a:t>
            </a:r>
          </a:p>
          <a:p>
            <a:r>
              <a:t>New this iteration: The full backend test suite and a full migration rebuild run in CI; in Iteration 3 CI stopped at a style check.</a:t>
            </a:r>
          </a:p>
          <a:p>
            <a:r>
              <a:t>Number: Four layers; nothing skips one.</a:t>
            </a:r>
          </a:p>
          <a:p>
            <a:r>
              <a:t>Next: Slide 14, Ciaran.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14: Testing and QA (Ciaran, 0:50)</a:t>
            </a:r>
          </a:p>
          <a:p>
            <a:r>
              <a:t>Marksheet row: Software Engineering Approach (QA and testing)</a:t>
            </a:r>
          </a:p>
          <a:p>
            <a:r>
              <a:t>Point: Every test passes on every change, backend and frontend. What matters is what they prove: a changed record is caught, two people cannot both confirm one delivery, and an outage never stops the driver.</a:t>
            </a:r>
          </a:p>
          <a:p>
            <a:r>
              <a:t>Point at: The two All passing chips, then Tamper detection, then the CI screenshot.</a:t>
            </a:r>
          </a:p>
          <a:p>
            <a:r>
              <a:t>New this iteration: Full backend suite on every pull request; deliberate failure scenarios.</a:t>
            </a:r>
          </a:p>
          <a:p>
            <a:r>
              <a:t>Number: Every backend and frontend test passing on Sunday's run.</a:t>
            </a:r>
          </a:p>
          <a:p>
            <a:r>
              <a:t>Next: Slide 15, still Ciaran.</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15: AI use (Ciaran, 0:40)
Marksheet row: Software Engineering Approach (overview of AI use)
Point: Which tools we used, the controls around them, and the one place AI sits in the product.
Point at: The Controls list, then Severity: fixed rules.
Number: USD 20 monthly cap on the analytics chat.
New this iteration: Analytics chat on de-identified figures (FP-295).
Next: Slide 16, still Ciaran.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16: Ready for a pilot (Ciaran, 1:00)</a:t>
            </a:r>
          </a:p>
          <a:p>
            <a:r>
              <a:t>Marksheet row: General (status, challenges, issues, maturity)</a:t>
            </a:r>
          </a:p>
          <a:p>
            <a:r>
              <a:t>Point: What runs today, what is simulated and why, and the five things that sit between this system and real customer trips. None of them is a missing feature of the proof of concept: each needs real volume, a real customer or partner access.</a:t>
            </a:r>
          </a:p>
          <a:p>
            <a:r>
              <a:t>Point at: Running today, then Simulated (one sentence on why), then the right-hand column, then the two challenges.</a:t>
            </a:r>
          </a:p>
          <a:p>
            <a:r>
              <a:t>Number: Sprint 9 delivered 111 of 118 points after Sprint 8's 51%.</a:t>
            </a:r>
          </a:p>
          <a:p>
            <a:r>
              <a:t>Say plainly if asked: the database is in Supabase's EU region today; Supabase has no South African region, so in-country hosting is a pilot step.</a:t>
            </a:r>
          </a:p>
          <a:p>
            <a:r>
              <a:t>New this iteration: The pilot steps, each with its reason.</a:t>
            </a:r>
          </a:p>
          <a:p>
            <a:r>
              <a:t>Next: Slide 17, the demo route.</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SLIDE 17: Today's demo: one bad day (Ciaran, 0:20)</a:t>
            </a:r>
          </a:p>
          <a:p>
            <a:r>
              <a:t>Point: The live demo ends with two levels of verification, not only a PDF comparison.</a:t>
            </a:r>
          </a:p>
          <a:p>
            <a:r>
              <a:t>What to say: Next is a two-minute recorded normal trip using sample data. Then the live bad day, ending with two checks: a phase record against Hedera, then the genuine PDF passing and an edited copy failing.</a:t>
            </a:r>
          </a:p>
          <a:p>
            <a:r>
              <a:t>Stage cues: Normal trip film; live bad day; phase vs Hedera; pack seal; genuine PDF passes / edited fails.</a:t>
            </a:r>
          </a:p>
          <a:p>
            <a:r>
              <a:t>Stop 7: Issue the pack, open it on the insurer phone and select a phase with a successful receipt. Show the browser's verification against the public Hedera message and its timestamp. A matching record is not proof that the original report was true.</a:t>
            </a:r>
          </a:p>
          <a:p>
            <a:r>
              <a:t>Stop 8: Show the pack's own seal verified on Hedera. Choose the original PDF, then the edited copy, in 'Is my PDF genuine?'. Files are hashed locally, not uploaded. A match proves the exact issued file; it supplies no earlier phase receipt for recorded-only items.</a:t>
            </a:r>
          </a:p>
          <a:p>
            <a:r>
              <a:t>Fallback: A pre-issued pack with an anchored phase and a sealed PDF, plus a rehearsal recording. If the mirror is unreachable, describe verification as unavailable, not as tampering.</a:t>
            </a:r>
          </a:p>
          <a:p>
            <a:r>
              <a:t>If time: Draw a precinct from an address search after stop 8.</a:t>
            </a:r>
          </a:p>
          <a:p>
            <a:r>
              <a:t>Next: Slide 18, the video, then Act 0.</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18: Recorded walkthrough (Ciaran, 2:10 (demo slot))
Marksheet row: Demonstration (counted in the 30-minute demo, not the talk)
Point: A recorded walkthrough, made against sample data. The live system follows.
Point at: Nothing. Let it play.
Number: 2:10 long.
New this iteration: Not applicable.
Next: Live demo, Act 0: Thomas on the dispatcher laptop.</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1: Full class diagram
Show only if: Asked about the whole model or relationships.
Who answers: Thomas
Next: return to the demo or the question.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2: Database: Iteration 4 tables
Show only if: Asked about the schema or the ERD.
Who answers: Thomas
Next: return to the demo or the question.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3: Use-case diagrams
Show only if: Asked for the use-case model.
Who answers: Thomas
Next: return to the demo or the question.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4: Configured values
Show only if: Asked why 20 s, 200 m, 500 m and so on.
Who answers: Ciaran
Next: return to the demo or the question.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5: Receiver confirmation under ECTA
Show only if: Asked whether the swipe is a legal signature.
Who answers: Tim
Next: return to the demo or the question.</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6: Receiver identity options
Show only if: Asked about the receiver identity model.
Who answers: Tim
Next: return to the demo or the question.</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BACKUP 7: Sample test cases
Show only if: Asked for concrete tests.
Who answers: Ciaran
Next: return to the demo or the question.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SLIDE 3: How FreightProof works (Tim, 1:40)</a:t>
            </a:r>
          </a:p>
          <a:p>
            <a:r>
              <a:t>Point: Five steps. Explain why Hedera is an independent reference outside FreightProof's control, then the two levels of verification.</a:t>
            </a:r>
          </a:p>
          <a:p>
            <a:r>
              <a:t>What to say: Five steps: plan, capture, check, anchor and prove. The dispatcher locks the manifest-based plan. The driver captures phase evidence and the system compares sources. The receiver confirms on their own phone. A fingerprint changes with its record. If both lived only in our database, someone with sufficient access could replace both. Hedera supplies an independently timestamped reference outside our control. Each successfully anchored phase can be checked through the pack. The issued pack also has its own seal covering the report data and PDF fingerprints. The recipient checks phase content and the exact issued document in their browser against Hedera. Personal data stays off-chain. This proves integrity and timing, not the truth of the original report.</a:t>
            </a:r>
          </a:p>
          <a:p>
            <a:r>
              <a:t>Must cover: Independent reference; phase-record check; separate pack seal; personal data off-chain; the pack seal protects its issued snapshot but supplies no earlier phase timestamp for recorded-only items.</a:t>
            </a:r>
          </a:p>
          <a:p>
            <a:r>
              <a:t>Stage cues: Plan / capture / check; receiver's phone; database could change both; Hedera outside our control; phase check + pack seal; integrity and timing, not original truth.</a:t>
            </a:r>
          </a:p>
          <a:p>
            <a:r>
              <a:t>Point at: Anchor for the independent reference, then Prove for the two checks.</a:t>
            </a:r>
          </a:p>
          <a:p>
            <a:r>
              <a:t>Next: Slide 4, still Tim.</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pic>
        <p:nvPicPr>
          <p:cNvPr id="2" name="Image 0" descr="/tmp/claude-0/-home-claude/31143541-0ec7-5398-affd-e5fcdd8964de/scratchpad/build/img/logo_teal.png"/>
          <p:cNvPicPr>
            <a:picLocks noChangeAspect="1"/>
          </p:cNvPicPr>
          <p:nvPr/>
        </p:nvPicPr>
        <p:blipFill>
          <a:blip r:embed="rId2"/>
          <a:stretch>
            <a:fillRect/>
          </a:stretch>
        </p:blipFill>
        <p:spPr>
          <a:xfrm>
            <a:off x="457200" y="6446520"/>
            <a:ext cx="256032" cy="256032"/>
          </a:xfrm>
          <a:prstGeom prst="rect">
            <a:avLst/>
          </a:prstGeom>
        </p:spPr>
      </p:pic>
      <p:sp>
        <p:nvSpPr>
          <p:cNvPr id="3" name="Text 0"/>
          <p:cNvSpPr/>
          <p:nvPr/>
        </p:nvSpPr>
        <p:spPr>
          <a:xfrm>
            <a:off x="777240" y="6419088"/>
            <a:ext cx="5486400" cy="310896"/>
          </a:xfrm>
          <a:prstGeom prst="rect">
            <a:avLst/>
          </a:prstGeom>
          <a:noFill/>
          <a:ln/>
        </p:spPr>
        <p:txBody>
          <a:bodyPr wrap="square" lIns="0" tIns="0" rIns="0" bIns="0" rtlCol="0" anchor="ctr"/>
          <a:lstStyle/>
          <a:p>
            <a:pPr marL="0" indent="0">
              <a:buNone/>
            </a:pPr>
            <a:r>
              <a:rPr lang="en-US" sz="1200" dirty="0">
                <a:solidFill>
                  <a:srgbClr val="4A6274"/>
                </a:solidFill>
                <a:latin typeface="Calibri" pitchFamily="34" charset="0"/>
                <a:ea typeface="Calibri" pitchFamily="34" charset="-122"/>
                <a:cs typeface="Calibri" pitchFamily="34" charset="-120"/>
              </a:rPr>
              <a:t>FreightProof SA  ·  Team 05  ·  Iteration 4</a:t>
            </a:r>
            <a:endParaRPr lang="en-US" sz="1200" dirty="0"/>
          </a:p>
        </p:txBody>
      </p:sp>
      <p:sp>
        <p:nvSpPr>
          <p:cNvPr id="4" name="Text 1"/>
          <p:cNvSpPr>
            <a:spLocks noGrp="1"/>
          </p:cNvSpPr>
          <p:nvPr>
            <p:ph type="title" idx="102" hasCustomPrompt="1"/>
          </p:nvPr>
        </p:nvSpPr>
        <p:spPr>
          <a:xfrm>
            <a:off x="457200" y="292608"/>
            <a:ext cx="8595360" cy="731520"/>
          </a:xfrm>
          <a:prstGeom prst="rect">
            <a:avLst/>
          </a:prstGeom>
          <a:noFill/>
          <a:ln/>
        </p:spPr>
        <p:txBody>
          <a:bodyPr wrap="square" rtlCol="0"/>
          <a:lstStyle>
            <a:lvl1pPr marL="0" indent="0" algn="l">
              <a:buNone/>
              <a:defRPr lang="en-US" sz="3200" b="1" dirty="0">
                <a:solidFill>
                  <a:srgbClr val="0D1B2A"/>
                </a:solidFill>
                <a:latin typeface="Calibri" pitchFamily="34" charset="0"/>
                <a:ea typeface="Calibri" pitchFamily="34" charset="-122"/>
                <a:cs typeface="Calibri"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D1B2A"/>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8FA8B8"/>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png"/><Relationship Id="rId4" Type="http://schemas.openxmlformats.org/officeDocument/2006/relationships/chart" Target="../charts/char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8.png"/><Relationship Id="rId4" Type="http://schemas.openxmlformats.org/officeDocument/2006/relationships/image" Target="../media/image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1.png"/><Relationship Id="rId4" Type="http://schemas.openxmlformats.org/officeDocument/2006/relationships/image" Target="../media/image1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3.xml"/><Relationship Id="rId4" Type="http://schemas.openxmlformats.org/officeDocument/2006/relationships/notesSlide" Target="../notesSlides/notesSlide18.xml"/><Relationship Id="rId5" Type="http://schemas.openxmlformats.org/officeDocument/2006/relationships/image" Target="../media/image1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6.png"/><Relationship Id="rId4" Type="http://schemas.openxmlformats.org/officeDocument/2006/relationships/image" Target="../media/image17.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tmp/claude-0/-home-claude/31143541-0ec7-5398-affd-e5fcdd8964de/scratchpad/build/img/logo_light.png"/>
          <p:cNvPicPr>
            <a:picLocks noChangeAspect="1"/>
          </p:cNvPicPr>
          <p:nvPr/>
        </p:nvPicPr>
        <p:blipFill>
          <a:blip r:embed="rId3"/>
          <a:stretch>
            <a:fillRect/>
          </a:stretch>
        </p:blipFill>
        <p:spPr>
          <a:xfrm>
            <a:off x="822960" y="1325880"/>
            <a:ext cx="1325880" cy="1325880"/>
          </a:xfrm>
          <a:prstGeom prst="rect">
            <a:avLst/>
          </a:prstGeom>
        </p:spPr>
      </p:pic>
      <p:sp>
        <p:nvSpPr>
          <p:cNvPr id="3" name="text_1"/>
          <p:cNvSpPr txBox="1"/>
          <p:nvPr/>
        </p:nvSpPr>
        <p:spPr>
          <a:xfrm>
            <a:off x="2423160" y="1371600"/>
            <a:ext cx="8686800" cy="914400"/>
          </a:xfrm>
          <a:prstGeom prst="rect">
            <a:avLst/>
          </a:prstGeom>
          <a:noFill/>
          <a:ln/>
        </p:spPr>
        <p:txBody>
          <a:bodyPr wrap="square" lIns="0" tIns="0" rIns="0" bIns="0" rtlCol="0" anchor="ctr"/>
          <a:lstStyle/>
          <a:p>
            <a:pPr marL="0" indent="0">
              <a:buNone/>
            </a:pPr>
            <a:r>
              <a:rPr lang="en-US" sz="5600" b="1" dirty="0">
                <a:solidFill>
                  <a:srgbClr val="FFFFFF"/>
                </a:solidFill>
                <a:latin typeface="Calibri" pitchFamily="34" charset="0"/>
                <a:ea typeface="Calibri" pitchFamily="34" charset="-122"/>
                <a:cs typeface="Calibri" pitchFamily="34" charset="-120"/>
              </a:rPr>
              <a:t>FreightProof SA</a:t>
            </a:r>
            <a:endParaRPr lang="en-US" sz="5600" dirty="0"/>
          </a:p>
        </p:txBody>
      </p:sp>
      <p:sp>
        <p:nvSpPr>
          <p:cNvPr id="4" name="text_2"/>
          <p:cNvSpPr txBox="1"/>
          <p:nvPr/>
        </p:nvSpPr>
        <p:spPr>
          <a:xfrm>
            <a:off x="2423160" y="2286000"/>
            <a:ext cx="9144000" cy="548640"/>
          </a:xfrm>
          <a:prstGeom prst="rect">
            <a:avLst/>
          </a:prstGeom>
          <a:noFill/>
          <a:ln/>
        </p:spPr>
        <p:txBody>
          <a:bodyPr wrap="square" lIns="0" tIns="0" rIns="0" bIns="0" rtlCol="0" anchor="ctr"/>
          <a:lstStyle/>
          <a:p>
            <a:pPr marL="0" indent="0">
              <a:buNone/>
            </a:pPr>
            <a:r>
              <a:rPr lang="en-US" sz="2800" dirty="0">
                <a:solidFill>
                  <a:srgbClr val="BFE8EE"/>
                </a:solidFill>
                <a:latin typeface="Calibri" pitchFamily="34" charset="0"/>
                <a:ea typeface="Calibri" pitchFamily="34" charset="-122"/>
                <a:cs typeface="Calibri" pitchFamily="34" charset="-120"/>
              </a:rPr>
              <a:t>Evidence an insurer can verify without trusting us</a:t>
            </a:r>
            <a:endParaRPr lang="en-US" sz="2800" dirty="0"/>
          </a:p>
        </p:txBody>
      </p:sp>
      <p:sp>
        <p:nvSpPr>
          <p:cNvPr id="5" name="text_3"/>
          <p:cNvSpPr txBox="1"/>
          <p:nvPr/>
        </p:nvSpPr>
        <p:spPr>
          <a:xfrm>
            <a:off x="822960" y="3886200"/>
            <a:ext cx="10515600" cy="457200"/>
          </a:xfrm>
          <a:prstGeom prst="rect">
            <a:avLst/>
          </a:prstGeom>
          <a:noFill/>
          <a:ln/>
        </p:spPr>
        <p:txBody>
          <a:bodyPr wrap="square" lIns="0" tIns="0" rIns="0" bIns="0" rtlCol="0" anchor="ctr"/>
          <a:lstStyle/>
          <a:p>
            <a:pPr marL="0" indent="0">
              <a:buNone/>
            </a:pPr>
            <a:r>
              <a:rPr lang="en-US" sz="2200" dirty="0">
                <a:solidFill>
                  <a:srgbClr val="FFFFFF"/>
                </a:solidFill>
                <a:latin typeface="Calibri" pitchFamily="34" charset="0"/>
                <a:ea typeface="Calibri" pitchFamily="34" charset="-122"/>
                <a:cs typeface="Calibri" pitchFamily="34" charset="-120"/>
              </a:rPr>
              <a:t>Tim Gultig  ·  Chiko Kasongo  ·  Thomas Davis  ·  Ciaran Formby</a:t>
            </a:r>
            <a:endParaRPr lang="en-US" sz="2200" dirty="0"/>
          </a:p>
        </p:txBody>
      </p:sp>
      <p:sp>
        <p:nvSpPr>
          <p:cNvPr id="6" name="text_4"/>
          <p:cNvSpPr txBox="1"/>
          <p:nvPr/>
        </p:nvSpPr>
        <p:spPr>
          <a:xfrm>
            <a:off x="822960" y="4389120"/>
            <a:ext cx="10515600" cy="411480"/>
          </a:xfrm>
          <a:prstGeom prst="rect">
            <a:avLst/>
          </a:prstGeom>
          <a:noFill/>
          <a:ln/>
        </p:spPr>
        <p:txBody>
          <a:bodyPr wrap="square" lIns="0" tIns="0" rIns="0" bIns="0" rtlCol="0" anchor="ctr"/>
          <a:lstStyle/>
          <a:p>
            <a:pPr marL="0" indent="0">
              <a:buNone/>
            </a:pPr>
            <a:r>
              <a:rPr lang="en-US" sz="2000" dirty="0">
                <a:solidFill>
                  <a:srgbClr val="D5DEE5"/>
                </a:solidFill>
                <a:latin typeface="Calibri" pitchFamily="34" charset="0"/>
                <a:ea typeface="Calibri" pitchFamily="34" charset="-122"/>
                <a:cs typeface="Calibri" pitchFamily="34" charset="-120"/>
              </a:rPr>
              <a:t>Industry partner: Load Factor Group</a:t>
            </a:r>
            <a:endParaRPr lang="en-US" sz="2000" dirty="0"/>
          </a:p>
        </p:txBody>
      </p:sp>
      <p:sp>
        <p:nvSpPr>
          <p:cNvPr id="7" name="text_5"/>
          <p:cNvSpPr txBox="1"/>
          <p:nvPr/>
        </p:nvSpPr>
        <p:spPr>
          <a:xfrm>
            <a:off x="822960" y="5760720"/>
            <a:ext cx="10515600" cy="365760"/>
          </a:xfrm>
          <a:prstGeom prst="rect">
            <a:avLst/>
          </a:prstGeom>
          <a:noFill/>
          <a:ln/>
        </p:spPr>
        <p:txBody>
          <a:bodyPr wrap="square" lIns="0" tIns="0" rIns="0" bIns="0" rtlCol="0" anchor="ctr"/>
          <a:lstStyle/>
          <a:p>
            <a:pPr marL="0" indent="0">
              <a:buNone/>
            </a:pPr>
            <a:r>
              <a:rPr lang="en-US" sz="1800" dirty="0">
                <a:solidFill>
                  <a:srgbClr val="D5DEE5"/>
                </a:solidFill>
                <a:latin typeface="Calibri" pitchFamily="34" charset="0"/>
                <a:ea typeface="Calibri" pitchFamily="34" charset="-122"/>
                <a:cs typeface="Calibri" pitchFamily="34" charset="-120"/>
              </a:rPr>
              <a:t>INF4027W  ·  UCT Honours  ·  Team 05  ·  Iteration 4  ·  26 October 2026</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8FA8B8"/>
                </a:solidFill>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The handover gap</a:t>
            </a:r>
            <a:endParaRPr lang="en-US" sz="3200" dirty="0"/>
          </a:p>
        </p:txBody>
      </p:sp>
      <p:sp>
        <p:nvSpPr>
          <p:cNvPr id="3" name="kicker_6"/>
          <p:cNvSpPr txBox="1"/>
          <p:nvPr/>
        </p:nvSpPr>
        <p:spPr>
          <a:xfrm>
            <a:off x="10213848" y="475488"/>
            <a:ext cx="151790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OVERVIEW</a:t>
            </a:r>
            <a:endParaRPr lang="en-US" sz="1600" dirty="0"/>
          </a:p>
        </p:txBody>
      </p:sp>
      <p:sp>
        <p:nvSpPr>
          <p:cNvPr id="30"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2</a:t>
            </a:fld>
            <a:endParaRPr lang="en-US"/>
          </a:p>
        </p:txBody>
      </p:sp>
      <p:sp>
        <p:nvSpPr>
          <p:cNvPr id="31" name="TextBox 30"/>
          <p:cNvSpPr txBox="1"/>
          <p:nvPr/>
        </p:nvSpPr>
        <p:spPr>
          <a:xfrm>
            <a:off x="457200" y="1097280"/>
            <a:ext cx="11274552" cy="548640"/>
          </a:xfrm>
          <a:prstGeom prst="rect">
            <a:avLst/>
          </a:prstGeom>
          <a:noFill/>
        </p:spPr>
        <p:txBody>
          <a:bodyPr wrap="square" lIns="0" rIns="0" tIns="0" bIns="0" anchor="t">
            <a:spAutoFit/>
          </a:bodyPr>
          <a:lstStyle/>
          <a:p>
            <a:pPr algn="l">
              <a:spcAft>
                <a:spcPts val="0"/>
              </a:spcAft>
            </a:pPr>
            <a:r>
              <a:rPr sz="1900" b="0">
                <a:solidFill>
                  <a:srgbClr val="4A6274"/>
                </a:solidFill>
                <a:latin typeface="Calibri"/>
              </a:rPr>
              <a:t>Each party's system works. The gap is between them: nothing ties their records to one trip.</a:t>
            </a:r>
          </a:p>
        </p:txBody>
      </p:sp>
      <p:sp>
        <p:nvSpPr>
          <p:cNvPr id="32" name="Rounded Rectangle 31"/>
          <p:cNvSpPr/>
          <p:nvPr/>
        </p:nvSpPr>
        <p:spPr>
          <a:xfrm>
            <a:off x="457200" y="1874519"/>
            <a:ext cx="3291840" cy="132588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85800" y="2011679"/>
            <a:ext cx="2880360" cy="1097280"/>
          </a:xfrm>
          <a:prstGeom prst="rect">
            <a:avLst/>
          </a:prstGeom>
          <a:noFill/>
        </p:spPr>
        <p:txBody>
          <a:bodyPr wrap="square" lIns="0" rIns="0" tIns="0" bIns="0" anchor="t">
            <a:spAutoFit/>
          </a:bodyPr>
          <a:lstStyle/>
          <a:p>
            <a:pPr algn="l">
              <a:spcAft>
                <a:spcPts val="200"/>
              </a:spcAft>
            </a:pPr>
            <a:r>
              <a:rPr sz="1900" b="1">
                <a:solidFill>
                  <a:srgbClr val="0D1B2A"/>
                </a:solidFill>
                <a:latin typeface="Calibri"/>
              </a:rPr>
              <a:t>Principal</a:t>
            </a:r>
          </a:p>
          <a:p>
            <a:pPr algn="l">
              <a:spcAft>
                <a:spcPts val="400"/>
              </a:spcAft>
            </a:pPr>
            <a:r>
              <a:rPr sz="1600" b="1">
                <a:solidFill>
                  <a:srgbClr val="1B7C8A"/>
                </a:solidFill>
                <a:latin typeface="Calibri"/>
              </a:rPr>
              <a:t>Parcel Perfect, depot scans</a:t>
            </a:r>
          </a:p>
          <a:p>
            <a:pPr algn="l">
              <a:spcAft>
                <a:spcPts val="0"/>
              </a:spcAft>
            </a:pPr>
            <a:r>
              <a:rPr sz="1500" b="0">
                <a:solidFill>
                  <a:srgbClr val="4A6274"/>
                </a:solidFill>
                <a:latin typeface="Calibri"/>
              </a:rPr>
              <a:t>What should be on the truck, and what was scanned</a:t>
            </a:r>
          </a:p>
        </p:txBody>
      </p:sp>
      <p:sp>
        <p:nvSpPr>
          <p:cNvPr id="34" name="Rounded Rectangle 33"/>
          <p:cNvSpPr/>
          <p:nvPr/>
        </p:nvSpPr>
        <p:spPr>
          <a:xfrm>
            <a:off x="3931920" y="1874519"/>
            <a:ext cx="3291840" cy="132588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160520" y="2011679"/>
            <a:ext cx="2880360" cy="1097280"/>
          </a:xfrm>
          <a:prstGeom prst="rect">
            <a:avLst/>
          </a:prstGeom>
          <a:noFill/>
        </p:spPr>
        <p:txBody>
          <a:bodyPr wrap="square" lIns="0" rIns="0" tIns="0" bIns="0" anchor="t">
            <a:spAutoFit/>
          </a:bodyPr>
          <a:lstStyle/>
          <a:p>
            <a:pPr algn="l">
              <a:spcAft>
                <a:spcPts val="200"/>
              </a:spcAft>
            </a:pPr>
            <a:r>
              <a:rPr sz="1900" b="1">
                <a:solidFill>
                  <a:srgbClr val="0D1B2A"/>
                </a:solidFill>
                <a:latin typeface="Calibri"/>
              </a:rPr>
              <a:t>Transporter</a:t>
            </a:r>
          </a:p>
          <a:p>
            <a:pPr algn="l">
              <a:spcAft>
                <a:spcPts val="400"/>
              </a:spcAft>
            </a:pPr>
            <a:r>
              <a:rPr sz="1600" b="1">
                <a:solidFill>
                  <a:srgbClr val="1B7C8A"/>
                </a:solidFill>
                <a:latin typeface="Calibri"/>
              </a:rPr>
              <a:t>Pulsit trackers</a:t>
            </a:r>
          </a:p>
          <a:p>
            <a:pPr algn="l">
              <a:spcAft>
                <a:spcPts val="0"/>
              </a:spcAft>
            </a:pPr>
            <a:r>
              <a:rPr sz="1500" b="0">
                <a:solidFill>
                  <a:srgbClr val="4A6274"/>
                </a:solidFill>
                <a:latin typeface="Calibri"/>
              </a:rPr>
              <a:t>Where the truck and trailer were, keyed to the vehicle</a:t>
            </a:r>
          </a:p>
        </p:txBody>
      </p:sp>
      <p:sp>
        <p:nvSpPr>
          <p:cNvPr id="36" name="Rounded Rectangle 35"/>
          <p:cNvSpPr/>
          <p:nvPr/>
        </p:nvSpPr>
        <p:spPr>
          <a:xfrm>
            <a:off x="457200" y="3337560"/>
            <a:ext cx="3291840" cy="132588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474720"/>
            <a:ext cx="2880360" cy="1097280"/>
          </a:xfrm>
          <a:prstGeom prst="rect">
            <a:avLst/>
          </a:prstGeom>
          <a:noFill/>
        </p:spPr>
        <p:txBody>
          <a:bodyPr wrap="square" lIns="0" rIns="0" tIns="0" bIns="0" anchor="t">
            <a:spAutoFit/>
          </a:bodyPr>
          <a:lstStyle/>
          <a:p>
            <a:pPr algn="l">
              <a:spcAft>
                <a:spcPts val="200"/>
              </a:spcAft>
            </a:pPr>
            <a:r>
              <a:rPr sz="1900" b="1">
                <a:solidFill>
                  <a:srgbClr val="0D1B2A"/>
                </a:solidFill>
                <a:latin typeface="Calibri"/>
              </a:rPr>
              <a:t>Precinct</a:t>
            </a:r>
          </a:p>
          <a:p>
            <a:pPr algn="l">
              <a:spcAft>
                <a:spcPts val="400"/>
              </a:spcAft>
            </a:pPr>
            <a:r>
              <a:rPr sz="1600" b="1">
                <a:solidFill>
                  <a:srgbClr val="1B7C8A"/>
                </a:solidFill>
                <a:latin typeface="Calibri"/>
              </a:rPr>
              <a:t>Gate log</a:t>
            </a:r>
          </a:p>
          <a:p>
            <a:pPr algn="l">
              <a:spcAft>
                <a:spcPts val="0"/>
              </a:spcAft>
            </a:pPr>
            <a:r>
              <a:rPr sz="1500" b="0">
                <a:solidFill>
                  <a:srgbClr val="4A6274"/>
                </a:solidFill>
                <a:latin typeface="Calibri"/>
              </a:rPr>
              <a:t>Who came and went at the depot or client site</a:t>
            </a:r>
          </a:p>
        </p:txBody>
      </p:sp>
      <p:sp>
        <p:nvSpPr>
          <p:cNvPr id="38" name="Rounded Rectangle 37"/>
          <p:cNvSpPr/>
          <p:nvPr/>
        </p:nvSpPr>
        <p:spPr>
          <a:xfrm>
            <a:off x="3931920" y="3337560"/>
            <a:ext cx="3291840" cy="132588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160520" y="3474720"/>
            <a:ext cx="2880360" cy="1097280"/>
          </a:xfrm>
          <a:prstGeom prst="rect">
            <a:avLst/>
          </a:prstGeom>
          <a:noFill/>
        </p:spPr>
        <p:txBody>
          <a:bodyPr wrap="square" lIns="0" rIns="0" tIns="0" bIns="0" anchor="t">
            <a:spAutoFit/>
          </a:bodyPr>
          <a:lstStyle/>
          <a:p>
            <a:pPr algn="l">
              <a:spcAft>
                <a:spcPts val="200"/>
              </a:spcAft>
            </a:pPr>
            <a:r>
              <a:rPr sz="1900" b="1">
                <a:solidFill>
                  <a:srgbClr val="0D1B2A"/>
                </a:solidFill>
                <a:latin typeface="Calibri"/>
              </a:rPr>
              <a:t>Receiver</a:t>
            </a:r>
          </a:p>
          <a:p>
            <a:pPr algn="l">
              <a:spcAft>
                <a:spcPts val="400"/>
              </a:spcAft>
            </a:pPr>
            <a:r>
              <a:rPr sz="1600" b="1">
                <a:solidFill>
                  <a:srgbClr val="1B7C8A"/>
                </a:solidFill>
                <a:latin typeface="Calibri"/>
              </a:rPr>
              <a:t>Scan-in or paper note</a:t>
            </a:r>
          </a:p>
          <a:p>
            <a:pPr algn="l">
              <a:spcAft>
                <a:spcPts val="0"/>
              </a:spcAft>
            </a:pPr>
            <a:r>
              <a:rPr sz="1500" b="0">
                <a:solidFill>
                  <a:srgbClr val="4A6274"/>
                </a:solidFill>
                <a:latin typeface="Calibri"/>
              </a:rPr>
              <a:t>What arrived, signed by whoever was there</a:t>
            </a:r>
          </a:p>
        </p:txBody>
      </p:sp>
      <p:sp>
        <p:nvSpPr>
          <p:cNvPr id="40" name="Rounded Rectangle 39"/>
          <p:cNvSpPr/>
          <p:nvPr/>
        </p:nvSpPr>
        <p:spPr>
          <a:xfrm>
            <a:off x="457200" y="4892040"/>
            <a:ext cx="6766560" cy="1188720"/>
          </a:xfrm>
          <a:prstGeom prst="roundRect">
            <a:avLst>
              <a:gd name="adj" fmla="val 8000"/>
            </a:avLst>
          </a:prstGeom>
          <a:solidFill>
            <a:srgbClr val="FFFFFF"/>
          </a:solidFill>
          <a:ln w="19050">
            <a:solidFill>
              <a:srgbClr val="0D1B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4892040"/>
            <a:ext cx="6355080" cy="1188720"/>
          </a:xfrm>
          <a:prstGeom prst="rect">
            <a:avLst/>
          </a:prstGeom>
          <a:noFill/>
        </p:spPr>
        <p:txBody>
          <a:bodyPr wrap="square" lIns="0" rIns="0" tIns="0" bIns="0" anchor="ctr">
            <a:spAutoFit/>
          </a:bodyPr>
          <a:lstStyle/>
          <a:p>
            <a:pPr algn="l">
              <a:spcAft>
                <a:spcPts val="400"/>
              </a:spcAft>
            </a:pPr>
            <a:r>
              <a:rPr sz="1900" b="1">
                <a:solidFill>
                  <a:srgbClr val="0D1B2A"/>
                </a:solidFill>
                <a:latin typeface="Calibri"/>
              </a:rPr>
              <a:t>An insurer has to collect and connect all four</a:t>
            </a:r>
          </a:p>
          <a:p>
            <a:pPr algn="l">
              <a:spcAft>
                <a:spcPts val="0"/>
              </a:spcAft>
            </a:pPr>
            <a:r>
              <a:rPr sz="1600" b="0">
                <a:solidFill>
                  <a:srgbClr val="4A6274"/>
                </a:solidFill>
                <a:latin typeface="Calibri"/>
              </a:rPr>
              <a:t>Often weeks or months later, with each record keyed to a different reference.</a:t>
            </a:r>
          </a:p>
        </p:txBody>
      </p:sp>
      <p:sp>
        <p:nvSpPr>
          <p:cNvPr id="42" name="Rounded Rectangle 41"/>
          <p:cNvSpPr/>
          <p:nvPr/>
        </p:nvSpPr>
        <p:spPr>
          <a:xfrm>
            <a:off x="7589520" y="1874519"/>
            <a:ext cx="4142232" cy="201168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863840" y="1984248"/>
            <a:ext cx="3657600" cy="1828800"/>
          </a:xfrm>
          <a:prstGeom prst="rect">
            <a:avLst/>
          </a:prstGeom>
          <a:noFill/>
        </p:spPr>
        <p:txBody>
          <a:bodyPr wrap="square" lIns="0" rIns="0" tIns="0" bIns="0" anchor="t">
            <a:spAutoFit/>
          </a:bodyPr>
          <a:lstStyle/>
          <a:p>
            <a:pPr algn="l">
              <a:spcAft>
                <a:spcPts val="0"/>
              </a:spcAft>
            </a:pPr>
            <a:r>
              <a:rPr sz="4800" b="1">
                <a:solidFill>
                  <a:srgbClr val="0D1B2A"/>
                </a:solidFill>
                <a:latin typeface="Calibri"/>
              </a:rPr>
              <a:t>1,589</a:t>
            </a:r>
          </a:p>
          <a:p>
            <a:pPr algn="l">
              <a:spcAft>
                <a:spcPts val="400"/>
              </a:spcAft>
            </a:pPr>
            <a:r>
              <a:rPr sz="1600" b="0">
                <a:solidFill>
                  <a:srgbClr val="0D1B2A"/>
                </a:solidFill>
                <a:latin typeface="Calibri"/>
              </a:rPr>
              <a:t>truck hijackings in 2024/25, about 4.4 a day</a:t>
            </a:r>
          </a:p>
          <a:p>
            <a:pPr algn="l">
              <a:spcAft>
                <a:spcPts val="0"/>
              </a:spcAft>
            </a:pPr>
            <a:r>
              <a:rPr sz="1300" b="0">
                <a:solidFill>
                  <a:srgbClr val="4A6274"/>
                </a:solidFill>
                <a:latin typeface="Calibri"/>
              </a:rPr>
              <a:t>SAPS, 2025</a:t>
            </a:r>
          </a:p>
        </p:txBody>
      </p:sp>
      <p:sp>
        <p:nvSpPr>
          <p:cNvPr id="44" name="Rounded Rectangle 43"/>
          <p:cNvSpPr/>
          <p:nvPr/>
        </p:nvSpPr>
        <p:spPr>
          <a:xfrm>
            <a:off x="7589520" y="4069080"/>
            <a:ext cx="4142232" cy="201168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863840" y="4178808"/>
            <a:ext cx="3657600" cy="1828800"/>
          </a:xfrm>
          <a:prstGeom prst="rect">
            <a:avLst/>
          </a:prstGeom>
          <a:noFill/>
        </p:spPr>
        <p:txBody>
          <a:bodyPr wrap="square" lIns="0" rIns="0" tIns="0" bIns="0" anchor="t">
            <a:spAutoFit/>
          </a:bodyPr>
          <a:lstStyle/>
          <a:p>
            <a:pPr algn="l">
              <a:spcAft>
                <a:spcPts val="0"/>
              </a:spcAft>
            </a:pPr>
            <a:r>
              <a:rPr sz="4800" b="1">
                <a:solidFill>
                  <a:srgbClr val="0D1B2A"/>
                </a:solidFill>
                <a:latin typeface="Calibri"/>
              </a:rPr>
              <a:t>7</a:t>
            </a:r>
          </a:p>
          <a:p>
            <a:pPr algn="l">
              <a:spcAft>
                <a:spcPts val="400"/>
              </a:spcAft>
            </a:pPr>
            <a:r>
              <a:rPr sz="1600" b="0">
                <a:solidFill>
                  <a:srgbClr val="0D1B2A"/>
                </a:solidFill>
                <a:latin typeface="Calibri"/>
              </a:rPr>
              <a:t>research interviews: connecting the records, not a missing one, is what slows an investigation</a:t>
            </a:r>
          </a:p>
          <a:p>
            <a:pPr algn="l">
              <a:spcAft>
                <a:spcPts val="0"/>
              </a:spcAft>
            </a:pPr>
            <a:r>
              <a:rPr sz="1300" b="0">
                <a:solidFill>
                  <a:srgbClr val="4A6274"/>
                </a:solidFill>
                <a:latin typeface="Calibri"/>
              </a:rPr>
              <a:t>FreightProof interviews, Sept 2026</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How FreightProof works</a:t>
            </a:r>
            <a:endParaRPr lang="en-US" sz="3200" dirty="0"/>
          </a:p>
        </p:txBody>
      </p:sp>
      <p:sp>
        <p:nvSpPr>
          <p:cNvPr id="3" name="kicker_67"/>
          <p:cNvSpPr txBox="1"/>
          <p:nvPr/>
        </p:nvSpPr>
        <p:spPr>
          <a:xfrm>
            <a:off x="10346436" y="475488"/>
            <a:ext cx="1385316"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OVERVIEW</a:t>
            </a:r>
            <a:endParaRPr lang="en-US" sz="1600" dirty="0"/>
          </a:p>
        </p:txBody>
      </p:sp>
      <p:sp>
        <p:nvSpPr>
          <p:cNvPr id="31"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3</a:t>
            </a:fld>
            <a:endParaRPr lang="en-US"/>
          </a:p>
        </p:txBody>
      </p:sp>
      <p:sp>
        <p:nvSpPr>
          <p:cNvPr id="32" name="TextBox 31"/>
          <p:cNvSpPr txBox="1"/>
          <p:nvPr/>
        </p:nvSpPr>
        <p:spPr>
          <a:xfrm>
            <a:off x="457200" y="1097280"/>
            <a:ext cx="11274552" cy="548640"/>
          </a:xfrm>
          <a:prstGeom prst="rect">
            <a:avLst/>
          </a:prstGeom>
          <a:noFill/>
        </p:spPr>
        <p:txBody>
          <a:bodyPr wrap="square" lIns="0" rIns="0" tIns="0" bIns="0" anchor="t">
            <a:spAutoFit/>
          </a:bodyPr>
          <a:lstStyle/>
          <a:p>
            <a:pPr algn="l">
              <a:spcAft>
                <a:spcPts val="0"/>
              </a:spcAft>
            </a:pPr>
            <a:r>
              <a:rPr sz="1900" b="0">
                <a:solidFill>
                  <a:srgbClr val="4A6274"/>
                </a:solidFill>
                <a:latin typeface="Calibri"/>
              </a:rPr>
              <a:t>Each handover is recorded once, in a form any party can check. It records; it does not prevent.</a:t>
            </a:r>
          </a:p>
        </p:txBody>
      </p:sp>
      <p:sp>
        <p:nvSpPr>
          <p:cNvPr id="33" name="Rounded Rectangle 32"/>
          <p:cNvSpPr/>
          <p:nvPr/>
        </p:nvSpPr>
        <p:spPr>
          <a:xfrm>
            <a:off x="457200" y="1874519"/>
            <a:ext cx="2112264" cy="288036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Oval 33"/>
          <p:cNvSpPr/>
          <p:nvPr/>
        </p:nvSpPr>
        <p:spPr>
          <a:xfrm>
            <a:off x="658368" y="2057400"/>
            <a:ext cx="457200" cy="4572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1</a:t>
            </a:r>
          </a:p>
        </p:txBody>
      </p:sp>
      <p:sp>
        <p:nvSpPr>
          <p:cNvPr id="35" name="TextBox 34"/>
          <p:cNvSpPr txBox="1"/>
          <p:nvPr/>
        </p:nvSpPr>
        <p:spPr>
          <a:xfrm>
            <a:off x="658368" y="2651760"/>
            <a:ext cx="1783080" cy="2011680"/>
          </a:xfrm>
          <a:prstGeom prst="rect">
            <a:avLst/>
          </a:prstGeom>
          <a:noFill/>
        </p:spPr>
        <p:txBody>
          <a:bodyPr wrap="square" lIns="0" rIns="0" tIns="0" bIns="0" anchor="t">
            <a:spAutoFit/>
          </a:bodyPr>
          <a:lstStyle/>
          <a:p>
            <a:pPr algn="l">
              <a:spcAft>
                <a:spcPts val="600"/>
              </a:spcAft>
            </a:pPr>
            <a:r>
              <a:rPr sz="2000" b="1">
                <a:solidFill>
                  <a:srgbClr val="0D1B2A"/>
                </a:solidFill>
                <a:latin typeface="Calibri"/>
              </a:rPr>
              <a:t>Plan</a:t>
            </a:r>
          </a:p>
          <a:p>
            <a:pPr algn="l">
              <a:spcAft>
                <a:spcPts val="0"/>
              </a:spcAft>
            </a:pPr>
            <a:r>
              <a:rPr sz="1500" b="0">
                <a:solidFill>
                  <a:srgbClr val="4A6274"/>
                </a:solidFill>
                <a:latin typeface="Calibri"/>
              </a:rPr>
              <a:t>The dispatcher imports the client's manifest. The trip plan is locked and fingerprinted before the truck moves.</a:t>
            </a:r>
          </a:p>
        </p:txBody>
      </p:sp>
      <p:sp>
        <p:nvSpPr>
          <p:cNvPr id="36" name="Rounded Rectangle 35"/>
          <p:cNvSpPr/>
          <p:nvPr/>
        </p:nvSpPr>
        <p:spPr>
          <a:xfrm>
            <a:off x="2752344" y="1874519"/>
            <a:ext cx="2112264" cy="288036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2953512" y="2057400"/>
            <a:ext cx="457200" cy="4572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2</a:t>
            </a:r>
          </a:p>
        </p:txBody>
      </p:sp>
      <p:sp>
        <p:nvSpPr>
          <p:cNvPr id="38" name="TextBox 37"/>
          <p:cNvSpPr txBox="1"/>
          <p:nvPr/>
        </p:nvSpPr>
        <p:spPr>
          <a:xfrm>
            <a:off x="2953512" y="2651760"/>
            <a:ext cx="1783080" cy="2011680"/>
          </a:xfrm>
          <a:prstGeom prst="rect">
            <a:avLst/>
          </a:prstGeom>
          <a:noFill/>
        </p:spPr>
        <p:txBody>
          <a:bodyPr wrap="square" lIns="0" rIns="0" tIns="0" bIns="0" anchor="t">
            <a:spAutoFit/>
          </a:bodyPr>
          <a:lstStyle/>
          <a:p>
            <a:pPr algn="l">
              <a:spcAft>
                <a:spcPts val="600"/>
              </a:spcAft>
            </a:pPr>
            <a:r>
              <a:rPr sz="2000" b="1">
                <a:solidFill>
                  <a:srgbClr val="0D1B2A"/>
                </a:solidFill>
                <a:latin typeface="Calibri"/>
              </a:rPr>
              <a:t>Capture</a:t>
            </a:r>
          </a:p>
          <a:p>
            <a:pPr algn="l">
              <a:spcAft>
                <a:spcPts val="0"/>
              </a:spcAft>
            </a:pPr>
            <a:r>
              <a:rPr sz="1500" b="0">
                <a:solidFill>
                  <a:srgbClr val="4A6274"/>
                </a:solidFill>
                <a:latin typeface="Calibri"/>
              </a:rPr>
              <a:t>At each handover the driver's phone records the seal, photos, parcel counts, time and position.</a:t>
            </a:r>
          </a:p>
        </p:txBody>
      </p:sp>
      <p:sp>
        <p:nvSpPr>
          <p:cNvPr id="39" name="Rounded Rectangle 38"/>
          <p:cNvSpPr/>
          <p:nvPr/>
        </p:nvSpPr>
        <p:spPr>
          <a:xfrm>
            <a:off x="5047488" y="1874519"/>
            <a:ext cx="2112264" cy="288036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Oval 39"/>
          <p:cNvSpPr/>
          <p:nvPr/>
        </p:nvSpPr>
        <p:spPr>
          <a:xfrm>
            <a:off x="5248655" y="2057400"/>
            <a:ext cx="457200" cy="4572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3</a:t>
            </a:r>
          </a:p>
        </p:txBody>
      </p:sp>
      <p:sp>
        <p:nvSpPr>
          <p:cNvPr id="41" name="TextBox 40"/>
          <p:cNvSpPr txBox="1"/>
          <p:nvPr/>
        </p:nvSpPr>
        <p:spPr>
          <a:xfrm>
            <a:off x="5248655" y="2651760"/>
            <a:ext cx="1783080" cy="2011680"/>
          </a:xfrm>
          <a:prstGeom prst="rect">
            <a:avLst/>
          </a:prstGeom>
          <a:noFill/>
        </p:spPr>
        <p:txBody>
          <a:bodyPr wrap="square" lIns="0" rIns="0" tIns="0" bIns="0" anchor="t">
            <a:spAutoFit/>
          </a:bodyPr>
          <a:lstStyle/>
          <a:p>
            <a:pPr algn="l">
              <a:spcAft>
                <a:spcPts val="600"/>
              </a:spcAft>
            </a:pPr>
            <a:r>
              <a:rPr sz="2000" b="1">
                <a:solidFill>
                  <a:srgbClr val="0D1B2A"/>
                </a:solidFill>
                <a:latin typeface="Calibri"/>
              </a:rPr>
              <a:t>Check</a:t>
            </a:r>
          </a:p>
          <a:p>
            <a:pPr algn="l">
              <a:spcAft>
                <a:spcPts val="0"/>
              </a:spcAft>
            </a:pPr>
            <a:r>
              <a:rPr sz="1500" b="0">
                <a:solidFill>
                  <a:srgbClr val="4A6274"/>
                </a:solidFill>
                <a:latin typeface="Calibri"/>
              </a:rPr>
              <a:t>Positions are compared with the truck and trailer trackers and the yard outline. Mismatches become exceptions.</a:t>
            </a:r>
          </a:p>
        </p:txBody>
      </p:sp>
      <p:sp>
        <p:nvSpPr>
          <p:cNvPr id="42" name="Rounded Rectangle 41"/>
          <p:cNvSpPr/>
          <p:nvPr/>
        </p:nvSpPr>
        <p:spPr>
          <a:xfrm>
            <a:off x="7342631" y="1874519"/>
            <a:ext cx="2112264" cy="288036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Oval 42"/>
          <p:cNvSpPr/>
          <p:nvPr/>
        </p:nvSpPr>
        <p:spPr>
          <a:xfrm>
            <a:off x="7543800" y="2057400"/>
            <a:ext cx="457200" cy="4572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4</a:t>
            </a:r>
          </a:p>
        </p:txBody>
      </p:sp>
      <p:sp>
        <p:nvSpPr>
          <p:cNvPr id="44" name="TextBox 43"/>
          <p:cNvSpPr txBox="1"/>
          <p:nvPr/>
        </p:nvSpPr>
        <p:spPr>
          <a:xfrm>
            <a:off x="7543800" y="2651760"/>
            <a:ext cx="1783080" cy="2011680"/>
          </a:xfrm>
          <a:prstGeom prst="rect">
            <a:avLst/>
          </a:prstGeom>
          <a:noFill/>
        </p:spPr>
        <p:txBody>
          <a:bodyPr wrap="square" lIns="0" rIns="0" tIns="0" bIns="0" anchor="t">
            <a:spAutoFit/>
          </a:bodyPr>
          <a:lstStyle/>
          <a:p>
            <a:pPr algn="l">
              <a:spcAft>
                <a:spcPts val="600"/>
              </a:spcAft>
            </a:pPr>
            <a:r>
              <a:rPr sz="2000" b="1">
                <a:solidFill>
                  <a:srgbClr val="0D1B2A"/>
                </a:solidFill>
                <a:latin typeface="Calibri"/>
              </a:rPr>
              <a:t>Anchor</a:t>
            </a:r>
          </a:p>
          <a:p>
            <a:pPr algn="l">
              <a:spcAft>
                <a:spcPts val="0"/>
              </a:spcAft>
            </a:pPr>
            <a:r>
              <a:rPr sz="1500" b="0">
                <a:solidFill>
                  <a:srgbClr val="4A6274"/>
                </a:solidFill>
                <a:latin typeface="Calibri"/>
              </a:rPr>
              <a:t>Phase fingerprints receive independent timestamps on Hedera, outside our control. Personal data stays off-chain.</a:t>
            </a:r>
          </a:p>
        </p:txBody>
      </p:sp>
      <p:sp>
        <p:nvSpPr>
          <p:cNvPr id="45" name="Rounded Rectangle 44"/>
          <p:cNvSpPr/>
          <p:nvPr/>
        </p:nvSpPr>
        <p:spPr>
          <a:xfrm>
            <a:off x="9637776" y="1874519"/>
            <a:ext cx="2112264" cy="2880360"/>
          </a:xfrm>
          <a:prstGeom prst="roundRect">
            <a:avLst>
              <a:gd name="adj" fmla="val 8000"/>
            </a:avLst>
          </a:prstGeom>
          <a:solidFill>
            <a:srgbClr val="FCE6BE"/>
          </a:solidFill>
          <a:ln w="19050">
            <a:solidFill>
              <a:srgbClr val="E8A02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Oval 45"/>
          <p:cNvSpPr/>
          <p:nvPr/>
        </p:nvSpPr>
        <p:spPr>
          <a:xfrm>
            <a:off x="9838944" y="2057400"/>
            <a:ext cx="457200" cy="457200"/>
          </a:xfrm>
          <a:prstGeom prst="ellipse">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a:solidFill>
                  <a:srgbClr val="FFFFFF"/>
                </a:solidFill>
                <a:latin typeface="Calibri"/>
              </a:rPr>
              <a:t>5</a:t>
            </a:r>
          </a:p>
        </p:txBody>
      </p:sp>
      <p:sp>
        <p:nvSpPr>
          <p:cNvPr id="47" name="TextBox 46"/>
          <p:cNvSpPr txBox="1"/>
          <p:nvPr/>
        </p:nvSpPr>
        <p:spPr>
          <a:xfrm>
            <a:off x="9838944" y="2651760"/>
            <a:ext cx="1783080" cy="2011680"/>
          </a:xfrm>
          <a:prstGeom prst="rect">
            <a:avLst/>
          </a:prstGeom>
          <a:noFill/>
        </p:spPr>
        <p:txBody>
          <a:bodyPr wrap="square" lIns="0" rIns="0" tIns="0" bIns="0" anchor="t">
            <a:spAutoFit/>
          </a:bodyPr>
          <a:lstStyle/>
          <a:p>
            <a:pPr algn="l">
              <a:spcAft>
                <a:spcPts val="600"/>
              </a:spcAft>
            </a:pPr>
            <a:r>
              <a:rPr sz="2000" b="1">
                <a:solidFill>
                  <a:srgbClr val="0D1B2A"/>
                </a:solidFill>
                <a:latin typeface="Calibri"/>
              </a:rPr>
              <a:t>Prove</a:t>
            </a:r>
          </a:p>
          <a:p>
            <a:pPr algn="l">
              <a:spcAft>
                <a:spcPts val="0"/>
              </a:spcAft>
            </a:pPr>
            <a:r>
              <a:rPr sz="1500" b="0">
                <a:solidFill>
                  <a:srgbClr val="4A6274"/>
                </a:solidFill>
                <a:latin typeface="Calibri"/>
              </a:rPr>
              <a:t>The recipient checks anchored phase records and the separate seal on the issued report and PDF against Hedera.</a:t>
            </a:r>
          </a:p>
        </p:txBody>
      </p:sp>
      <p:sp>
        <p:nvSpPr>
          <p:cNvPr id="48" name="TextBox 47"/>
          <p:cNvSpPr txBox="1"/>
          <p:nvPr/>
        </p:nvSpPr>
        <p:spPr>
          <a:xfrm>
            <a:off x="457200" y="4937760"/>
            <a:ext cx="3657600" cy="320040"/>
          </a:xfrm>
          <a:prstGeom prst="rect">
            <a:avLst/>
          </a:prstGeom>
          <a:noFill/>
        </p:spPr>
        <p:txBody>
          <a:bodyPr wrap="square" lIns="0" rIns="0" tIns="0" bIns="0" anchor="t">
            <a:spAutoFit/>
          </a:bodyPr>
          <a:lstStyle/>
          <a:p>
            <a:pPr algn="l">
              <a:spcAft>
                <a:spcPts val="0"/>
              </a:spcAft>
            </a:pPr>
            <a:r>
              <a:rPr sz="1600" b="1">
                <a:solidFill>
                  <a:srgbClr val="1B7C8A"/>
                </a:solidFill>
                <a:latin typeface="Calibri"/>
              </a:rPr>
              <a:t>Four users, one record</a:t>
            </a:r>
          </a:p>
        </p:txBody>
      </p:sp>
      <p:sp>
        <p:nvSpPr>
          <p:cNvPr id="49" name="Rounded Rectangle 48"/>
          <p:cNvSpPr/>
          <p:nvPr/>
        </p:nvSpPr>
        <p:spPr>
          <a:xfrm>
            <a:off x="457200" y="5303520"/>
            <a:ext cx="2697480" cy="777240"/>
          </a:xfrm>
          <a:prstGeom prst="roundRect">
            <a:avLst>
              <a:gd name="adj" fmla="val 8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40080" y="5303520"/>
            <a:ext cx="2377440" cy="777240"/>
          </a:xfrm>
          <a:prstGeom prst="rect">
            <a:avLst/>
          </a:prstGeom>
          <a:noFill/>
        </p:spPr>
        <p:txBody>
          <a:bodyPr wrap="square" lIns="0" rIns="0" tIns="0" bIns="0" anchor="ctr">
            <a:spAutoFit/>
          </a:bodyPr>
          <a:lstStyle/>
          <a:p>
            <a:pPr algn="l">
              <a:spcAft>
                <a:spcPts val="0"/>
              </a:spcAft>
            </a:pPr>
            <a:r>
              <a:rPr sz="1700" b="1">
                <a:solidFill>
                  <a:srgbClr val="0D1B2A"/>
                </a:solidFill>
                <a:latin typeface="Calibri"/>
              </a:rPr>
              <a:t>Dispatcher  </a:t>
            </a:r>
            <a:r>
              <a:rPr sz="1500" b="0">
                <a:solidFill>
                  <a:srgbClr val="4A6274"/>
                </a:solidFill>
                <a:latin typeface="Calibri"/>
              </a:rPr>
              <a:t>web dashboard</a:t>
            </a:r>
          </a:p>
        </p:txBody>
      </p:sp>
      <p:sp>
        <p:nvSpPr>
          <p:cNvPr id="51" name="Rounded Rectangle 50"/>
          <p:cNvSpPr/>
          <p:nvPr/>
        </p:nvSpPr>
        <p:spPr>
          <a:xfrm>
            <a:off x="3291840" y="5303520"/>
            <a:ext cx="2697480" cy="777240"/>
          </a:xfrm>
          <a:prstGeom prst="roundRect">
            <a:avLst>
              <a:gd name="adj" fmla="val 8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3474720" y="5303520"/>
            <a:ext cx="2377440" cy="777240"/>
          </a:xfrm>
          <a:prstGeom prst="rect">
            <a:avLst/>
          </a:prstGeom>
          <a:noFill/>
        </p:spPr>
        <p:txBody>
          <a:bodyPr wrap="square" lIns="0" rIns="0" tIns="0" bIns="0" anchor="ctr">
            <a:spAutoFit/>
          </a:bodyPr>
          <a:lstStyle/>
          <a:p>
            <a:pPr algn="l">
              <a:spcAft>
                <a:spcPts val="0"/>
              </a:spcAft>
            </a:pPr>
            <a:r>
              <a:rPr sz="1700" b="1">
                <a:solidFill>
                  <a:srgbClr val="0D1B2A"/>
                </a:solidFill>
                <a:latin typeface="Calibri"/>
              </a:rPr>
              <a:t>Driver  </a:t>
            </a:r>
            <a:r>
              <a:rPr sz="1500" b="0">
                <a:solidFill>
                  <a:srgbClr val="4A6274"/>
                </a:solidFill>
                <a:latin typeface="Calibri"/>
              </a:rPr>
              <a:t>Android app</a:t>
            </a:r>
          </a:p>
        </p:txBody>
      </p:sp>
      <p:sp>
        <p:nvSpPr>
          <p:cNvPr id="53" name="Rounded Rectangle 52"/>
          <p:cNvSpPr/>
          <p:nvPr/>
        </p:nvSpPr>
        <p:spPr>
          <a:xfrm>
            <a:off x="6126480" y="5303520"/>
            <a:ext cx="2697480" cy="777240"/>
          </a:xfrm>
          <a:prstGeom prst="roundRect">
            <a:avLst>
              <a:gd name="adj" fmla="val 8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309360" y="5303520"/>
            <a:ext cx="2377440" cy="777240"/>
          </a:xfrm>
          <a:prstGeom prst="rect">
            <a:avLst/>
          </a:prstGeom>
          <a:noFill/>
        </p:spPr>
        <p:txBody>
          <a:bodyPr wrap="square" lIns="0" rIns="0" tIns="0" bIns="0" anchor="ctr">
            <a:spAutoFit/>
          </a:bodyPr>
          <a:lstStyle/>
          <a:p>
            <a:pPr algn="l">
              <a:spcAft>
                <a:spcPts val="0"/>
              </a:spcAft>
            </a:pPr>
            <a:r>
              <a:rPr sz="1700" b="1">
                <a:solidFill>
                  <a:srgbClr val="0D1B2A"/>
                </a:solidFill>
                <a:latin typeface="Calibri"/>
              </a:rPr>
              <a:t>Receiver  </a:t>
            </a:r>
            <a:r>
              <a:rPr sz="1500" b="0">
                <a:solidFill>
                  <a:srgbClr val="4A6274"/>
                </a:solidFill>
                <a:latin typeface="Calibri"/>
              </a:rPr>
              <a:t>link on own phone</a:t>
            </a:r>
          </a:p>
        </p:txBody>
      </p:sp>
      <p:sp>
        <p:nvSpPr>
          <p:cNvPr id="55" name="Rounded Rectangle 54"/>
          <p:cNvSpPr/>
          <p:nvPr/>
        </p:nvSpPr>
        <p:spPr>
          <a:xfrm>
            <a:off x="8961120" y="5303520"/>
            <a:ext cx="2697480" cy="777240"/>
          </a:xfrm>
          <a:prstGeom prst="roundRect">
            <a:avLst>
              <a:gd name="adj" fmla="val 8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144000" y="5303520"/>
            <a:ext cx="2377440" cy="777240"/>
          </a:xfrm>
          <a:prstGeom prst="rect">
            <a:avLst/>
          </a:prstGeom>
          <a:noFill/>
        </p:spPr>
        <p:txBody>
          <a:bodyPr wrap="square" lIns="0" rIns="0" tIns="0" bIns="0" anchor="ctr">
            <a:spAutoFit/>
          </a:bodyPr>
          <a:lstStyle/>
          <a:p>
            <a:pPr algn="l">
              <a:spcAft>
                <a:spcPts val="0"/>
              </a:spcAft>
            </a:pPr>
            <a:r>
              <a:rPr sz="1700" b="1">
                <a:solidFill>
                  <a:srgbClr val="0D1B2A"/>
                </a:solidFill>
                <a:latin typeface="Calibri"/>
              </a:rPr>
              <a:t>Insurer  </a:t>
            </a:r>
            <a:r>
              <a:rPr sz="1500" b="0">
                <a:solidFill>
                  <a:srgbClr val="4A6274"/>
                </a:solidFill>
                <a:latin typeface="Calibri"/>
              </a:rPr>
              <a:t>audit-pack portal</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What we set out to achieve</a:t>
            </a:r>
            <a:endParaRPr lang="en-US" sz="3200" dirty="0"/>
          </a:p>
        </p:txBody>
      </p:sp>
      <p:sp>
        <p:nvSpPr>
          <p:cNvPr id="3" name="kicker_30"/>
          <p:cNvSpPr txBox="1"/>
          <p:nvPr/>
        </p:nvSpPr>
        <p:spPr>
          <a:xfrm>
            <a:off x="10213848" y="475488"/>
            <a:ext cx="151790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OVERVIEW</a:t>
            </a:r>
            <a:endParaRPr lang="en-US" sz="1600" dirty="0"/>
          </a:p>
        </p:txBody>
      </p:sp>
      <p:sp>
        <p:nvSpPr>
          <p:cNvPr id="40"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3</a:t>
            </a:fld>
            <a:endParaRPr lang="en-US"/>
          </a:p>
        </p:txBody>
      </p:sp>
      <p:sp>
        <p:nvSpPr>
          <p:cNvPr id="41" name="Rounded Rectangle 40"/>
          <p:cNvSpPr/>
          <p:nvPr/>
        </p:nvSpPr>
        <p:spPr>
          <a:xfrm>
            <a:off x="457200" y="1143000"/>
            <a:ext cx="11274552" cy="594360"/>
          </a:xfrm>
          <a:prstGeom prst="roundRect">
            <a:avLst>
              <a:gd name="adj" fmla="val 8000"/>
            </a:avLst>
          </a:prstGeom>
          <a:solidFill>
            <a:srgbClr val="E3F1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85800" y="1143000"/>
            <a:ext cx="10881360" cy="594360"/>
          </a:xfrm>
          <a:prstGeom prst="rect">
            <a:avLst/>
          </a:prstGeom>
          <a:noFill/>
        </p:spPr>
        <p:txBody>
          <a:bodyPr wrap="square" lIns="0" rIns="0" tIns="0" bIns="0" anchor="ctr">
            <a:spAutoFit/>
          </a:bodyPr>
          <a:lstStyle/>
          <a:p>
            <a:pPr algn="l">
              <a:spcAft>
                <a:spcPts val="0"/>
              </a:spcAft>
            </a:pPr>
            <a:r>
              <a:rPr sz="1800" b="1">
                <a:solidFill>
                  <a:srgbClr val="1B7C8A"/>
                </a:solidFill>
                <a:latin typeface="Calibri"/>
              </a:rPr>
              <a:t>Goal  </a:t>
            </a:r>
            <a:r>
              <a:rPr sz="1800" b="0">
                <a:solidFill>
                  <a:srgbClr val="0D1B2A"/>
                </a:solidFill>
                <a:latin typeface="Calibri"/>
              </a:rPr>
              <a:t>A sustainable evidence service for South African road-freight operators.</a:t>
            </a:r>
          </a:p>
        </p:txBody>
      </p:sp>
      <p:sp>
        <p:nvSpPr>
          <p:cNvPr id="43" name="Rounded Rectangle 42"/>
          <p:cNvSpPr/>
          <p:nvPr/>
        </p:nvSpPr>
        <p:spPr>
          <a:xfrm>
            <a:off x="457200" y="1874519"/>
            <a:ext cx="3520440" cy="393192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85800" y="2011680"/>
            <a:ext cx="3154680" cy="3703320"/>
          </a:xfrm>
          <a:prstGeom prst="rect">
            <a:avLst/>
          </a:prstGeom>
          <a:noFill/>
        </p:spPr>
        <p:txBody>
          <a:bodyPr wrap="square" lIns="0" rIns="0" tIns="0" bIns="0" anchor="t">
            <a:spAutoFit/>
          </a:bodyPr>
          <a:lstStyle/>
          <a:p>
            <a:pPr algn="l">
              <a:spcAft>
                <a:spcPts val="1000"/>
              </a:spcAft>
            </a:pPr>
            <a:r>
              <a:rPr sz="2000" b="1">
                <a:solidFill>
                  <a:srgbClr val="0D1B2A"/>
                </a:solidFill>
                <a:latin typeface="Calibri"/>
              </a:rPr>
              <a:t>Business  </a:t>
            </a:r>
            <a:r>
              <a:rPr sz="1500" b="0">
                <a:solidFill>
                  <a:srgbClr val="4A6274"/>
                </a:solidFill>
                <a:latin typeface="Calibri"/>
              </a:rPr>
              <a:t>measured in the pilot</a:t>
            </a:r>
          </a:p>
          <a:p>
            <a:pPr algn="l">
              <a:spcAft>
                <a:spcPts val="700"/>
              </a:spcAft>
            </a:pPr>
            <a:r>
              <a:rPr sz="1700" b="1">
                <a:solidFill>
                  <a:srgbClr val="1B7C8A"/>
                </a:solidFill>
                <a:latin typeface="Calibri"/>
              </a:rPr>
              <a:t>BO-1  </a:t>
            </a:r>
            <a:r>
              <a:rPr sz="1700" b="0">
                <a:solidFill>
                  <a:srgbClr val="0D1B2A"/>
                </a:solidFill>
                <a:latin typeface="Calibri"/>
              </a:rPr>
              <a:t>Complete a first pilot</a:t>
            </a:r>
          </a:p>
          <a:p>
            <a:pPr algn="l">
              <a:spcAft>
                <a:spcPts val="700"/>
              </a:spcAft>
            </a:pPr>
            <a:r>
              <a:rPr sz="1700" b="1">
                <a:solidFill>
                  <a:srgbClr val="1B7C8A"/>
                </a:solidFill>
                <a:latin typeface="Calibri"/>
              </a:rPr>
              <a:t>BO-2  </a:t>
            </a:r>
            <a:r>
              <a:rPr sz="1700" b="0">
                <a:solidFill>
                  <a:srgbClr val="0D1B2A"/>
                </a:solidFill>
                <a:latin typeface="Calibri"/>
              </a:rPr>
              <a:t>Faster claim evidence</a:t>
            </a:r>
          </a:p>
          <a:p>
            <a:pPr algn="l">
              <a:spcAft>
                <a:spcPts val="700"/>
              </a:spcAft>
            </a:pPr>
            <a:r>
              <a:rPr sz="1700" b="1">
                <a:solidFill>
                  <a:srgbClr val="1B7C8A"/>
                </a:solidFill>
                <a:latin typeface="Calibri"/>
              </a:rPr>
              <a:t>BO-3  </a:t>
            </a:r>
            <a:r>
              <a:rPr sz="1700" b="0">
                <a:solidFill>
                  <a:srgbClr val="0D1B2A"/>
                </a:solidFill>
                <a:latin typeface="Calibri"/>
              </a:rPr>
              <a:t>Fewer losses from disputes</a:t>
            </a:r>
          </a:p>
          <a:p>
            <a:pPr algn="l">
              <a:spcAft>
                <a:spcPts val="700"/>
              </a:spcAft>
            </a:pPr>
            <a:r>
              <a:rPr sz="1700" b="1">
                <a:solidFill>
                  <a:srgbClr val="1B7C8A"/>
                </a:solidFill>
                <a:latin typeface="Calibri"/>
              </a:rPr>
              <a:t>BO-4  </a:t>
            </a:r>
            <a:r>
              <a:rPr sz="1700" b="0">
                <a:solidFill>
                  <a:srgbClr val="0D1B2A"/>
                </a:solidFill>
                <a:latin typeface="Calibri"/>
              </a:rPr>
              <a:t>Evidence third parties accept</a:t>
            </a:r>
          </a:p>
          <a:p>
            <a:pPr algn="l">
              <a:spcAft>
                <a:spcPts val="700"/>
              </a:spcAft>
            </a:pPr>
            <a:r>
              <a:rPr sz="1700" b="1">
                <a:solidFill>
                  <a:srgbClr val="1B7C8A"/>
                </a:solidFill>
                <a:latin typeface="Calibri"/>
              </a:rPr>
              <a:t>BO-5  </a:t>
            </a:r>
            <a:r>
              <a:rPr sz="1700" b="0">
                <a:solidFill>
                  <a:srgbClr val="0D1B2A"/>
                </a:solidFill>
                <a:latin typeface="Calibri"/>
              </a:rPr>
              <a:t>A price per trip operators pay</a:t>
            </a:r>
          </a:p>
        </p:txBody>
      </p:sp>
      <p:sp>
        <p:nvSpPr>
          <p:cNvPr id="45" name="Rounded Rectangle 44"/>
          <p:cNvSpPr/>
          <p:nvPr/>
        </p:nvSpPr>
        <p:spPr>
          <a:xfrm>
            <a:off x="4160520" y="1874519"/>
            <a:ext cx="3611880" cy="393192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4389120" y="2011680"/>
            <a:ext cx="3246120" cy="3703320"/>
          </a:xfrm>
          <a:prstGeom prst="rect">
            <a:avLst/>
          </a:prstGeom>
          <a:noFill/>
        </p:spPr>
        <p:txBody>
          <a:bodyPr wrap="square" lIns="0" rIns="0" tIns="0" bIns="0" anchor="t">
            <a:spAutoFit/>
          </a:bodyPr>
          <a:lstStyle/>
          <a:p>
            <a:pPr algn="l">
              <a:spcAft>
                <a:spcPts val="1000"/>
              </a:spcAft>
            </a:pPr>
            <a:r>
              <a:rPr sz="2000" b="1">
                <a:solidFill>
                  <a:srgbClr val="0D1B2A"/>
                </a:solidFill>
                <a:latin typeface="Calibri"/>
              </a:rPr>
              <a:t>Project  </a:t>
            </a:r>
            <a:r>
              <a:rPr sz="1500" b="0">
                <a:solidFill>
                  <a:srgbClr val="4A6274"/>
                </a:solidFill>
                <a:latin typeface="Calibri"/>
              </a:rPr>
              <a:t>all achieved</a:t>
            </a:r>
          </a:p>
          <a:p>
            <a:pPr algn="l">
              <a:spcAft>
                <a:spcPts val="700"/>
              </a:spcAft>
            </a:pPr>
            <a:r>
              <a:rPr sz="1700" b="1">
                <a:solidFill>
                  <a:srgbClr val="1B7C8A"/>
                </a:solidFill>
                <a:latin typeface="Calibri"/>
              </a:rPr>
              <a:t>PO-1  </a:t>
            </a:r>
            <a:r>
              <a:rPr sz="1700" b="0">
                <a:solidFill>
                  <a:srgbClr val="0D1B2A"/>
                </a:solidFill>
                <a:latin typeface="Calibri"/>
              </a:rPr>
              <a:t>Capture who, where and when</a:t>
            </a:r>
          </a:p>
          <a:p>
            <a:pPr algn="l">
              <a:spcAft>
                <a:spcPts val="700"/>
              </a:spcAft>
            </a:pPr>
            <a:r>
              <a:rPr sz="1700" b="1">
                <a:solidFill>
                  <a:srgbClr val="1B7C8A"/>
                </a:solidFill>
                <a:latin typeface="Calibri"/>
              </a:rPr>
              <a:t>PO-2  </a:t>
            </a:r>
            <a:r>
              <a:rPr sz="1700" b="0">
                <a:solidFill>
                  <a:srgbClr val="0D1B2A"/>
                </a:solidFill>
                <a:latin typeface="Calibri"/>
              </a:rPr>
              <a:t>Detect any later change</a:t>
            </a:r>
          </a:p>
          <a:p>
            <a:pPr algn="l">
              <a:spcAft>
                <a:spcPts val="700"/>
              </a:spcAft>
            </a:pPr>
            <a:r>
              <a:rPr sz="1700" b="1">
                <a:solidFill>
                  <a:srgbClr val="1B7C8A"/>
                </a:solidFill>
                <a:latin typeface="Calibri"/>
              </a:rPr>
              <a:t>PO-3  </a:t>
            </a:r>
            <a:r>
              <a:rPr sz="1700" b="0">
                <a:solidFill>
                  <a:srgbClr val="0D1B2A"/>
                </a:solidFill>
                <a:latin typeface="Calibri"/>
              </a:rPr>
              <a:t>Flag mismatched sources</a:t>
            </a:r>
          </a:p>
          <a:p>
            <a:pPr algn="l">
              <a:spcAft>
                <a:spcPts val="700"/>
              </a:spcAft>
            </a:pPr>
            <a:r>
              <a:rPr sz="1700" b="1">
                <a:solidFill>
                  <a:srgbClr val="1B7C8A"/>
                </a:solidFill>
                <a:latin typeface="Calibri"/>
              </a:rPr>
              <a:t>PO-4  </a:t>
            </a:r>
            <a:r>
              <a:rPr sz="1700" b="0">
                <a:solidFill>
                  <a:srgbClr val="0D1B2A"/>
                </a:solidFill>
                <a:latin typeface="Calibri"/>
              </a:rPr>
              <a:t>A working, deployed system</a:t>
            </a:r>
          </a:p>
        </p:txBody>
      </p:sp>
      <p:sp>
        <p:nvSpPr>
          <p:cNvPr id="47" name="Rounded Rectangle 46"/>
          <p:cNvSpPr/>
          <p:nvPr/>
        </p:nvSpPr>
        <p:spPr>
          <a:xfrm>
            <a:off x="7955279" y="1874519"/>
            <a:ext cx="3776472" cy="393192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8183879" y="2011680"/>
            <a:ext cx="3410712" cy="3703320"/>
          </a:xfrm>
          <a:prstGeom prst="rect">
            <a:avLst/>
          </a:prstGeom>
          <a:noFill/>
        </p:spPr>
        <p:txBody>
          <a:bodyPr wrap="square" lIns="0" rIns="0" tIns="0" bIns="0" anchor="t">
            <a:spAutoFit/>
          </a:bodyPr>
          <a:lstStyle/>
          <a:p>
            <a:pPr algn="l">
              <a:spcAft>
                <a:spcPts val="1000"/>
              </a:spcAft>
            </a:pPr>
            <a:r>
              <a:rPr sz="2000" b="1">
                <a:solidFill>
                  <a:srgbClr val="0D1B2A"/>
                </a:solidFill>
                <a:latin typeface="Calibri"/>
              </a:rPr>
              <a:t>System  </a:t>
            </a:r>
            <a:r>
              <a:rPr sz="1500" b="0">
                <a:solidFill>
                  <a:srgbClr val="4A6274"/>
                </a:solidFill>
                <a:latin typeface="Calibri"/>
              </a:rPr>
              <a:t>all delivered</a:t>
            </a:r>
          </a:p>
          <a:p>
            <a:pPr algn="l">
              <a:spcAft>
                <a:spcPts val="700"/>
              </a:spcAft>
            </a:pPr>
            <a:r>
              <a:rPr sz="1700" b="1">
                <a:solidFill>
                  <a:srgbClr val="1B7C8A"/>
                </a:solidFill>
                <a:latin typeface="Calibri"/>
              </a:rPr>
              <a:t>SO-1  </a:t>
            </a:r>
            <a:r>
              <a:rPr sz="1700" b="0">
                <a:solidFill>
                  <a:srgbClr val="0D1B2A"/>
                </a:solidFill>
                <a:latin typeface="Calibri"/>
              </a:rPr>
              <a:t>Anchor every key record</a:t>
            </a:r>
          </a:p>
          <a:p>
            <a:pPr algn="l">
              <a:spcAft>
                <a:spcPts val="700"/>
              </a:spcAft>
            </a:pPr>
            <a:r>
              <a:rPr sz="1700" b="1">
                <a:solidFill>
                  <a:srgbClr val="1B7C8A"/>
                </a:solidFill>
                <a:latin typeface="Calibri"/>
              </a:rPr>
              <a:t>SO-2  </a:t>
            </a:r>
            <a:r>
              <a:rPr sz="1700" b="0">
                <a:solidFill>
                  <a:srgbClr val="0D1B2A"/>
                </a:solidFill>
                <a:latin typeface="Calibri"/>
              </a:rPr>
              <a:t>Check against trackers</a:t>
            </a:r>
          </a:p>
          <a:p>
            <a:pPr algn="l">
              <a:spcAft>
                <a:spcPts val="700"/>
              </a:spcAft>
            </a:pPr>
            <a:r>
              <a:rPr sz="1700" b="1">
                <a:solidFill>
                  <a:srgbClr val="1B7C8A"/>
                </a:solidFill>
                <a:latin typeface="Calibri"/>
              </a:rPr>
              <a:t>SO-3  </a:t>
            </a:r>
            <a:r>
              <a:rPr sz="1700" b="0">
                <a:solidFill>
                  <a:srgbClr val="0D1B2A"/>
                </a:solidFill>
                <a:latin typeface="Calibri"/>
              </a:rPr>
              <a:t>Trace parcels from manifest</a:t>
            </a:r>
          </a:p>
          <a:p>
            <a:pPr algn="l">
              <a:spcAft>
                <a:spcPts val="700"/>
              </a:spcAft>
            </a:pPr>
            <a:r>
              <a:rPr sz="1700" b="1">
                <a:solidFill>
                  <a:srgbClr val="1B7C8A"/>
                </a:solidFill>
                <a:latin typeface="Calibri"/>
              </a:rPr>
              <a:t>SO-4  </a:t>
            </a:r>
            <a:r>
              <a:rPr sz="1700" b="0">
                <a:solidFill>
                  <a:srgbClr val="0D1B2A"/>
                </a:solidFill>
                <a:latin typeface="Calibri"/>
              </a:rPr>
              <a:t>Receiver signs on own phone</a:t>
            </a:r>
          </a:p>
          <a:p>
            <a:pPr algn="l">
              <a:spcAft>
                <a:spcPts val="700"/>
              </a:spcAft>
            </a:pPr>
            <a:r>
              <a:rPr sz="1700" b="1">
                <a:solidFill>
                  <a:srgbClr val="1B7C8A"/>
                </a:solidFill>
                <a:latin typeface="Calibri"/>
              </a:rPr>
              <a:t>SO-5  </a:t>
            </a:r>
            <a:r>
              <a:rPr sz="1700" b="0">
                <a:solidFill>
                  <a:srgbClr val="0D1B2A"/>
                </a:solidFill>
                <a:latin typeface="Calibri"/>
              </a:rPr>
              <a:t>Review every exception</a:t>
            </a:r>
          </a:p>
          <a:p>
            <a:pPr algn="l">
              <a:spcAft>
                <a:spcPts val="700"/>
              </a:spcAft>
            </a:pPr>
            <a:r>
              <a:rPr sz="1700" b="1">
                <a:solidFill>
                  <a:srgbClr val="1B7C8A"/>
                </a:solidFill>
                <a:latin typeface="Calibri"/>
              </a:rPr>
              <a:t>SO-6  </a:t>
            </a:r>
            <a:r>
              <a:rPr sz="1700" b="0">
                <a:solidFill>
                  <a:srgbClr val="0D1B2A"/>
                </a:solidFill>
                <a:latin typeface="Calibri"/>
              </a:rPr>
              <a:t>Check the seal at both ends</a:t>
            </a:r>
          </a:p>
          <a:p>
            <a:pPr algn="l">
              <a:spcAft>
                <a:spcPts val="700"/>
              </a:spcAft>
            </a:pPr>
            <a:r>
              <a:rPr sz="1700" b="1">
                <a:solidFill>
                  <a:srgbClr val="1B7C8A"/>
                </a:solidFill>
                <a:latin typeface="Calibri"/>
              </a:rPr>
              <a:t>SO-7  </a:t>
            </a:r>
            <a:r>
              <a:rPr sz="1700" b="0">
                <a:solidFill>
                  <a:srgbClr val="0D1B2A"/>
                </a:solidFill>
                <a:latin typeface="Calibri"/>
              </a:rPr>
              <a:t>Analytics with sources</a:t>
            </a:r>
          </a:p>
          <a:p>
            <a:pPr algn="l">
              <a:spcAft>
                <a:spcPts val="700"/>
              </a:spcAft>
            </a:pPr>
            <a:r>
              <a:rPr sz="1700" b="1">
                <a:solidFill>
                  <a:srgbClr val="1B7C8A"/>
                </a:solidFill>
                <a:latin typeface="Calibri"/>
              </a:rPr>
              <a:t>SO-8  </a:t>
            </a:r>
            <a:r>
              <a:rPr sz="1700" b="0">
                <a:solidFill>
                  <a:srgbClr val="0D1B2A"/>
                </a:solidFill>
                <a:latin typeface="Calibri"/>
              </a:rPr>
              <a:t>Share verifiable audit packs</a:t>
            </a:r>
          </a:p>
        </p:txBody>
      </p:sp>
      <p:sp>
        <p:nvSpPr>
          <p:cNvPr id="49" name="TextBox 48"/>
          <p:cNvSpPr txBox="1"/>
          <p:nvPr/>
        </p:nvSpPr>
        <p:spPr>
          <a:xfrm>
            <a:off x="457200" y="5897880"/>
            <a:ext cx="11274552" cy="320040"/>
          </a:xfrm>
          <a:prstGeom prst="rect">
            <a:avLst/>
          </a:prstGeom>
          <a:noFill/>
        </p:spPr>
        <p:txBody>
          <a:bodyPr wrap="square" lIns="0" rIns="0" tIns="0" bIns="0" anchor="t">
            <a:spAutoFit/>
          </a:bodyPr>
          <a:lstStyle/>
          <a:p>
            <a:pPr algn="l">
              <a:spcAft>
                <a:spcPts val="0"/>
              </a:spcAft>
            </a:pPr>
            <a:r>
              <a:rPr sz="1400" b="0">
                <a:solidFill>
                  <a:srgbClr val="4A6274"/>
                </a:solidFill>
                <a:latin typeface="Calibri"/>
              </a:rPr>
              <a:t>Tracker, manifest and scan data come from simulated feeds until partner credentials arrive (PO-3, SO-2, SO-3).</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Plan and progress</a:t>
            </a:r>
            <a:endParaRPr lang="en-US" sz="3200" dirty="0"/>
          </a:p>
        </p:txBody>
      </p:sp>
      <p:sp>
        <p:nvSpPr>
          <p:cNvPr id="3" name="kicker_95"/>
          <p:cNvSpPr txBox="1"/>
          <p:nvPr/>
        </p:nvSpPr>
        <p:spPr>
          <a:xfrm>
            <a:off x="8887968" y="475488"/>
            <a:ext cx="284378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PROJECT MANAGEMENT</a:t>
            </a:r>
            <a:endParaRPr lang="en-US" sz="1600" dirty="0"/>
          </a:p>
        </p:txBody>
      </p:sp>
      <p:sp>
        <p:nvSpPr>
          <p:cNvPr id="4" name="shape_96"/>
          <p:cNvSpPr/>
          <p:nvPr/>
        </p:nvSpPr>
        <p:spPr>
          <a:xfrm>
            <a:off x="548640" y="3113532"/>
            <a:ext cx="11064240" cy="36576"/>
          </a:xfrm>
          <a:prstGeom prst="rect">
            <a:avLst/>
          </a:prstGeom>
          <a:solidFill>
            <a:srgbClr val="C9D5DE"/>
          </a:solidFill>
          <a:ln w="12700">
            <a:solidFill>
              <a:srgbClr val="C9D5DE"/>
            </a:solidFill>
            <a:prstDash val="solid"/>
          </a:ln>
        </p:spPr>
        <p:txBody>
          <a:bodyPr/>
          <a:lstStyle/>
          <a:p>
            <a:endParaRPr lang="en-GB"/>
          </a:p>
        </p:txBody>
      </p:sp>
      <p:sp>
        <p:nvSpPr>
          <p:cNvPr id="5" name="sprint_97"/>
          <p:cNvSpPr txBox="1"/>
          <p:nvPr/>
        </p:nvSpPr>
        <p:spPr>
          <a:xfrm>
            <a:off x="1479277" y="2743200"/>
            <a:ext cx="1420226" cy="777240"/>
          </a:xfrm>
          <a:prstGeom prst="rect">
            <a:avLst/>
          </a:prstGeom>
          <a:solidFill>
            <a:srgbClr val="24405A"/>
          </a:solidFill>
          <a:ln>
            <a:solidFill>
              <a:srgbClr val="24405A"/>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S1–2</a:t>
            </a:r>
            <a:endParaRPr lang="en-US" sz="1800" dirty="0"/>
          </a:p>
        </p:txBody>
      </p:sp>
      <p:sp>
        <p:nvSpPr>
          <p:cNvPr id="6" name="text_98"/>
          <p:cNvSpPr txBox="1"/>
          <p:nvPr/>
        </p:nvSpPr>
        <p:spPr>
          <a:xfrm>
            <a:off x="1204957" y="2240280"/>
            <a:ext cx="1996298" cy="411480"/>
          </a:xfrm>
          <a:prstGeom prst="rect">
            <a:avLst/>
          </a:prstGeom>
          <a:no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Iteration 1</a:t>
            </a:r>
            <a:endParaRPr lang="en-US" sz="2000" dirty="0"/>
          </a:p>
        </p:txBody>
      </p:sp>
      <p:sp>
        <p:nvSpPr>
          <p:cNvPr id="7" name="sprint_99"/>
          <p:cNvSpPr txBox="1"/>
          <p:nvPr/>
        </p:nvSpPr>
        <p:spPr>
          <a:xfrm>
            <a:off x="4788209" y="2743200"/>
            <a:ext cx="2505969" cy="777240"/>
          </a:xfrm>
          <a:prstGeom prst="rect">
            <a:avLst/>
          </a:prstGeom>
          <a:solidFill>
            <a:srgbClr val="24405A"/>
          </a:solidFill>
          <a:ln>
            <a:solidFill>
              <a:srgbClr val="24405A"/>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S3–5</a:t>
            </a:r>
            <a:endParaRPr lang="en-US" sz="1800" dirty="0"/>
          </a:p>
        </p:txBody>
      </p:sp>
      <p:sp>
        <p:nvSpPr>
          <p:cNvPr id="8" name="text_100"/>
          <p:cNvSpPr txBox="1"/>
          <p:nvPr/>
        </p:nvSpPr>
        <p:spPr>
          <a:xfrm>
            <a:off x="4513889" y="2240280"/>
            <a:ext cx="3082041" cy="411480"/>
          </a:xfrm>
          <a:prstGeom prst="rect">
            <a:avLst/>
          </a:prstGeom>
          <a:no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Iteration 2</a:t>
            </a:r>
            <a:endParaRPr lang="en-US" sz="2000" dirty="0"/>
          </a:p>
        </p:txBody>
      </p:sp>
      <p:sp>
        <p:nvSpPr>
          <p:cNvPr id="9" name="sprint_101"/>
          <p:cNvSpPr txBox="1"/>
          <p:nvPr/>
        </p:nvSpPr>
        <p:spPr>
          <a:xfrm>
            <a:off x="8148842" y="2743200"/>
            <a:ext cx="1110013" cy="777240"/>
          </a:xfrm>
          <a:prstGeom prst="rect">
            <a:avLst/>
          </a:prstGeom>
          <a:solidFill>
            <a:srgbClr val="24405A"/>
          </a:solidFill>
          <a:ln>
            <a:solidFill>
              <a:srgbClr val="24405A"/>
            </a:solid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S6–7</a:t>
            </a:r>
            <a:endParaRPr lang="en-US" sz="1800" dirty="0"/>
          </a:p>
        </p:txBody>
      </p:sp>
      <p:sp>
        <p:nvSpPr>
          <p:cNvPr id="10" name="text_102"/>
          <p:cNvSpPr txBox="1"/>
          <p:nvPr/>
        </p:nvSpPr>
        <p:spPr>
          <a:xfrm>
            <a:off x="7874522" y="2240280"/>
            <a:ext cx="1686085" cy="411480"/>
          </a:xfrm>
          <a:prstGeom prst="rect">
            <a:avLst/>
          </a:prstGeom>
          <a:no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Iteration 3</a:t>
            </a:r>
            <a:endParaRPr lang="en-US" sz="2000" dirty="0"/>
          </a:p>
        </p:txBody>
      </p:sp>
      <p:sp>
        <p:nvSpPr>
          <p:cNvPr id="11" name="sprint_103"/>
          <p:cNvSpPr txBox="1"/>
          <p:nvPr/>
        </p:nvSpPr>
        <p:spPr>
          <a:xfrm>
            <a:off x="9906712" y="2743200"/>
            <a:ext cx="644695" cy="777240"/>
          </a:xfrm>
          <a:prstGeom prst="rect">
            <a:avLst/>
          </a:prstGeom>
          <a:solidFill>
            <a:srgbClr val="E8A020"/>
          </a:solidFill>
          <a:ln>
            <a:solidFill>
              <a:srgbClr val="E8A020"/>
            </a:solid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S8</a:t>
            </a:r>
            <a:endParaRPr lang="en-US" sz="1800" dirty="0"/>
          </a:p>
        </p:txBody>
      </p:sp>
      <p:sp>
        <p:nvSpPr>
          <p:cNvPr id="12" name="sprint_104"/>
          <p:cNvSpPr txBox="1"/>
          <p:nvPr/>
        </p:nvSpPr>
        <p:spPr>
          <a:xfrm>
            <a:off x="10578839" y="2743200"/>
            <a:ext cx="541291" cy="777240"/>
          </a:xfrm>
          <a:prstGeom prst="rect">
            <a:avLst/>
          </a:prstGeom>
          <a:solidFill>
            <a:srgbClr val="E8A020"/>
          </a:solidFill>
          <a:ln>
            <a:solidFill>
              <a:srgbClr val="E8A020"/>
            </a:solid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S9</a:t>
            </a:r>
            <a:endParaRPr lang="en-US" sz="1800" dirty="0"/>
          </a:p>
        </p:txBody>
      </p:sp>
      <p:sp>
        <p:nvSpPr>
          <p:cNvPr id="13" name="text_105"/>
          <p:cNvSpPr txBox="1"/>
          <p:nvPr/>
        </p:nvSpPr>
        <p:spPr>
          <a:xfrm>
            <a:off x="9175192" y="2240280"/>
            <a:ext cx="2703889" cy="411480"/>
          </a:xfrm>
          <a:prstGeom prst="rect">
            <a:avLst/>
          </a:prstGeom>
          <a:no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Iteration 4</a:t>
            </a:r>
            <a:endParaRPr lang="en-US" sz="2000" dirty="0"/>
          </a:p>
        </p:txBody>
      </p:sp>
      <p:sp>
        <p:nvSpPr>
          <p:cNvPr id="14" name="shape_106"/>
          <p:cNvSpPr/>
          <p:nvPr/>
        </p:nvSpPr>
        <p:spPr>
          <a:xfrm>
            <a:off x="548640" y="3566160"/>
            <a:ext cx="18288" cy="164592"/>
          </a:xfrm>
          <a:prstGeom prst="rect">
            <a:avLst/>
          </a:prstGeom>
          <a:solidFill>
            <a:srgbClr val="8FA8B8"/>
          </a:solidFill>
          <a:ln w="12700">
            <a:solidFill>
              <a:srgbClr val="8FA8B8"/>
            </a:solidFill>
            <a:prstDash val="solid"/>
          </a:ln>
        </p:spPr>
        <p:txBody>
          <a:bodyPr/>
          <a:lstStyle/>
          <a:p>
            <a:endParaRPr lang="en-GB"/>
          </a:p>
        </p:txBody>
      </p:sp>
      <p:sp>
        <p:nvSpPr>
          <p:cNvPr id="15" name="text_107"/>
          <p:cNvSpPr txBox="1"/>
          <p:nvPr/>
        </p:nvSpPr>
        <p:spPr>
          <a:xfrm>
            <a:off x="182880" y="3721608"/>
            <a:ext cx="731520" cy="320040"/>
          </a:xfrm>
          <a:prstGeom prst="rect">
            <a:avLst/>
          </a:prstGeom>
          <a:noFill/>
          <a:ln/>
        </p:spPr>
        <p:txBody>
          <a:bodyPr wrap="square" lIns="0" tIns="0" rIns="0" bIns="0" rtlCol="0" anchor="ctr"/>
          <a:lstStyle/>
          <a:p>
            <a:pPr marL="0" indent="0" algn="ctr">
              <a:buNone/>
            </a:pPr>
            <a:r>
              <a:rPr lang="en-US" sz="1800" dirty="0">
                <a:solidFill>
                  <a:srgbClr val="4A6274"/>
                </a:solidFill>
                <a:latin typeface="Calibri" pitchFamily="34" charset="0"/>
                <a:ea typeface="Calibri" pitchFamily="34" charset="-122"/>
                <a:cs typeface="Calibri" pitchFamily="34" charset="-120"/>
              </a:rPr>
              <a:t>Apr</a:t>
            </a:r>
            <a:endParaRPr lang="en-US" sz="1800" dirty="0"/>
          </a:p>
        </p:txBody>
      </p:sp>
      <p:sp>
        <p:nvSpPr>
          <p:cNvPr id="16" name="shape_108"/>
          <p:cNvSpPr/>
          <p:nvPr/>
        </p:nvSpPr>
        <p:spPr>
          <a:xfrm>
            <a:off x="3702465" y="3566160"/>
            <a:ext cx="18288" cy="164592"/>
          </a:xfrm>
          <a:prstGeom prst="rect">
            <a:avLst/>
          </a:prstGeom>
          <a:solidFill>
            <a:srgbClr val="8FA8B8"/>
          </a:solidFill>
          <a:ln w="12700">
            <a:solidFill>
              <a:srgbClr val="8FA8B8"/>
            </a:solidFill>
            <a:prstDash val="solid"/>
          </a:ln>
        </p:spPr>
        <p:txBody>
          <a:bodyPr/>
          <a:lstStyle/>
          <a:p>
            <a:endParaRPr lang="en-GB"/>
          </a:p>
        </p:txBody>
      </p:sp>
      <p:sp>
        <p:nvSpPr>
          <p:cNvPr id="17" name="text_109"/>
          <p:cNvSpPr txBox="1"/>
          <p:nvPr/>
        </p:nvSpPr>
        <p:spPr>
          <a:xfrm>
            <a:off x="3336705" y="3721608"/>
            <a:ext cx="731520" cy="320040"/>
          </a:xfrm>
          <a:prstGeom prst="rect">
            <a:avLst/>
          </a:prstGeom>
          <a:noFill/>
          <a:ln/>
        </p:spPr>
        <p:txBody>
          <a:bodyPr wrap="square" lIns="0" tIns="0" rIns="0" bIns="0" rtlCol="0" anchor="ctr"/>
          <a:lstStyle/>
          <a:p>
            <a:pPr marL="0" indent="0" algn="ctr">
              <a:buNone/>
            </a:pPr>
            <a:r>
              <a:rPr lang="en-US" sz="1800" dirty="0">
                <a:solidFill>
                  <a:srgbClr val="4A6274"/>
                </a:solidFill>
                <a:latin typeface="Calibri" pitchFamily="34" charset="0"/>
                <a:ea typeface="Calibri" pitchFamily="34" charset="-122"/>
                <a:cs typeface="Calibri" pitchFamily="34" charset="-120"/>
              </a:rPr>
              <a:t>Jun</a:t>
            </a:r>
            <a:endParaRPr lang="en-US" sz="1800" dirty="0"/>
          </a:p>
        </p:txBody>
      </p:sp>
      <p:sp>
        <p:nvSpPr>
          <p:cNvPr id="18" name="shape_110"/>
          <p:cNvSpPr/>
          <p:nvPr/>
        </p:nvSpPr>
        <p:spPr>
          <a:xfrm>
            <a:off x="6856291" y="3566160"/>
            <a:ext cx="18288" cy="164592"/>
          </a:xfrm>
          <a:prstGeom prst="rect">
            <a:avLst/>
          </a:prstGeom>
          <a:solidFill>
            <a:srgbClr val="8FA8B8"/>
          </a:solidFill>
          <a:ln w="12700">
            <a:solidFill>
              <a:srgbClr val="8FA8B8"/>
            </a:solidFill>
            <a:prstDash val="solid"/>
          </a:ln>
        </p:spPr>
        <p:txBody>
          <a:bodyPr/>
          <a:lstStyle/>
          <a:p>
            <a:endParaRPr lang="en-GB"/>
          </a:p>
        </p:txBody>
      </p:sp>
      <p:sp>
        <p:nvSpPr>
          <p:cNvPr id="19" name="text_111"/>
          <p:cNvSpPr txBox="1"/>
          <p:nvPr/>
        </p:nvSpPr>
        <p:spPr>
          <a:xfrm>
            <a:off x="6490531" y="3721608"/>
            <a:ext cx="731520" cy="320040"/>
          </a:xfrm>
          <a:prstGeom prst="rect">
            <a:avLst/>
          </a:prstGeom>
          <a:noFill/>
          <a:ln/>
        </p:spPr>
        <p:txBody>
          <a:bodyPr wrap="square" lIns="0" tIns="0" rIns="0" bIns="0" rtlCol="0" anchor="ctr"/>
          <a:lstStyle/>
          <a:p>
            <a:pPr marL="0" indent="0" algn="ctr">
              <a:buNone/>
            </a:pPr>
            <a:r>
              <a:rPr lang="en-US" sz="1800" dirty="0">
                <a:solidFill>
                  <a:srgbClr val="4A6274"/>
                </a:solidFill>
                <a:latin typeface="Calibri" pitchFamily="34" charset="0"/>
                <a:ea typeface="Calibri" pitchFamily="34" charset="-122"/>
                <a:cs typeface="Calibri" pitchFamily="34" charset="-120"/>
              </a:rPr>
              <a:t>Aug</a:t>
            </a:r>
            <a:endParaRPr lang="en-US" sz="1800" dirty="0"/>
          </a:p>
        </p:txBody>
      </p:sp>
      <p:sp>
        <p:nvSpPr>
          <p:cNvPr id="20" name="shape_112"/>
          <p:cNvSpPr/>
          <p:nvPr/>
        </p:nvSpPr>
        <p:spPr>
          <a:xfrm>
            <a:off x="10010116" y="3566160"/>
            <a:ext cx="18288" cy="164592"/>
          </a:xfrm>
          <a:prstGeom prst="rect">
            <a:avLst/>
          </a:prstGeom>
          <a:solidFill>
            <a:srgbClr val="8FA8B8"/>
          </a:solidFill>
          <a:ln w="12700">
            <a:solidFill>
              <a:srgbClr val="8FA8B8"/>
            </a:solidFill>
            <a:prstDash val="solid"/>
          </a:ln>
        </p:spPr>
        <p:txBody>
          <a:bodyPr/>
          <a:lstStyle/>
          <a:p>
            <a:endParaRPr lang="en-GB"/>
          </a:p>
        </p:txBody>
      </p:sp>
      <p:sp>
        <p:nvSpPr>
          <p:cNvPr id="21" name="text_113"/>
          <p:cNvSpPr txBox="1"/>
          <p:nvPr/>
        </p:nvSpPr>
        <p:spPr>
          <a:xfrm>
            <a:off x="9644356" y="3721608"/>
            <a:ext cx="731520" cy="320040"/>
          </a:xfrm>
          <a:prstGeom prst="rect">
            <a:avLst/>
          </a:prstGeom>
          <a:noFill/>
          <a:ln/>
        </p:spPr>
        <p:txBody>
          <a:bodyPr wrap="square" lIns="0" tIns="0" rIns="0" bIns="0" rtlCol="0" anchor="ctr"/>
          <a:lstStyle/>
          <a:p>
            <a:pPr marL="0" indent="0" algn="ctr">
              <a:buNone/>
            </a:pPr>
            <a:r>
              <a:rPr lang="en-US" sz="1800" dirty="0">
                <a:solidFill>
                  <a:srgbClr val="4A6274"/>
                </a:solidFill>
                <a:latin typeface="Calibri" pitchFamily="34" charset="0"/>
                <a:ea typeface="Calibri" pitchFamily="34" charset="-122"/>
                <a:cs typeface="Calibri" pitchFamily="34" charset="-120"/>
              </a:rPr>
              <a:t>Oct</a:t>
            </a:r>
            <a:endParaRPr lang="en-US" sz="1800" dirty="0"/>
          </a:p>
        </p:txBody>
      </p:sp>
      <p:sp>
        <p:nvSpPr>
          <p:cNvPr id="22" name="shape_114"/>
          <p:cNvSpPr/>
          <p:nvPr/>
        </p:nvSpPr>
        <p:spPr>
          <a:xfrm>
            <a:off x="9925000" y="3931920"/>
            <a:ext cx="0" cy="548640"/>
          </a:xfrm>
          <a:prstGeom prst="line">
            <a:avLst/>
          </a:prstGeom>
          <a:noFill/>
          <a:ln w="25400">
            <a:solidFill>
              <a:srgbClr val="E8A020"/>
            </a:solidFill>
            <a:prstDash val="solid"/>
          </a:ln>
        </p:spPr>
        <p:txBody>
          <a:bodyPr/>
          <a:lstStyle/>
          <a:p>
            <a:endParaRPr lang="en-GB"/>
          </a:p>
        </p:txBody>
      </p:sp>
      <p:sp>
        <p:nvSpPr>
          <p:cNvPr id="23" name="shape_115"/>
          <p:cNvSpPr/>
          <p:nvPr/>
        </p:nvSpPr>
        <p:spPr>
          <a:xfrm>
            <a:off x="5669280" y="4480560"/>
            <a:ext cx="5120640" cy="1051560"/>
          </a:xfrm>
          <a:prstGeom prst="roundRect">
            <a:avLst>
              <a:gd name="adj" fmla="val 6957"/>
            </a:avLst>
          </a:prstGeom>
          <a:solidFill>
            <a:srgbClr val="FCE6BE"/>
          </a:solidFill>
          <a:ln w="19050">
            <a:solidFill>
              <a:srgbClr val="E8A020"/>
            </a:solidFill>
            <a:prstDash val="solid"/>
          </a:ln>
        </p:spPr>
        <p:txBody>
          <a:bodyPr/>
          <a:lstStyle/>
          <a:p>
            <a:endParaRPr lang="en-GB"/>
          </a:p>
        </p:txBody>
      </p:sp>
      <p:sp>
        <p:nvSpPr>
          <p:cNvPr id="24" name="text_116"/>
          <p:cNvSpPr txBox="1"/>
          <p:nvPr/>
        </p:nvSpPr>
        <p:spPr>
          <a:xfrm>
            <a:off x="5852160" y="4498848"/>
            <a:ext cx="4800600" cy="1005840"/>
          </a:xfrm>
          <a:prstGeom prst="rect">
            <a:avLst/>
          </a:prstGeom>
          <a:noFill/>
          <a:ln/>
        </p:spPr>
        <p:txBody>
          <a:bodyPr wrap="square" lIns="0" tIns="0" rIns="0" bIns="0" rtlCol="0" anchor="ctr"/>
          <a:lstStyle/>
          <a:p>
            <a:pPr marL="0" indent="0">
              <a:buNone/>
            </a:pPr>
            <a:r>
              <a:rPr lang="en-US" sz="2000" dirty="0">
                <a:solidFill>
                  <a:srgbClr val="0D1B2A"/>
                </a:solidFill>
                <a:latin typeface="Calibri" pitchFamily="34" charset="0"/>
                <a:ea typeface="Calibri" pitchFamily="34" charset="-122"/>
                <a:cs typeface="Calibri" pitchFamily="34" charset="-120"/>
              </a:rPr>
              <a:t>Sprint 8 started 29 Sep, after feedback analysis, 7 interviews and claim checks</a:t>
            </a:r>
            <a:endParaRPr lang="en-US" sz="2000" dirty="0"/>
          </a:p>
        </p:txBody>
      </p:sp>
      <p:sp>
        <p:nvSpPr>
          <p:cNvPr id="25" name="text_117"/>
          <p:cNvSpPr txBox="1"/>
          <p:nvPr/>
        </p:nvSpPr>
        <p:spPr>
          <a:xfrm>
            <a:off x="548640" y="5806440"/>
            <a:ext cx="11201400" cy="411480"/>
          </a:xfrm>
          <a:prstGeom prst="rect">
            <a:avLst/>
          </a:prstGeom>
          <a:noFill/>
          <a:ln/>
        </p:spPr>
        <p:txBody>
          <a:bodyPr wrap="square" lIns="0" tIns="0" rIns="0" bIns="0" rtlCol="0" anchor="ctr"/>
          <a:lstStyle/>
          <a:p>
            <a:pPr marL="0" indent="0" algn="r">
              <a:buNone/>
            </a:pPr>
            <a:r>
              <a:rPr lang="en-US" sz="1800" dirty="0">
                <a:solidFill>
                  <a:srgbClr val="4A6274"/>
                </a:solidFill>
                <a:latin typeface="Calibri" pitchFamily="34" charset="0"/>
                <a:ea typeface="Calibri" pitchFamily="34" charset="-122"/>
                <a:cs typeface="Calibri" pitchFamily="34" charset="-120"/>
              </a:rPr>
              <a:t>Submitted 23 Oct  ·  presentation 26 Oct  ·  code review 28 Oct</a:t>
            </a:r>
            <a:endParaRPr lang="en-US" sz="1800" dirty="0"/>
          </a:p>
        </p:txBody>
      </p:sp>
      <p:sp>
        <p:nvSpPr>
          <p:cNvPr id="26"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5</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User story map</a:t>
            </a:r>
            <a:endParaRPr lang="en-US" sz="3200" dirty="0"/>
          </a:p>
        </p:txBody>
      </p:sp>
      <p:sp>
        <p:nvSpPr>
          <p:cNvPr id="3" name="kicker_118"/>
          <p:cNvSpPr txBox="1"/>
          <p:nvPr/>
        </p:nvSpPr>
        <p:spPr>
          <a:xfrm>
            <a:off x="8887968" y="475488"/>
            <a:ext cx="284378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PROJECT MANAGEMENT</a:t>
            </a:r>
            <a:endParaRPr lang="en-US" sz="1600" dirty="0"/>
          </a:p>
        </p:txBody>
      </p:sp>
      <p:sp>
        <p:nvSpPr>
          <p:cNvPr id="46"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6</a:t>
            </a:fld>
            <a:endParaRPr lang="en-US"/>
          </a:p>
        </p:txBody>
      </p:sp>
      <p:pic>
        <p:nvPicPr>
          <p:cNvPr id="47" name="Picture 46" descr="storymap.png"/>
          <p:cNvPicPr>
            <a:picLocks noChangeAspect="1"/>
          </p:cNvPicPr>
          <p:nvPr/>
        </p:nvPicPr>
        <p:blipFill>
          <a:blip r:embed="rId3"/>
          <a:stretch>
            <a:fillRect/>
          </a:stretch>
        </p:blipFill>
        <p:spPr>
          <a:xfrm>
            <a:off x="1544167" y="1143000"/>
            <a:ext cx="9103360" cy="51206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Sprints 8 and 9</a:t>
            </a:r>
            <a:endParaRPr lang="en-US" sz="3200" dirty="0"/>
          </a:p>
        </p:txBody>
      </p:sp>
      <p:sp>
        <p:nvSpPr>
          <p:cNvPr id="3" name="kicker_161"/>
          <p:cNvSpPr txBox="1"/>
          <p:nvPr/>
        </p:nvSpPr>
        <p:spPr>
          <a:xfrm>
            <a:off x="8887968" y="475488"/>
            <a:ext cx="284378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PROJECT MANAGEMENT</a:t>
            </a:r>
            <a:endParaRPr lang="en-US" sz="1600" dirty="0"/>
          </a:p>
        </p:txBody>
      </p:sp>
      <p:pic>
        <p:nvPicPr>
          <p:cNvPr id="4" name="img_burndown_s8.png_162" descr="/tmp/claude-0/-home-claude/31143541-0ec7-5398-affd-e5fcdd8964de/scratchpad/build/img/burndown_s8.png"/>
          <p:cNvPicPr>
            <a:picLocks noChangeAspect="1"/>
          </p:cNvPicPr>
          <p:nvPr/>
        </p:nvPicPr>
        <p:blipFill>
          <a:blip r:embed="rId3"/>
          <a:stretch>
            <a:fillRect/>
          </a:stretch>
        </p:blipFill>
        <p:spPr>
          <a:xfrm>
            <a:off x="457200" y="1234440"/>
            <a:ext cx="5577840" cy="2677363"/>
          </a:xfrm>
          <a:prstGeom prst="rect">
            <a:avLst/>
          </a:prstGeom>
        </p:spPr>
      </p:pic>
      <p:sp>
        <p:nvSpPr>
          <p:cNvPr id="5" name="marker_163"/>
          <p:cNvSpPr txBox="1"/>
          <p:nvPr/>
        </p:nvSpPr>
        <p:spPr>
          <a:xfrm>
            <a:off x="3258312" y="1748638"/>
            <a:ext cx="347472" cy="347472"/>
          </a:xfrm>
          <a:prstGeom prst="ellipse">
            <a:avLst/>
          </a:prstGeom>
          <a:solidFill>
            <a:srgbClr val="0D1B2A"/>
          </a:solidFill>
          <a:ln w="19050">
            <a:solidFill>
              <a:srgbClr val="FFFFFF"/>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marker_164"/>
          <p:cNvSpPr txBox="1"/>
          <p:nvPr/>
        </p:nvSpPr>
        <p:spPr>
          <a:xfrm>
            <a:off x="5638190" y="2176272"/>
            <a:ext cx="347472" cy="347472"/>
          </a:xfrm>
          <a:prstGeom prst="ellipse">
            <a:avLst/>
          </a:prstGeom>
          <a:solidFill>
            <a:srgbClr val="0D1B2A"/>
          </a:solidFill>
          <a:ln w="19050">
            <a:solidFill>
              <a:srgbClr val="FFFFFF"/>
            </a:solid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7" name="shape_165"/>
          <p:cNvSpPr/>
          <p:nvPr/>
        </p:nvSpPr>
        <p:spPr>
          <a:xfrm>
            <a:off x="6172200" y="1234440"/>
            <a:ext cx="5577840" cy="2697480"/>
          </a:xfrm>
          <a:prstGeom prst="roundRect">
            <a:avLst>
              <a:gd name="adj" fmla="val 2034"/>
            </a:avLst>
          </a:prstGeom>
          <a:solidFill>
            <a:srgbClr val="FBFCFD"/>
          </a:solidFill>
          <a:ln w="25400">
            <a:solidFill>
              <a:srgbClr val="C0483A"/>
            </a:solidFill>
            <a:prstDash val="dash"/>
          </a:ln>
        </p:spPr>
        <p:txBody>
          <a:bodyPr/>
          <a:lstStyle/>
          <a:p>
            <a:endParaRPr lang="en-GB"/>
          </a:p>
        </p:txBody>
      </p:sp>
      <p:sp>
        <p:nvSpPr>
          <p:cNvPr id="8" name="text_166"/>
          <p:cNvSpPr txBox="1"/>
          <p:nvPr/>
        </p:nvSpPr>
        <p:spPr>
          <a:xfrm>
            <a:off x="6400800" y="2194560"/>
            <a:ext cx="5120640" cy="731520"/>
          </a:xfrm>
          <a:prstGeom prst="rect">
            <a:avLst/>
          </a:prstGeom>
          <a:noFill/>
          <a:ln/>
        </p:spPr>
        <p:txBody>
          <a:bodyPr wrap="square" lIns="0" tIns="0" rIns="0" bIns="0" rtlCol="0" anchor="ctr"/>
          <a:lstStyle/>
          <a:p>
            <a:pPr marL="0" indent="0" algn="ctr">
              <a:buNone/>
            </a:pPr>
            <a:r>
              <a:rPr lang="en-US" sz="2000" b="1" dirty="0">
                <a:solidFill>
                  <a:srgbClr val="9B2C22"/>
                </a:solidFill>
                <a:latin typeface="Calibri" pitchFamily="34" charset="0"/>
                <a:ea typeface="Calibri" pitchFamily="34" charset="-122"/>
                <a:cs typeface="Calibri" pitchFamily="34" charset="-120"/>
              </a:rPr>
              <a:t>PLACEHOLDER: insert Jira Sprint 9 burndown</a:t>
            </a:r>
            <a:endParaRPr lang="en-US" sz="2000" dirty="0"/>
          </a:p>
        </p:txBody>
      </p:sp>
      <p:sp>
        <p:nvSpPr>
          <p:cNvPr id="9" name="text_167"/>
          <p:cNvSpPr txBox="1"/>
          <p:nvPr/>
        </p:nvSpPr>
        <p:spPr>
          <a:xfrm>
            <a:off x="457200" y="4069080"/>
            <a:ext cx="5577840" cy="594360"/>
          </a:xfrm>
          <a:prstGeom prst="rect">
            <a:avLst/>
          </a:prstGeom>
          <a:noFill/>
          <a:ln/>
        </p:spPr>
        <p:txBody>
          <a:bodyPr wrap="square" lIns="0" tIns="0" rIns="0" bIns="0" rtlCol="0" anchor="ctr"/>
          <a:lstStyle/>
          <a:p>
            <a:pPr marL="0" indent="0">
              <a:buNone/>
            </a:pPr>
            <a:r>
              <a:rPr lang="en-US" sz="2000" b="1" dirty="0">
                <a:solidFill>
                  <a:srgbClr val="4A6274"/>
                </a:solidFill>
                <a:latin typeface="Calibri" pitchFamily="34" charset="0"/>
                <a:ea typeface="Calibri" pitchFamily="34" charset="-122"/>
                <a:cs typeface="Calibri" pitchFamily="34" charset="-120"/>
              </a:rPr>
              <a:t>Sprint 8  </a:t>
            </a:r>
            <a:r>
              <a:rPr lang="en-US" sz="3600" b="1" dirty="0">
                <a:solidFill>
                  <a:srgbClr val="0D1B2A"/>
                </a:solidFill>
                <a:latin typeface="Calibri" pitchFamily="34" charset="0"/>
                <a:ea typeface="Calibri" pitchFamily="34" charset="-122"/>
                <a:cs typeface="Calibri" pitchFamily="34" charset="-120"/>
              </a:rPr>
              <a:t>43/84</a:t>
            </a:r>
            <a:r>
              <a:rPr lang="en-US" sz="2000" dirty="0">
                <a:solidFill>
                  <a:srgbClr val="0D1B2A"/>
                </a:solidFill>
                <a:latin typeface="Calibri" pitchFamily="34" charset="0"/>
                <a:ea typeface="Calibri" pitchFamily="34" charset="-122"/>
                <a:cs typeface="Calibri" pitchFamily="34" charset="-120"/>
              </a:rPr>
              <a:t>  in sprint (51%)</a:t>
            </a:r>
            <a:endParaRPr lang="en-US" sz="1800" dirty="0"/>
          </a:p>
        </p:txBody>
      </p:sp>
      <p:sp>
        <p:nvSpPr>
          <p:cNvPr id="10" name="text_168"/>
          <p:cNvSpPr txBox="1"/>
          <p:nvPr/>
        </p:nvSpPr>
        <p:spPr>
          <a:xfrm>
            <a:off x="457200" y="4754880"/>
            <a:ext cx="5577840" cy="822960"/>
          </a:xfrm>
          <a:prstGeom prst="rect">
            <a:avLst/>
          </a:prstGeom>
          <a:noFill/>
          <a:ln/>
        </p:spPr>
        <p:txBody>
          <a:bodyPr wrap="square" lIns="0" tIns="0" rIns="0" bIns="0" rtlCol="0" anchor="ctr"/>
          <a:lstStyle/>
          <a:p>
            <a:pPr marL="0" indent="0">
              <a:spcAft>
                <a:spcPts val="400"/>
              </a:spcAft>
              <a:buNone/>
            </a:pPr>
            <a:r>
              <a:rPr lang="en-US" sz="2000" b="1" dirty="0">
                <a:solidFill>
                  <a:srgbClr val="0D1B2A"/>
                </a:solidFill>
                <a:latin typeface="Calibri" pitchFamily="34" charset="0"/>
                <a:ea typeface="Calibri" pitchFamily="34" charset="-122"/>
                <a:cs typeface="Calibri" pitchFamily="34" charset="-120"/>
              </a:rPr>
              <a:t>1  </a:t>
            </a:r>
            <a:r>
              <a:rPr lang="en-US" sz="2000" dirty="0">
                <a:solidFill>
                  <a:srgbClr val="0D1B2A"/>
                </a:solidFill>
                <a:latin typeface="Calibri" pitchFamily="34" charset="0"/>
                <a:ea typeface="Calibri" pitchFamily="34" charset="-122"/>
                <a:cs typeface="Calibri" pitchFamily="34" charset="-120"/>
              </a:rPr>
              <a:t>Large stories closed 5–6 Oct</a:t>
            </a:r>
            <a:endParaRPr lang="en-US" sz="2000" dirty="0"/>
          </a:p>
          <a:p>
            <a:pPr marL="0" indent="0">
              <a:spcAft>
                <a:spcPts val="400"/>
              </a:spcAft>
              <a:buNone/>
            </a:pPr>
            <a:r>
              <a:rPr lang="en-US" sz="2000" b="1" dirty="0">
                <a:solidFill>
                  <a:srgbClr val="0D1B2A"/>
                </a:solidFill>
                <a:latin typeface="Calibri" pitchFamily="34" charset="0"/>
                <a:ea typeface="Calibri" pitchFamily="34" charset="-122"/>
                <a:cs typeface="Calibri" pitchFamily="34" charset="-120"/>
              </a:rPr>
              <a:t>2  </a:t>
            </a:r>
            <a:r>
              <a:rPr lang="en-US" sz="2000" dirty="0">
                <a:solidFill>
                  <a:srgbClr val="0D1B2A"/>
                </a:solidFill>
                <a:latin typeface="Calibri" pitchFamily="34" charset="0"/>
                <a:ea typeface="Calibri" pitchFamily="34" charset="-122"/>
                <a:cs typeface="Calibri" pitchFamily="34" charset="-120"/>
              </a:rPr>
              <a:t>41 carried; 38 done in Sprint 9</a:t>
            </a:r>
            <a:endParaRPr lang="en-US" sz="2000" dirty="0"/>
          </a:p>
        </p:txBody>
      </p:sp>
      <p:sp>
        <p:nvSpPr>
          <p:cNvPr id="11" name="text_169"/>
          <p:cNvSpPr txBox="1"/>
          <p:nvPr/>
        </p:nvSpPr>
        <p:spPr>
          <a:xfrm>
            <a:off x="457200" y="5623560"/>
            <a:ext cx="5577840" cy="594360"/>
          </a:xfrm>
          <a:prstGeom prst="rect">
            <a:avLst/>
          </a:prstGeom>
          <a:noFill/>
          <a:ln/>
        </p:spPr>
        <p:txBody>
          <a:bodyPr wrap="square" lIns="0" tIns="0" rIns="0" bIns="0" rtlCol="0" anchor="ctr"/>
          <a:lstStyle/>
          <a:p>
            <a:pPr marL="0" indent="0">
              <a:buNone/>
            </a:pPr>
            <a:r>
              <a:rPr lang="en-US" sz="2000" b="1" dirty="0">
                <a:solidFill>
                  <a:srgbClr val="4A6274"/>
                </a:solidFill>
                <a:latin typeface="Calibri" pitchFamily="34" charset="0"/>
                <a:ea typeface="Calibri" pitchFamily="34" charset="-122"/>
                <a:cs typeface="Calibri" pitchFamily="34" charset="-120"/>
              </a:rPr>
              <a:t>Sprint 9  </a:t>
            </a:r>
            <a:r>
              <a:rPr lang="en-US" sz="3600" b="1" dirty="0">
                <a:solidFill>
                  <a:srgbClr val="0D1B2A"/>
                </a:solidFill>
                <a:latin typeface="Calibri" pitchFamily="34" charset="0"/>
                <a:ea typeface="Calibri" pitchFamily="34" charset="-122"/>
                <a:cs typeface="Calibri" pitchFamily="34" charset="-120"/>
              </a:rPr>
              <a:t>111/118</a:t>
            </a:r>
            <a:endParaRPr lang="en-US" sz="1800" dirty="0"/>
          </a:p>
        </p:txBody>
      </p:sp>
      <p:graphicFrame>
        <p:nvGraphicFramePr>
          <p:cNvPr id="12" name="velocity_chart"/>
          <p:cNvGraphicFramePr/>
          <p:nvPr/>
        </p:nvGraphicFramePr>
        <p:xfrm>
          <a:off x="6172200" y="4023360"/>
          <a:ext cx="3749040" cy="2286000"/>
        </p:xfrm>
        <a:graphic>
          <a:graphicData uri="http://schemas.openxmlformats.org/drawingml/2006/chart">
            <c:chart xmlns:c="http://schemas.openxmlformats.org/drawingml/2006/chart" xmlns:r="http://schemas.openxmlformats.org/officeDocument/2006/relationships" r:id="rId4"/>
          </a:graphicData>
        </a:graphic>
      </p:graphicFrame>
      <p:sp>
        <p:nvSpPr>
          <p:cNvPr id="13" name="shape_170"/>
          <p:cNvSpPr/>
          <p:nvPr/>
        </p:nvSpPr>
        <p:spPr>
          <a:xfrm>
            <a:off x="10058400" y="4343400"/>
            <a:ext cx="1691640" cy="1645920"/>
          </a:xfrm>
          <a:prstGeom prst="roundRect">
            <a:avLst>
              <a:gd name="adj" fmla="val 4444"/>
            </a:avLst>
          </a:prstGeom>
          <a:solidFill>
            <a:srgbClr val="FCE6BE"/>
          </a:solidFill>
          <a:ln w="19050">
            <a:solidFill>
              <a:srgbClr val="E8A020"/>
            </a:solidFill>
            <a:prstDash val="solid"/>
          </a:ln>
        </p:spPr>
        <p:txBody>
          <a:bodyPr/>
          <a:lstStyle/>
          <a:p>
            <a:endParaRPr lang="en-GB"/>
          </a:p>
        </p:txBody>
      </p:sp>
      <p:sp>
        <p:nvSpPr>
          <p:cNvPr id="14" name="text_171"/>
          <p:cNvSpPr txBox="1"/>
          <p:nvPr/>
        </p:nvSpPr>
        <p:spPr>
          <a:xfrm>
            <a:off x="10149840" y="4389120"/>
            <a:ext cx="1508760" cy="1554480"/>
          </a:xfrm>
          <a:prstGeom prst="rect">
            <a:avLst/>
          </a:prstGeom>
          <a:noFill/>
          <a:ln/>
        </p:spPr>
        <p:txBody>
          <a:bodyPr wrap="square" lIns="0" tIns="0" rIns="0" bIns="0" rtlCol="0" anchor="ctr"/>
          <a:lstStyle/>
          <a:p>
            <a:pPr marL="0" indent="0" algn="ctr">
              <a:buNone/>
            </a:pPr>
            <a:r>
              <a:rPr lang="en-US" sz="3600" b="1" dirty="0">
                <a:solidFill>
                  <a:srgbClr val="0D1B2A"/>
                </a:solidFill>
                <a:latin typeface="Calibri" pitchFamily="34" charset="0"/>
                <a:ea typeface="Calibri" pitchFamily="34" charset="-122"/>
                <a:cs typeface="Calibri" pitchFamily="34" charset="-120"/>
              </a:rPr>
              <a:t>6.4</a:t>
            </a:r>
            <a:endParaRPr lang="en-US" sz="1800" dirty="0"/>
          </a:p>
          <a:p>
            <a:pPr marL="0" indent="0" algn="ctr">
              <a:buNone/>
            </a:pPr>
            <a:r>
              <a:rPr lang="en-US" sz="1800" dirty="0">
                <a:solidFill>
                  <a:srgbClr val="0D1B2A"/>
                </a:solidFill>
                <a:latin typeface="Calibri" pitchFamily="34" charset="0"/>
                <a:ea typeface="Calibri" pitchFamily="34" charset="-122"/>
                <a:cs typeface="Calibri" pitchFamily="34" charset="-120"/>
              </a:rPr>
              <a:t>points a day,</a:t>
            </a:r>
            <a:endParaRPr lang="en-US" sz="1800" dirty="0"/>
          </a:p>
          <a:p>
            <a:pPr marL="0" indent="0" algn="ctr">
              <a:buNone/>
            </a:pPr>
            <a:r>
              <a:rPr lang="en-US" sz="1800" dirty="0">
                <a:solidFill>
                  <a:srgbClr val="0D1B2A"/>
                </a:solidFill>
                <a:latin typeface="Calibri" pitchFamily="34" charset="0"/>
                <a:ea typeface="Calibri" pitchFamily="34" charset="-122"/>
                <a:cs typeface="Calibri" pitchFamily="34" charset="-120"/>
              </a:rPr>
              <a:t>Sprints 8+9</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7</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Risk register</a:t>
            </a:r>
            <a:endParaRPr lang="en-US" sz="3200" dirty="0"/>
          </a:p>
        </p:txBody>
      </p:sp>
      <p:sp>
        <p:nvSpPr>
          <p:cNvPr id="3" name="kicker_172"/>
          <p:cNvSpPr txBox="1"/>
          <p:nvPr/>
        </p:nvSpPr>
        <p:spPr>
          <a:xfrm>
            <a:off x="8887968" y="475488"/>
            <a:ext cx="284378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PROJECT MANAGEMENT</a:t>
            </a:r>
            <a:endParaRPr lang="en-US" sz="1600" dirty="0"/>
          </a:p>
        </p:txBody>
      </p:sp>
      <p:sp>
        <p:nvSpPr>
          <p:cNvPr id="60"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8</a:t>
            </a:fld>
            <a:endParaRPr lang="en-US"/>
          </a:p>
        </p:txBody>
      </p:sp>
      <p:sp>
        <p:nvSpPr>
          <p:cNvPr id="61" name="Rounded Rectangle 60"/>
          <p:cNvSpPr/>
          <p:nvPr/>
        </p:nvSpPr>
        <p:spPr>
          <a:xfrm>
            <a:off x="960120" y="1280160"/>
            <a:ext cx="877824" cy="786384"/>
          </a:xfrm>
          <a:prstGeom prst="roundRect">
            <a:avLst>
              <a:gd name="adj" fmla="val 4000"/>
            </a:avLst>
          </a:prstGeom>
          <a:solidFill>
            <a:srgbClr val="F2F6F8"/>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1874519" y="1280160"/>
            <a:ext cx="877824" cy="786384"/>
          </a:xfrm>
          <a:prstGeom prst="roundRect">
            <a:avLst>
              <a:gd name="adj" fmla="val 4000"/>
            </a:avLst>
          </a:prstGeom>
          <a:solidFill>
            <a:srgbClr val="FBE4E1"/>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2788920" y="1280160"/>
            <a:ext cx="877824" cy="786384"/>
          </a:xfrm>
          <a:prstGeom prst="roundRect">
            <a:avLst>
              <a:gd name="adj" fmla="val 4000"/>
            </a:avLst>
          </a:prstGeom>
          <a:solidFill>
            <a:srgbClr val="F4C7C0"/>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834639" y="1280160"/>
            <a:ext cx="786384" cy="786384"/>
          </a:xfrm>
          <a:prstGeom prst="rect">
            <a:avLst/>
          </a:prstGeom>
          <a:noFill/>
        </p:spPr>
        <p:txBody>
          <a:bodyPr wrap="square" lIns="0" rIns="0" tIns="0" bIns="0" anchor="ctr">
            <a:spAutoFit/>
          </a:bodyPr>
          <a:lstStyle/>
          <a:p>
            <a:pPr algn="ctr">
              <a:spcAft>
                <a:spcPts val="0"/>
              </a:spcAft>
            </a:pPr>
            <a:r>
              <a:rPr sz="1300" b="1">
                <a:solidFill>
                  <a:srgbClr val="B4621A"/>
                </a:solidFill>
                <a:latin typeface="Calibri"/>
              </a:rPr>
              <a:t>22</a:t>
            </a:r>
          </a:p>
        </p:txBody>
      </p:sp>
      <p:sp>
        <p:nvSpPr>
          <p:cNvPr id="65" name="Rounded Rectangle 64"/>
          <p:cNvSpPr/>
          <p:nvPr/>
        </p:nvSpPr>
        <p:spPr>
          <a:xfrm>
            <a:off x="3703320" y="1280160"/>
            <a:ext cx="877824" cy="786384"/>
          </a:xfrm>
          <a:prstGeom prst="roundRect">
            <a:avLst>
              <a:gd name="adj" fmla="val 4000"/>
            </a:avLst>
          </a:prstGeom>
          <a:solidFill>
            <a:srgbClr val="F4C7C0"/>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4617720" y="1280160"/>
            <a:ext cx="877824" cy="786384"/>
          </a:xfrm>
          <a:prstGeom prst="roundRect">
            <a:avLst>
              <a:gd name="adj" fmla="val 4000"/>
            </a:avLst>
          </a:prstGeom>
          <a:solidFill>
            <a:srgbClr val="F4C7C0"/>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640080" y="1280160"/>
            <a:ext cx="228600" cy="822960"/>
          </a:xfrm>
          <a:prstGeom prst="rect">
            <a:avLst/>
          </a:prstGeom>
          <a:noFill/>
        </p:spPr>
        <p:txBody>
          <a:bodyPr wrap="square" lIns="0" rIns="0" tIns="0" bIns="0" anchor="ctr">
            <a:spAutoFit/>
          </a:bodyPr>
          <a:lstStyle/>
          <a:p>
            <a:pPr algn="ctr">
              <a:spcAft>
                <a:spcPts val="0"/>
              </a:spcAft>
            </a:pPr>
            <a:r>
              <a:rPr sz="1400" b="0">
                <a:solidFill>
                  <a:srgbClr val="4A6274"/>
                </a:solidFill>
                <a:latin typeface="Calibri"/>
              </a:rPr>
              <a:t>5</a:t>
            </a:r>
          </a:p>
        </p:txBody>
      </p:sp>
      <p:sp>
        <p:nvSpPr>
          <p:cNvPr id="68" name="Rounded Rectangle 67"/>
          <p:cNvSpPr/>
          <p:nvPr/>
        </p:nvSpPr>
        <p:spPr>
          <a:xfrm>
            <a:off x="960120" y="2103120"/>
            <a:ext cx="877824" cy="786384"/>
          </a:xfrm>
          <a:prstGeom prst="roundRect">
            <a:avLst>
              <a:gd name="adj" fmla="val 4000"/>
            </a:avLst>
          </a:prstGeom>
          <a:solidFill>
            <a:srgbClr val="F2F6F8"/>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1874519" y="2103120"/>
            <a:ext cx="877824" cy="786384"/>
          </a:xfrm>
          <a:prstGeom prst="roundRect">
            <a:avLst>
              <a:gd name="adj" fmla="val 4000"/>
            </a:avLst>
          </a:prstGeom>
          <a:solidFill>
            <a:srgbClr val="FBE4E1"/>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Rounded Rectangle 69"/>
          <p:cNvSpPr/>
          <p:nvPr/>
        </p:nvSpPr>
        <p:spPr>
          <a:xfrm>
            <a:off x="2788920" y="2103120"/>
            <a:ext cx="877824" cy="786384"/>
          </a:xfrm>
          <a:prstGeom prst="roundRect">
            <a:avLst>
              <a:gd name="adj" fmla="val 4000"/>
            </a:avLst>
          </a:prstGeom>
          <a:solidFill>
            <a:srgbClr val="FBE4E1"/>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2834639" y="2103120"/>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03 </a:t>
            </a:r>
            <a:r>
              <a:rPr sz="1300" b="1">
                <a:solidFill>
                  <a:srgbClr val="B4621A"/>
                </a:solidFill>
                <a:latin typeface="Calibri"/>
              </a:rPr>
              <a:t>20</a:t>
            </a:r>
          </a:p>
        </p:txBody>
      </p:sp>
      <p:sp>
        <p:nvSpPr>
          <p:cNvPr id="72" name="Rounded Rectangle 71"/>
          <p:cNvSpPr/>
          <p:nvPr/>
        </p:nvSpPr>
        <p:spPr>
          <a:xfrm>
            <a:off x="3703320" y="2103120"/>
            <a:ext cx="877824" cy="786384"/>
          </a:xfrm>
          <a:prstGeom prst="roundRect">
            <a:avLst>
              <a:gd name="adj" fmla="val 4000"/>
            </a:avLst>
          </a:prstGeom>
          <a:solidFill>
            <a:srgbClr val="F4C7C0"/>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3749039" y="2103120"/>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01</a:t>
            </a:r>
          </a:p>
        </p:txBody>
      </p:sp>
      <p:sp>
        <p:nvSpPr>
          <p:cNvPr id="74" name="Rounded Rectangle 73"/>
          <p:cNvSpPr/>
          <p:nvPr/>
        </p:nvSpPr>
        <p:spPr>
          <a:xfrm>
            <a:off x="4617720" y="2103120"/>
            <a:ext cx="877824" cy="786384"/>
          </a:xfrm>
          <a:prstGeom prst="roundRect">
            <a:avLst>
              <a:gd name="adj" fmla="val 4000"/>
            </a:avLst>
          </a:prstGeom>
          <a:solidFill>
            <a:srgbClr val="F4C7C0"/>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TextBox 74"/>
          <p:cNvSpPr txBox="1"/>
          <p:nvPr/>
        </p:nvSpPr>
        <p:spPr>
          <a:xfrm>
            <a:off x="640080" y="2103120"/>
            <a:ext cx="228600" cy="822960"/>
          </a:xfrm>
          <a:prstGeom prst="rect">
            <a:avLst/>
          </a:prstGeom>
          <a:noFill/>
        </p:spPr>
        <p:txBody>
          <a:bodyPr wrap="square" lIns="0" rIns="0" tIns="0" bIns="0" anchor="ctr">
            <a:spAutoFit/>
          </a:bodyPr>
          <a:lstStyle/>
          <a:p>
            <a:pPr algn="ctr">
              <a:spcAft>
                <a:spcPts val="0"/>
              </a:spcAft>
            </a:pPr>
            <a:r>
              <a:rPr sz="1400" b="0">
                <a:solidFill>
                  <a:srgbClr val="4A6274"/>
                </a:solidFill>
                <a:latin typeface="Calibri"/>
              </a:rPr>
              <a:t>4</a:t>
            </a:r>
          </a:p>
        </p:txBody>
      </p:sp>
      <p:sp>
        <p:nvSpPr>
          <p:cNvPr id="76" name="Rounded Rectangle 75"/>
          <p:cNvSpPr/>
          <p:nvPr/>
        </p:nvSpPr>
        <p:spPr>
          <a:xfrm>
            <a:off x="960120" y="2926080"/>
            <a:ext cx="877824" cy="786384"/>
          </a:xfrm>
          <a:prstGeom prst="roundRect">
            <a:avLst>
              <a:gd name="adj" fmla="val 4000"/>
            </a:avLst>
          </a:prstGeom>
          <a:solidFill>
            <a:srgbClr val="FFFFFF"/>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Rounded Rectangle 76"/>
          <p:cNvSpPr/>
          <p:nvPr/>
        </p:nvSpPr>
        <p:spPr>
          <a:xfrm>
            <a:off x="1874519" y="2926080"/>
            <a:ext cx="877824" cy="786384"/>
          </a:xfrm>
          <a:prstGeom prst="roundRect">
            <a:avLst>
              <a:gd name="adj" fmla="val 4000"/>
            </a:avLst>
          </a:prstGeom>
          <a:solidFill>
            <a:srgbClr val="F2F6F8"/>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Rounded Rectangle 77"/>
          <p:cNvSpPr/>
          <p:nvPr/>
        </p:nvSpPr>
        <p:spPr>
          <a:xfrm>
            <a:off x="2788920" y="2926080"/>
            <a:ext cx="877824" cy="786384"/>
          </a:xfrm>
          <a:prstGeom prst="roundRect">
            <a:avLst>
              <a:gd name="adj" fmla="val 4000"/>
            </a:avLst>
          </a:prstGeom>
          <a:solidFill>
            <a:srgbClr val="FBE4E1"/>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2834639" y="2926080"/>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10 </a:t>
            </a:r>
            <a:r>
              <a:rPr sz="1300" b="1">
                <a:solidFill>
                  <a:srgbClr val="B4621A"/>
                </a:solidFill>
                <a:latin typeface="Calibri"/>
              </a:rPr>
              <a:t>23</a:t>
            </a:r>
          </a:p>
        </p:txBody>
      </p:sp>
      <p:sp>
        <p:nvSpPr>
          <p:cNvPr id="80" name="Rounded Rectangle 79"/>
          <p:cNvSpPr/>
          <p:nvPr/>
        </p:nvSpPr>
        <p:spPr>
          <a:xfrm>
            <a:off x="3703320" y="2926080"/>
            <a:ext cx="877824" cy="786384"/>
          </a:xfrm>
          <a:prstGeom prst="roundRect">
            <a:avLst>
              <a:gd name="adj" fmla="val 4000"/>
            </a:avLst>
          </a:prstGeom>
          <a:solidFill>
            <a:srgbClr val="FBE4E1"/>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3749039" y="2926080"/>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02 </a:t>
            </a:r>
            <a:r>
              <a:rPr sz="1300" b="0">
                <a:solidFill>
                  <a:srgbClr val="0D1B2A"/>
                </a:solidFill>
                <a:latin typeface="Calibri"/>
              </a:rPr>
              <a:t>05 </a:t>
            </a:r>
            <a:r>
              <a:rPr sz="1300" b="0">
                <a:solidFill>
                  <a:srgbClr val="0D1B2A"/>
                </a:solidFill>
                <a:latin typeface="Calibri"/>
              </a:rPr>
              <a:t>09 </a:t>
            </a:r>
            <a:r>
              <a:rPr sz="1300" b="0">
                <a:solidFill>
                  <a:srgbClr val="0D1B2A"/>
                </a:solidFill>
                <a:latin typeface="Calibri"/>
              </a:rPr>
              <a:t>13 </a:t>
            </a:r>
            <a:r>
              <a:rPr sz="1300" b="0">
                <a:solidFill>
                  <a:srgbClr val="0D1B2A"/>
                </a:solidFill>
                <a:latin typeface="Calibri"/>
              </a:rPr>
              <a:t>16 </a:t>
            </a:r>
            <a:r>
              <a:rPr sz="1300" b="0">
                <a:solidFill>
                  <a:srgbClr val="0D1B2A"/>
                </a:solidFill>
                <a:latin typeface="Calibri"/>
              </a:rPr>
              <a:t>18 </a:t>
            </a:r>
            <a:r>
              <a:rPr sz="1300" b="1">
                <a:solidFill>
                  <a:srgbClr val="B4621A"/>
                </a:solidFill>
                <a:latin typeface="Calibri"/>
              </a:rPr>
              <a:t>19 </a:t>
            </a:r>
            <a:r>
              <a:rPr sz="1300" b="1">
                <a:solidFill>
                  <a:srgbClr val="B4621A"/>
                </a:solidFill>
                <a:latin typeface="Calibri"/>
              </a:rPr>
              <a:t>21</a:t>
            </a:r>
          </a:p>
        </p:txBody>
      </p:sp>
      <p:sp>
        <p:nvSpPr>
          <p:cNvPr id="82" name="Rounded Rectangle 81"/>
          <p:cNvSpPr/>
          <p:nvPr/>
        </p:nvSpPr>
        <p:spPr>
          <a:xfrm>
            <a:off x="4617720" y="2926080"/>
            <a:ext cx="877824" cy="786384"/>
          </a:xfrm>
          <a:prstGeom prst="roundRect">
            <a:avLst>
              <a:gd name="adj" fmla="val 4000"/>
            </a:avLst>
          </a:prstGeom>
          <a:solidFill>
            <a:srgbClr val="F4C7C0"/>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TextBox 82"/>
          <p:cNvSpPr txBox="1"/>
          <p:nvPr/>
        </p:nvSpPr>
        <p:spPr>
          <a:xfrm>
            <a:off x="640080" y="2926080"/>
            <a:ext cx="228600" cy="822960"/>
          </a:xfrm>
          <a:prstGeom prst="rect">
            <a:avLst/>
          </a:prstGeom>
          <a:noFill/>
        </p:spPr>
        <p:txBody>
          <a:bodyPr wrap="square" lIns="0" rIns="0" tIns="0" bIns="0" anchor="ctr">
            <a:spAutoFit/>
          </a:bodyPr>
          <a:lstStyle/>
          <a:p>
            <a:pPr algn="ctr">
              <a:spcAft>
                <a:spcPts val="0"/>
              </a:spcAft>
            </a:pPr>
            <a:r>
              <a:rPr sz="1400" b="0">
                <a:solidFill>
                  <a:srgbClr val="4A6274"/>
                </a:solidFill>
                <a:latin typeface="Calibri"/>
              </a:rPr>
              <a:t>3</a:t>
            </a:r>
          </a:p>
        </p:txBody>
      </p:sp>
      <p:sp>
        <p:nvSpPr>
          <p:cNvPr id="84" name="Rounded Rectangle 83"/>
          <p:cNvSpPr/>
          <p:nvPr/>
        </p:nvSpPr>
        <p:spPr>
          <a:xfrm>
            <a:off x="960120" y="3749039"/>
            <a:ext cx="877824" cy="786384"/>
          </a:xfrm>
          <a:prstGeom prst="roundRect">
            <a:avLst>
              <a:gd name="adj" fmla="val 4000"/>
            </a:avLst>
          </a:prstGeom>
          <a:solidFill>
            <a:srgbClr val="FFFFFF"/>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Rounded Rectangle 84"/>
          <p:cNvSpPr/>
          <p:nvPr/>
        </p:nvSpPr>
        <p:spPr>
          <a:xfrm>
            <a:off x="1874519" y="3749039"/>
            <a:ext cx="877824" cy="786384"/>
          </a:xfrm>
          <a:prstGeom prst="roundRect">
            <a:avLst>
              <a:gd name="adj" fmla="val 4000"/>
            </a:avLst>
          </a:prstGeom>
          <a:solidFill>
            <a:srgbClr val="F2F6F8"/>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Rounded Rectangle 85"/>
          <p:cNvSpPr/>
          <p:nvPr/>
        </p:nvSpPr>
        <p:spPr>
          <a:xfrm>
            <a:off x="2788920" y="3749039"/>
            <a:ext cx="877824" cy="786384"/>
          </a:xfrm>
          <a:prstGeom prst="roundRect">
            <a:avLst>
              <a:gd name="adj" fmla="val 4000"/>
            </a:avLst>
          </a:prstGeom>
          <a:solidFill>
            <a:srgbClr val="F2F6F8"/>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TextBox 86"/>
          <p:cNvSpPr txBox="1"/>
          <p:nvPr/>
        </p:nvSpPr>
        <p:spPr>
          <a:xfrm>
            <a:off x="2834639" y="3749039"/>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15</a:t>
            </a:r>
          </a:p>
        </p:txBody>
      </p:sp>
      <p:sp>
        <p:nvSpPr>
          <p:cNvPr id="88" name="Rounded Rectangle 87"/>
          <p:cNvSpPr/>
          <p:nvPr/>
        </p:nvSpPr>
        <p:spPr>
          <a:xfrm>
            <a:off x="3703320" y="3749039"/>
            <a:ext cx="877824" cy="786384"/>
          </a:xfrm>
          <a:prstGeom prst="roundRect">
            <a:avLst>
              <a:gd name="adj" fmla="val 4000"/>
            </a:avLst>
          </a:prstGeom>
          <a:solidFill>
            <a:srgbClr val="FBE4E1"/>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TextBox 88"/>
          <p:cNvSpPr txBox="1"/>
          <p:nvPr/>
        </p:nvSpPr>
        <p:spPr>
          <a:xfrm>
            <a:off x="3749039" y="3749039"/>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07</a:t>
            </a:r>
          </a:p>
        </p:txBody>
      </p:sp>
      <p:sp>
        <p:nvSpPr>
          <p:cNvPr id="90" name="Rounded Rectangle 89"/>
          <p:cNvSpPr/>
          <p:nvPr/>
        </p:nvSpPr>
        <p:spPr>
          <a:xfrm>
            <a:off x="4617720" y="3749039"/>
            <a:ext cx="877824" cy="786384"/>
          </a:xfrm>
          <a:prstGeom prst="roundRect">
            <a:avLst>
              <a:gd name="adj" fmla="val 4000"/>
            </a:avLst>
          </a:prstGeom>
          <a:solidFill>
            <a:srgbClr val="FBE4E1"/>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TextBox 90"/>
          <p:cNvSpPr txBox="1"/>
          <p:nvPr/>
        </p:nvSpPr>
        <p:spPr>
          <a:xfrm>
            <a:off x="4663440" y="3749039"/>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14</a:t>
            </a:r>
          </a:p>
        </p:txBody>
      </p:sp>
      <p:sp>
        <p:nvSpPr>
          <p:cNvPr id="92" name="TextBox 91"/>
          <p:cNvSpPr txBox="1"/>
          <p:nvPr/>
        </p:nvSpPr>
        <p:spPr>
          <a:xfrm>
            <a:off x="640080" y="3749039"/>
            <a:ext cx="228600" cy="822960"/>
          </a:xfrm>
          <a:prstGeom prst="rect">
            <a:avLst/>
          </a:prstGeom>
          <a:noFill/>
        </p:spPr>
        <p:txBody>
          <a:bodyPr wrap="square" lIns="0" rIns="0" tIns="0" bIns="0" anchor="ctr">
            <a:spAutoFit/>
          </a:bodyPr>
          <a:lstStyle/>
          <a:p>
            <a:pPr algn="ctr">
              <a:spcAft>
                <a:spcPts val="0"/>
              </a:spcAft>
            </a:pPr>
            <a:r>
              <a:rPr sz="1400" b="0">
                <a:solidFill>
                  <a:srgbClr val="4A6274"/>
                </a:solidFill>
                <a:latin typeface="Calibri"/>
              </a:rPr>
              <a:t>2</a:t>
            </a:r>
          </a:p>
        </p:txBody>
      </p:sp>
      <p:sp>
        <p:nvSpPr>
          <p:cNvPr id="93" name="Rounded Rectangle 92"/>
          <p:cNvSpPr/>
          <p:nvPr/>
        </p:nvSpPr>
        <p:spPr>
          <a:xfrm>
            <a:off x="960120" y="4572000"/>
            <a:ext cx="877824" cy="786384"/>
          </a:xfrm>
          <a:prstGeom prst="roundRect">
            <a:avLst>
              <a:gd name="adj" fmla="val 4000"/>
            </a:avLst>
          </a:prstGeom>
          <a:solidFill>
            <a:srgbClr val="FFFFFF"/>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Rounded Rectangle 93"/>
          <p:cNvSpPr/>
          <p:nvPr/>
        </p:nvSpPr>
        <p:spPr>
          <a:xfrm>
            <a:off x="1874519" y="4572000"/>
            <a:ext cx="877824" cy="786384"/>
          </a:xfrm>
          <a:prstGeom prst="roundRect">
            <a:avLst>
              <a:gd name="adj" fmla="val 4000"/>
            </a:avLst>
          </a:prstGeom>
          <a:solidFill>
            <a:srgbClr val="FFFFFF"/>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Rounded Rectangle 94"/>
          <p:cNvSpPr/>
          <p:nvPr/>
        </p:nvSpPr>
        <p:spPr>
          <a:xfrm>
            <a:off x="2788920" y="4572000"/>
            <a:ext cx="877824" cy="786384"/>
          </a:xfrm>
          <a:prstGeom prst="roundRect">
            <a:avLst>
              <a:gd name="adj" fmla="val 4000"/>
            </a:avLst>
          </a:prstGeom>
          <a:solidFill>
            <a:srgbClr val="FFFFFF"/>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Rounded Rectangle 95"/>
          <p:cNvSpPr/>
          <p:nvPr/>
        </p:nvSpPr>
        <p:spPr>
          <a:xfrm>
            <a:off x="3703320" y="4572000"/>
            <a:ext cx="877824" cy="786384"/>
          </a:xfrm>
          <a:prstGeom prst="roundRect">
            <a:avLst>
              <a:gd name="adj" fmla="val 4000"/>
            </a:avLst>
          </a:prstGeom>
          <a:solidFill>
            <a:srgbClr val="F2F6F8"/>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3749039" y="4572000"/>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04 </a:t>
            </a:r>
            <a:r>
              <a:rPr sz="1300" b="0">
                <a:solidFill>
                  <a:srgbClr val="0D1B2A"/>
                </a:solidFill>
                <a:latin typeface="Calibri"/>
              </a:rPr>
              <a:t>12</a:t>
            </a:r>
          </a:p>
        </p:txBody>
      </p:sp>
      <p:sp>
        <p:nvSpPr>
          <p:cNvPr id="98" name="Rounded Rectangle 97"/>
          <p:cNvSpPr/>
          <p:nvPr/>
        </p:nvSpPr>
        <p:spPr>
          <a:xfrm>
            <a:off x="4617720" y="4572000"/>
            <a:ext cx="877824" cy="786384"/>
          </a:xfrm>
          <a:prstGeom prst="roundRect">
            <a:avLst>
              <a:gd name="adj" fmla="val 4000"/>
            </a:avLst>
          </a:prstGeom>
          <a:solidFill>
            <a:srgbClr val="F2F6F8"/>
          </a:solidFill>
          <a:ln w="6350">
            <a:solidFill>
              <a:srgbClr val="E4E9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TextBox 98"/>
          <p:cNvSpPr txBox="1"/>
          <p:nvPr/>
        </p:nvSpPr>
        <p:spPr>
          <a:xfrm>
            <a:off x="4663440" y="4572000"/>
            <a:ext cx="786384" cy="786384"/>
          </a:xfrm>
          <a:prstGeom prst="rect">
            <a:avLst/>
          </a:prstGeom>
          <a:noFill/>
        </p:spPr>
        <p:txBody>
          <a:bodyPr wrap="square" lIns="0" rIns="0" tIns="0" bIns="0" anchor="ctr">
            <a:spAutoFit/>
          </a:bodyPr>
          <a:lstStyle/>
          <a:p>
            <a:pPr algn="ctr">
              <a:spcAft>
                <a:spcPts val="0"/>
              </a:spcAft>
            </a:pPr>
            <a:r>
              <a:rPr sz="1300" b="0">
                <a:solidFill>
                  <a:srgbClr val="0D1B2A"/>
                </a:solidFill>
                <a:latin typeface="Calibri"/>
              </a:rPr>
              <a:t>06</a:t>
            </a:r>
          </a:p>
        </p:txBody>
      </p:sp>
      <p:sp>
        <p:nvSpPr>
          <p:cNvPr id="100" name="TextBox 99"/>
          <p:cNvSpPr txBox="1"/>
          <p:nvPr/>
        </p:nvSpPr>
        <p:spPr>
          <a:xfrm>
            <a:off x="640080" y="4572000"/>
            <a:ext cx="228600" cy="822960"/>
          </a:xfrm>
          <a:prstGeom prst="rect">
            <a:avLst/>
          </a:prstGeom>
          <a:noFill/>
        </p:spPr>
        <p:txBody>
          <a:bodyPr wrap="square" lIns="0" rIns="0" tIns="0" bIns="0" anchor="ctr">
            <a:spAutoFit/>
          </a:bodyPr>
          <a:lstStyle/>
          <a:p>
            <a:pPr algn="ctr">
              <a:spcAft>
                <a:spcPts val="0"/>
              </a:spcAft>
            </a:pPr>
            <a:r>
              <a:rPr sz="1400" b="0">
                <a:solidFill>
                  <a:srgbClr val="4A6274"/>
                </a:solidFill>
                <a:latin typeface="Calibri"/>
              </a:rPr>
              <a:t>1</a:t>
            </a:r>
          </a:p>
        </p:txBody>
      </p:sp>
      <p:sp>
        <p:nvSpPr>
          <p:cNvPr id="101" name="TextBox 100"/>
          <p:cNvSpPr txBox="1"/>
          <p:nvPr/>
        </p:nvSpPr>
        <p:spPr>
          <a:xfrm>
            <a:off x="960120" y="5394960"/>
            <a:ext cx="914400" cy="274320"/>
          </a:xfrm>
          <a:prstGeom prst="rect">
            <a:avLst/>
          </a:prstGeom>
          <a:noFill/>
        </p:spPr>
        <p:txBody>
          <a:bodyPr wrap="square" lIns="0" rIns="0" tIns="0" bIns="0" anchor="t">
            <a:spAutoFit/>
          </a:bodyPr>
          <a:lstStyle/>
          <a:p>
            <a:pPr algn="ctr">
              <a:spcAft>
                <a:spcPts val="0"/>
              </a:spcAft>
            </a:pPr>
            <a:r>
              <a:rPr sz="1400" b="0">
                <a:solidFill>
                  <a:srgbClr val="4A6274"/>
                </a:solidFill>
                <a:latin typeface="Calibri"/>
              </a:rPr>
              <a:t>1</a:t>
            </a:r>
          </a:p>
        </p:txBody>
      </p:sp>
      <p:sp>
        <p:nvSpPr>
          <p:cNvPr id="102" name="TextBox 101"/>
          <p:cNvSpPr txBox="1"/>
          <p:nvPr/>
        </p:nvSpPr>
        <p:spPr>
          <a:xfrm>
            <a:off x="1874519" y="5394960"/>
            <a:ext cx="914400" cy="274320"/>
          </a:xfrm>
          <a:prstGeom prst="rect">
            <a:avLst/>
          </a:prstGeom>
          <a:noFill/>
        </p:spPr>
        <p:txBody>
          <a:bodyPr wrap="square" lIns="0" rIns="0" tIns="0" bIns="0" anchor="t">
            <a:spAutoFit/>
          </a:bodyPr>
          <a:lstStyle/>
          <a:p>
            <a:pPr algn="ctr">
              <a:spcAft>
                <a:spcPts val="0"/>
              </a:spcAft>
            </a:pPr>
            <a:r>
              <a:rPr sz="1400" b="0">
                <a:solidFill>
                  <a:srgbClr val="4A6274"/>
                </a:solidFill>
                <a:latin typeface="Calibri"/>
              </a:rPr>
              <a:t>2</a:t>
            </a:r>
          </a:p>
        </p:txBody>
      </p:sp>
      <p:sp>
        <p:nvSpPr>
          <p:cNvPr id="103" name="TextBox 102"/>
          <p:cNvSpPr txBox="1"/>
          <p:nvPr/>
        </p:nvSpPr>
        <p:spPr>
          <a:xfrm>
            <a:off x="2788920" y="5394960"/>
            <a:ext cx="914400" cy="274320"/>
          </a:xfrm>
          <a:prstGeom prst="rect">
            <a:avLst/>
          </a:prstGeom>
          <a:noFill/>
        </p:spPr>
        <p:txBody>
          <a:bodyPr wrap="square" lIns="0" rIns="0" tIns="0" bIns="0" anchor="t">
            <a:spAutoFit/>
          </a:bodyPr>
          <a:lstStyle/>
          <a:p>
            <a:pPr algn="ctr">
              <a:spcAft>
                <a:spcPts val="0"/>
              </a:spcAft>
            </a:pPr>
            <a:r>
              <a:rPr sz="1400" b="0">
                <a:solidFill>
                  <a:srgbClr val="4A6274"/>
                </a:solidFill>
                <a:latin typeface="Calibri"/>
              </a:rPr>
              <a:t>3</a:t>
            </a:r>
          </a:p>
        </p:txBody>
      </p:sp>
      <p:sp>
        <p:nvSpPr>
          <p:cNvPr id="104" name="TextBox 103"/>
          <p:cNvSpPr txBox="1"/>
          <p:nvPr/>
        </p:nvSpPr>
        <p:spPr>
          <a:xfrm>
            <a:off x="3703320" y="5394960"/>
            <a:ext cx="914400" cy="274320"/>
          </a:xfrm>
          <a:prstGeom prst="rect">
            <a:avLst/>
          </a:prstGeom>
          <a:noFill/>
        </p:spPr>
        <p:txBody>
          <a:bodyPr wrap="square" lIns="0" rIns="0" tIns="0" bIns="0" anchor="t">
            <a:spAutoFit/>
          </a:bodyPr>
          <a:lstStyle/>
          <a:p>
            <a:pPr algn="ctr">
              <a:spcAft>
                <a:spcPts val="0"/>
              </a:spcAft>
            </a:pPr>
            <a:r>
              <a:rPr sz="1400" b="0">
                <a:solidFill>
                  <a:srgbClr val="4A6274"/>
                </a:solidFill>
                <a:latin typeface="Calibri"/>
              </a:rPr>
              <a:t>4</a:t>
            </a:r>
          </a:p>
        </p:txBody>
      </p:sp>
      <p:sp>
        <p:nvSpPr>
          <p:cNvPr id="105" name="TextBox 104"/>
          <p:cNvSpPr txBox="1"/>
          <p:nvPr/>
        </p:nvSpPr>
        <p:spPr>
          <a:xfrm>
            <a:off x="4617720" y="5394960"/>
            <a:ext cx="914400" cy="274320"/>
          </a:xfrm>
          <a:prstGeom prst="rect">
            <a:avLst/>
          </a:prstGeom>
          <a:noFill/>
        </p:spPr>
        <p:txBody>
          <a:bodyPr wrap="square" lIns="0" rIns="0" tIns="0" bIns="0" anchor="t">
            <a:spAutoFit/>
          </a:bodyPr>
          <a:lstStyle/>
          <a:p>
            <a:pPr algn="ctr">
              <a:spcAft>
                <a:spcPts val="0"/>
              </a:spcAft>
            </a:pPr>
            <a:r>
              <a:rPr sz="1400" b="0">
                <a:solidFill>
                  <a:srgbClr val="4A6274"/>
                </a:solidFill>
                <a:latin typeface="Calibri"/>
              </a:rPr>
              <a:t>5</a:t>
            </a:r>
          </a:p>
        </p:txBody>
      </p:sp>
      <p:sp>
        <p:nvSpPr>
          <p:cNvPr id="106" name="TextBox 105"/>
          <p:cNvSpPr txBox="1"/>
          <p:nvPr/>
        </p:nvSpPr>
        <p:spPr>
          <a:xfrm>
            <a:off x="960120" y="5669280"/>
            <a:ext cx="4572000" cy="274320"/>
          </a:xfrm>
          <a:prstGeom prst="rect">
            <a:avLst/>
          </a:prstGeom>
          <a:noFill/>
        </p:spPr>
        <p:txBody>
          <a:bodyPr wrap="square" lIns="0" rIns="0" tIns="0" bIns="0" anchor="t">
            <a:spAutoFit/>
          </a:bodyPr>
          <a:lstStyle/>
          <a:p>
            <a:pPr algn="ctr">
              <a:spcAft>
                <a:spcPts val="0"/>
              </a:spcAft>
            </a:pPr>
            <a:r>
              <a:rPr sz="1400" b="1">
                <a:solidFill>
                  <a:srgbClr val="0D1B2A"/>
                </a:solidFill>
                <a:latin typeface="Calibri"/>
              </a:rPr>
              <a:t>Impact</a:t>
            </a:r>
          </a:p>
        </p:txBody>
      </p:sp>
      <p:sp>
        <p:nvSpPr>
          <p:cNvPr id="107" name="TextBox 106"/>
          <p:cNvSpPr txBox="1"/>
          <p:nvPr/>
        </p:nvSpPr>
        <p:spPr>
          <a:xfrm rot="16200000">
            <a:off x="-457200" y="3177540"/>
            <a:ext cx="1645920" cy="320040"/>
          </a:xfrm>
          <a:prstGeom prst="rect">
            <a:avLst/>
          </a:prstGeom>
          <a:noFill/>
        </p:spPr>
        <p:txBody>
          <a:bodyPr wrap="square" lIns="0" rIns="0" tIns="0" bIns="0" anchor="ctr">
            <a:spAutoFit/>
          </a:bodyPr>
          <a:lstStyle/>
          <a:p>
            <a:pPr algn="ctr">
              <a:spcAft>
                <a:spcPts val="0"/>
              </a:spcAft>
            </a:pPr>
            <a:r>
              <a:rPr sz="1400" b="1">
                <a:solidFill>
                  <a:srgbClr val="0D1B2A"/>
                </a:solidFill>
                <a:latin typeface="Calibri"/>
              </a:rPr>
              <a:t>Likelihood</a:t>
            </a:r>
          </a:p>
        </p:txBody>
      </p:sp>
      <p:sp>
        <p:nvSpPr>
          <p:cNvPr id="108" name="TextBox 107"/>
          <p:cNvSpPr txBox="1"/>
          <p:nvPr/>
        </p:nvSpPr>
        <p:spPr>
          <a:xfrm>
            <a:off x="457200" y="5989320"/>
            <a:ext cx="5486400" cy="274320"/>
          </a:xfrm>
          <a:prstGeom prst="rect">
            <a:avLst/>
          </a:prstGeom>
          <a:noFill/>
        </p:spPr>
        <p:txBody>
          <a:bodyPr wrap="square" lIns="0" rIns="0" tIns="0" bIns="0" anchor="t">
            <a:spAutoFit/>
          </a:bodyPr>
          <a:lstStyle/>
          <a:p>
            <a:pPr algn="l">
              <a:spcAft>
                <a:spcPts val="0"/>
              </a:spcAft>
            </a:pPr>
            <a:r>
              <a:rPr sz="1300" b="1">
                <a:solidFill>
                  <a:srgbClr val="B4621A"/>
                </a:solidFill>
                <a:latin typeface="Calibri"/>
              </a:rPr>
              <a:t>Orange</a:t>
            </a:r>
            <a:r>
              <a:rPr sz="1300" b="0">
                <a:solidFill>
                  <a:srgbClr val="4A6274"/>
                </a:solidFill>
                <a:latin typeface="Calibri"/>
              </a:rPr>
              <a:t> = new or realised.  R-08, R-11, R-17 closed.</a:t>
            </a:r>
          </a:p>
        </p:txBody>
      </p:sp>
      <p:sp>
        <p:nvSpPr>
          <p:cNvPr id="109" name="TextBox 108"/>
          <p:cNvSpPr txBox="1"/>
          <p:nvPr/>
        </p:nvSpPr>
        <p:spPr>
          <a:xfrm>
            <a:off x="5989320" y="1234440"/>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R-01</a:t>
            </a:r>
          </a:p>
        </p:txBody>
      </p:sp>
      <p:sp>
        <p:nvSpPr>
          <p:cNvPr id="110" name="TextBox 109"/>
          <p:cNvSpPr txBox="1"/>
          <p:nvPr/>
        </p:nvSpPr>
        <p:spPr>
          <a:xfrm>
            <a:off x="6629400" y="1234440"/>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Counts rely on simulated scans</a:t>
            </a:r>
          </a:p>
        </p:txBody>
      </p:sp>
      <p:sp>
        <p:nvSpPr>
          <p:cNvPr id="111" name="TextBox 110"/>
          <p:cNvSpPr txBox="1"/>
          <p:nvPr/>
        </p:nvSpPr>
        <p:spPr>
          <a:xfrm>
            <a:off x="10241280" y="1234440"/>
            <a:ext cx="457200" cy="237744"/>
          </a:xfrm>
          <a:prstGeom prst="rect">
            <a:avLst/>
          </a:prstGeom>
          <a:noFill/>
        </p:spPr>
        <p:txBody>
          <a:bodyPr wrap="square" lIns="0" rIns="0" tIns="0" bIns="0" anchor="ctr">
            <a:spAutoFit/>
          </a:bodyPr>
          <a:lstStyle/>
          <a:p>
            <a:pPr algn="r">
              <a:spcAft>
                <a:spcPts val="0"/>
              </a:spcAft>
            </a:pPr>
            <a:r>
              <a:rPr sz="1300" b="1">
                <a:solidFill>
                  <a:srgbClr val="9B2C22"/>
                </a:solidFill>
                <a:latin typeface="Calibri"/>
              </a:rPr>
              <a:t>16</a:t>
            </a:r>
          </a:p>
        </p:txBody>
      </p:sp>
      <p:sp>
        <p:nvSpPr>
          <p:cNvPr id="112" name="TextBox 111"/>
          <p:cNvSpPr txBox="1"/>
          <p:nvPr/>
        </p:nvSpPr>
        <p:spPr>
          <a:xfrm>
            <a:off x="5989320" y="1474012"/>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R-22</a:t>
            </a:r>
          </a:p>
        </p:txBody>
      </p:sp>
      <p:sp>
        <p:nvSpPr>
          <p:cNvPr id="113" name="TextBox 112"/>
          <p:cNvSpPr txBox="1"/>
          <p:nvPr/>
        </p:nvSpPr>
        <p:spPr>
          <a:xfrm>
            <a:off x="6629400" y="1474012"/>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Partner credentials never arrive</a:t>
            </a:r>
          </a:p>
        </p:txBody>
      </p:sp>
      <p:sp>
        <p:nvSpPr>
          <p:cNvPr id="114" name="TextBox 113"/>
          <p:cNvSpPr txBox="1"/>
          <p:nvPr/>
        </p:nvSpPr>
        <p:spPr>
          <a:xfrm>
            <a:off x="10241280" y="1474012"/>
            <a:ext cx="457200" cy="237744"/>
          </a:xfrm>
          <a:prstGeom prst="rect">
            <a:avLst/>
          </a:prstGeom>
          <a:noFill/>
        </p:spPr>
        <p:txBody>
          <a:bodyPr wrap="square" lIns="0" rIns="0" tIns="0" bIns="0" anchor="ctr">
            <a:spAutoFit/>
          </a:bodyPr>
          <a:lstStyle/>
          <a:p>
            <a:pPr algn="r">
              <a:spcAft>
                <a:spcPts val="0"/>
              </a:spcAft>
            </a:pPr>
            <a:r>
              <a:rPr sz="1300" b="1">
                <a:solidFill>
                  <a:srgbClr val="9B2C22"/>
                </a:solidFill>
                <a:latin typeface="Calibri"/>
              </a:rPr>
              <a:t>15</a:t>
            </a:r>
          </a:p>
        </p:txBody>
      </p:sp>
      <p:sp>
        <p:nvSpPr>
          <p:cNvPr id="115" name="TextBox 114"/>
          <p:cNvSpPr txBox="1"/>
          <p:nvPr/>
        </p:nvSpPr>
        <p:spPr>
          <a:xfrm>
            <a:off x="10835640" y="1474012"/>
            <a:ext cx="914400" cy="237744"/>
          </a:xfrm>
          <a:prstGeom prst="rect">
            <a:avLst/>
          </a:prstGeom>
          <a:noFill/>
        </p:spPr>
        <p:txBody>
          <a:bodyPr wrap="square" lIns="0" rIns="0" tIns="0" bIns="0" anchor="ctr">
            <a:spAutoFit/>
          </a:bodyPr>
          <a:lstStyle/>
          <a:p>
            <a:pPr algn="l">
              <a:spcAft>
                <a:spcPts val="0"/>
              </a:spcAft>
            </a:pPr>
            <a:r>
              <a:rPr sz="1200" b="1">
                <a:solidFill>
                  <a:srgbClr val="B4621A"/>
                </a:solidFill>
                <a:latin typeface="Calibri"/>
              </a:rPr>
              <a:t>Realised</a:t>
            </a:r>
          </a:p>
        </p:txBody>
      </p:sp>
      <p:sp>
        <p:nvSpPr>
          <p:cNvPr id="116" name="TextBox 115"/>
          <p:cNvSpPr txBox="1"/>
          <p:nvPr/>
        </p:nvSpPr>
        <p:spPr>
          <a:xfrm>
            <a:off x="5989320" y="1713585"/>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R-02</a:t>
            </a:r>
          </a:p>
        </p:txBody>
      </p:sp>
      <p:sp>
        <p:nvSpPr>
          <p:cNvPr id="117" name="TextBox 116"/>
          <p:cNvSpPr txBox="1"/>
          <p:nvPr/>
        </p:nvSpPr>
        <p:spPr>
          <a:xfrm>
            <a:off x="6629400" y="1713585"/>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Anchoring worker stops</a:t>
            </a:r>
          </a:p>
        </p:txBody>
      </p:sp>
      <p:sp>
        <p:nvSpPr>
          <p:cNvPr id="118" name="TextBox 117"/>
          <p:cNvSpPr txBox="1"/>
          <p:nvPr/>
        </p:nvSpPr>
        <p:spPr>
          <a:xfrm>
            <a:off x="10241280" y="1713585"/>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19" name="TextBox 118"/>
          <p:cNvSpPr txBox="1"/>
          <p:nvPr/>
        </p:nvSpPr>
        <p:spPr>
          <a:xfrm>
            <a:off x="10835640" y="1713585"/>
            <a:ext cx="914400" cy="237744"/>
          </a:xfrm>
          <a:prstGeom prst="rect">
            <a:avLst/>
          </a:prstGeom>
          <a:noFill/>
        </p:spPr>
        <p:txBody>
          <a:bodyPr wrap="square" lIns="0" rIns="0" tIns="0" bIns="0" anchor="ctr">
            <a:spAutoFit/>
          </a:bodyPr>
          <a:lstStyle/>
          <a:p>
            <a:pPr algn="l">
              <a:spcAft>
                <a:spcPts val="0"/>
              </a:spcAft>
            </a:pPr>
            <a:r>
              <a:rPr sz="1200" b="1">
                <a:solidFill>
                  <a:srgbClr val="1F6B45"/>
                </a:solidFill>
                <a:latin typeface="Calibri"/>
              </a:rPr>
              <a:t>↓</a:t>
            </a:r>
          </a:p>
        </p:txBody>
      </p:sp>
      <p:sp>
        <p:nvSpPr>
          <p:cNvPr id="120" name="TextBox 119"/>
          <p:cNvSpPr txBox="1"/>
          <p:nvPr/>
        </p:nvSpPr>
        <p:spPr>
          <a:xfrm>
            <a:off x="5989320" y="1953158"/>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R-03</a:t>
            </a:r>
          </a:p>
        </p:txBody>
      </p:sp>
      <p:sp>
        <p:nvSpPr>
          <p:cNvPr id="121" name="TextBox 120"/>
          <p:cNvSpPr txBox="1"/>
          <p:nvPr/>
        </p:nvSpPr>
        <p:spPr>
          <a:xfrm>
            <a:off x="6629400" y="1953158"/>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Positions inaccurate or stale</a:t>
            </a:r>
          </a:p>
        </p:txBody>
      </p:sp>
      <p:sp>
        <p:nvSpPr>
          <p:cNvPr id="122" name="TextBox 121"/>
          <p:cNvSpPr txBox="1"/>
          <p:nvPr/>
        </p:nvSpPr>
        <p:spPr>
          <a:xfrm>
            <a:off x="10241280" y="1953158"/>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23" name="TextBox 122"/>
          <p:cNvSpPr txBox="1"/>
          <p:nvPr/>
        </p:nvSpPr>
        <p:spPr>
          <a:xfrm>
            <a:off x="5989320" y="2192731"/>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R-05</a:t>
            </a:r>
          </a:p>
        </p:txBody>
      </p:sp>
      <p:sp>
        <p:nvSpPr>
          <p:cNvPr id="124" name="TextBox 123"/>
          <p:cNvSpPr txBox="1"/>
          <p:nvPr/>
        </p:nvSpPr>
        <p:spPr>
          <a:xfrm>
            <a:off x="6629400" y="2192731"/>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Offline queue loses evidence</a:t>
            </a:r>
          </a:p>
        </p:txBody>
      </p:sp>
      <p:sp>
        <p:nvSpPr>
          <p:cNvPr id="125" name="TextBox 124"/>
          <p:cNvSpPr txBox="1"/>
          <p:nvPr/>
        </p:nvSpPr>
        <p:spPr>
          <a:xfrm>
            <a:off x="10241280" y="2192731"/>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26" name="TextBox 125"/>
          <p:cNvSpPr txBox="1"/>
          <p:nvPr/>
        </p:nvSpPr>
        <p:spPr>
          <a:xfrm>
            <a:off x="10835640" y="2192731"/>
            <a:ext cx="914400" cy="237744"/>
          </a:xfrm>
          <a:prstGeom prst="rect">
            <a:avLst/>
          </a:prstGeom>
          <a:noFill/>
        </p:spPr>
        <p:txBody>
          <a:bodyPr wrap="square" lIns="0" rIns="0" tIns="0" bIns="0" anchor="ctr">
            <a:spAutoFit/>
          </a:bodyPr>
          <a:lstStyle/>
          <a:p>
            <a:pPr algn="l">
              <a:spcAft>
                <a:spcPts val="0"/>
              </a:spcAft>
            </a:pPr>
            <a:r>
              <a:rPr sz="1200" b="1">
                <a:solidFill>
                  <a:srgbClr val="1F6B45"/>
                </a:solidFill>
                <a:latin typeface="Calibri"/>
              </a:rPr>
              <a:t>↓</a:t>
            </a:r>
          </a:p>
        </p:txBody>
      </p:sp>
      <p:sp>
        <p:nvSpPr>
          <p:cNvPr id="127" name="TextBox 126"/>
          <p:cNvSpPr txBox="1"/>
          <p:nvPr/>
        </p:nvSpPr>
        <p:spPr>
          <a:xfrm>
            <a:off x="5989320" y="2432304"/>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R-09</a:t>
            </a:r>
          </a:p>
        </p:txBody>
      </p:sp>
      <p:sp>
        <p:nvSpPr>
          <p:cNvPr id="128" name="TextBox 127"/>
          <p:cNvSpPr txBox="1"/>
          <p:nvPr/>
        </p:nvSpPr>
        <p:spPr>
          <a:xfrm>
            <a:off x="6629400" y="2432304"/>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Driver data beyond lawful scope</a:t>
            </a:r>
          </a:p>
        </p:txBody>
      </p:sp>
      <p:sp>
        <p:nvSpPr>
          <p:cNvPr id="129" name="TextBox 128"/>
          <p:cNvSpPr txBox="1"/>
          <p:nvPr/>
        </p:nvSpPr>
        <p:spPr>
          <a:xfrm>
            <a:off x="10241280" y="2432304"/>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30" name="TextBox 129"/>
          <p:cNvSpPr txBox="1"/>
          <p:nvPr/>
        </p:nvSpPr>
        <p:spPr>
          <a:xfrm>
            <a:off x="5989320" y="2671876"/>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R-13</a:t>
            </a:r>
          </a:p>
        </p:txBody>
      </p:sp>
      <p:sp>
        <p:nvSpPr>
          <p:cNvPr id="131" name="TextBox 130"/>
          <p:cNvSpPr txBox="1"/>
          <p:nvPr/>
        </p:nvSpPr>
        <p:spPr>
          <a:xfrm>
            <a:off x="6629400" y="2671876"/>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QR link forwarded to someone else</a:t>
            </a:r>
          </a:p>
        </p:txBody>
      </p:sp>
      <p:sp>
        <p:nvSpPr>
          <p:cNvPr id="132" name="TextBox 131"/>
          <p:cNvSpPr txBox="1"/>
          <p:nvPr/>
        </p:nvSpPr>
        <p:spPr>
          <a:xfrm>
            <a:off x="10241280" y="2671876"/>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33" name="TextBox 132"/>
          <p:cNvSpPr txBox="1"/>
          <p:nvPr/>
        </p:nvSpPr>
        <p:spPr>
          <a:xfrm>
            <a:off x="5989320" y="2911449"/>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R-16</a:t>
            </a:r>
          </a:p>
        </p:txBody>
      </p:sp>
      <p:sp>
        <p:nvSpPr>
          <p:cNvPr id="134" name="TextBox 133"/>
          <p:cNvSpPr txBox="1"/>
          <p:nvPr/>
        </p:nvSpPr>
        <p:spPr>
          <a:xfrm>
            <a:off x="6629400" y="2911449"/>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Demo environment fails</a:t>
            </a:r>
          </a:p>
        </p:txBody>
      </p:sp>
      <p:sp>
        <p:nvSpPr>
          <p:cNvPr id="135" name="TextBox 134"/>
          <p:cNvSpPr txBox="1"/>
          <p:nvPr/>
        </p:nvSpPr>
        <p:spPr>
          <a:xfrm>
            <a:off x="10241280" y="2911449"/>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36" name="TextBox 135"/>
          <p:cNvSpPr txBox="1"/>
          <p:nvPr/>
        </p:nvSpPr>
        <p:spPr>
          <a:xfrm>
            <a:off x="10835640" y="2911449"/>
            <a:ext cx="914400" cy="237744"/>
          </a:xfrm>
          <a:prstGeom prst="rect">
            <a:avLst/>
          </a:prstGeom>
          <a:noFill/>
        </p:spPr>
        <p:txBody>
          <a:bodyPr wrap="square" lIns="0" rIns="0" tIns="0" bIns="0" anchor="ctr">
            <a:spAutoFit/>
          </a:bodyPr>
          <a:lstStyle/>
          <a:p>
            <a:pPr algn="l">
              <a:spcAft>
                <a:spcPts val="0"/>
              </a:spcAft>
            </a:pPr>
            <a:r>
              <a:rPr sz="1200" b="1">
                <a:solidFill>
                  <a:srgbClr val="1F6B45"/>
                </a:solidFill>
                <a:latin typeface="Calibri"/>
              </a:rPr>
              <a:t>↓</a:t>
            </a:r>
          </a:p>
        </p:txBody>
      </p:sp>
      <p:sp>
        <p:nvSpPr>
          <p:cNvPr id="137" name="TextBox 136"/>
          <p:cNvSpPr txBox="1"/>
          <p:nvPr/>
        </p:nvSpPr>
        <p:spPr>
          <a:xfrm>
            <a:off x="5989320" y="3151022"/>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R-18</a:t>
            </a:r>
          </a:p>
        </p:txBody>
      </p:sp>
      <p:sp>
        <p:nvSpPr>
          <p:cNvPr id="138" name="TextBox 137"/>
          <p:cNvSpPr txBox="1"/>
          <p:nvPr/>
        </p:nvSpPr>
        <p:spPr>
          <a:xfrm>
            <a:off x="6629400" y="3151022"/>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Driver account used by another</a:t>
            </a:r>
          </a:p>
        </p:txBody>
      </p:sp>
      <p:sp>
        <p:nvSpPr>
          <p:cNvPr id="139" name="TextBox 138"/>
          <p:cNvSpPr txBox="1"/>
          <p:nvPr/>
        </p:nvSpPr>
        <p:spPr>
          <a:xfrm>
            <a:off x="10241280" y="3151022"/>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40" name="TextBox 139"/>
          <p:cNvSpPr txBox="1"/>
          <p:nvPr/>
        </p:nvSpPr>
        <p:spPr>
          <a:xfrm>
            <a:off x="5989320" y="3390595"/>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R-19</a:t>
            </a:r>
          </a:p>
        </p:txBody>
      </p:sp>
      <p:sp>
        <p:nvSpPr>
          <p:cNvPr id="141" name="TextBox 140"/>
          <p:cNvSpPr txBox="1"/>
          <p:nvPr/>
        </p:nvSpPr>
        <p:spPr>
          <a:xfrm>
            <a:off x="6629400" y="3390595"/>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Work concentrated in two people</a:t>
            </a:r>
          </a:p>
        </p:txBody>
      </p:sp>
      <p:sp>
        <p:nvSpPr>
          <p:cNvPr id="142" name="TextBox 141"/>
          <p:cNvSpPr txBox="1"/>
          <p:nvPr/>
        </p:nvSpPr>
        <p:spPr>
          <a:xfrm>
            <a:off x="10241280" y="3390595"/>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43" name="TextBox 142"/>
          <p:cNvSpPr txBox="1"/>
          <p:nvPr/>
        </p:nvSpPr>
        <p:spPr>
          <a:xfrm>
            <a:off x="10835640" y="3390595"/>
            <a:ext cx="914400" cy="237744"/>
          </a:xfrm>
          <a:prstGeom prst="rect">
            <a:avLst/>
          </a:prstGeom>
          <a:noFill/>
        </p:spPr>
        <p:txBody>
          <a:bodyPr wrap="square" lIns="0" rIns="0" tIns="0" bIns="0" anchor="ctr">
            <a:spAutoFit/>
          </a:bodyPr>
          <a:lstStyle/>
          <a:p>
            <a:pPr algn="l">
              <a:spcAft>
                <a:spcPts val="0"/>
              </a:spcAft>
            </a:pPr>
            <a:r>
              <a:rPr sz="1200" b="1">
                <a:solidFill>
                  <a:srgbClr val="B4621A"/>
                </a:solidFill>
                <a:latin typeface="Calibri"/>
              </a:rPr>
              <a:t>New</a:t>
            </a:r>
          </a:p>
        </p:txBody>
      </p:sp>
      <p:sp>
        <p:nvSpPr>
          <p:cNvPr id="144" name="TextBox 143"/>
          <p:cNvSpPr txBox="1"/>
          <p:nvPr/>
        </p:nvSpPr>
        <p:spPr>
          <a:xfrm>
            <a:off x="5989320" y="3630168"/>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R-20</a:t>
            </a:r>
          </a:p>
        </p:txBody>
      </p:sp>
      <p:sp>
        <p:nvSpPr>
          <p:cNvPr id="145" name="TextBox 144"/>
          <p:cNvSpPr txBox="1"/>
          <p:nvPr/>
        </p:nvSpPr>
        <p:spPr>
          <a:xfrm>
            <a:off x="6629400" y="3630168"/>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Carry-over crowds out hardening</a:t>
            </a:r>
          </a:p>
        </p:txBody>
      </p:sp>
      <p:sp>
        <p:nvSpPr>
          <p:cNvPr id="146" name="TextBox 145"/>
          <p:cNvSpPr txBox="1"/>
          <p:nvPr/>
        </p:nvSpPr>
        <p:spPr>
          <a:xfrm>
            <a:off x="10241280" y="3630168"/>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47" name="TextBox 146"/>
          <p:cNvSpPr txBox="1"/>
          <p:nvPr/>
        </p:nvSpPr>
        <p:spPr>
          <a:xfrm>
            <a:off x="10835640" y="3630168"/>
            <a:ext cx="914400" cy="237744"/>
          </a:xfrm>
          <a:prstGeom prst="rect">
            <a:avLst/>
          </a:prstGeom>
          <a:noFill/>
        </p:spPr>
        <p:txBody>
          <a:bodyPr wrap="square" lIns="0" rIns="0" tIns="0" bIns="0" anchor="ctr">
            <a:spAutoFit/>
          </a:bodyPr>
          <a:lstStyle/>
          <a:p>
            <a:pPr algn="l">
              <a:spcAft>
                <a:spcPts val="0"/>
              </a:spcAft>
            </a:pPr>
            <a:r>
              <a:rPr sz="1200" b="1">
                <a:solidFill>
                  <a:srgbClr val="B4621A"/>
                </a:solidFill>
                <a:latin typeface="Calibri"/>
              </a:rPr>
              <a:t>New</a:t>
            </a:r>
          </a:p>
        </p:txBody>
      </p:sp>
      <p:sp>
        <p:nvSpPr>
          <p:cNvPr id="148" name="TextBox 147"/>
          <p:cNvSpPr txBox="1"/>
          <p:nvPr/>
        </p:nvSpPr>
        <p:spPr>
          <a:xfrm>
            <a:off x="5989320" y="3869740"/>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R-21</a:t>
            </a:r>
          </a:p>
        </p:txBody>
      </p:sp>
      <p:sp>
        <p:nvSpPr>
          <p:cNvPr id="149" name="TextBox 148"/>
          <p:cNvSpPr txBox="1"/>
          <p:nvPr/>
        </p:nvSpPr>
        <p:spPr>
          <a:xfrm>
            <a:off x="6629400" y="3869740"/>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Can't explain AI-assisted code</a:t>
            </a:r>
          </a:p>
        </p:txBody>
      </p:sp>
      <p:sp>
        <p:nvSpPr>
          <p:cNvPr id="150" name="TextBox 149"/>
          <p:cNvSpPr txBox="1"/>
          <p:nvPr/>
        </p:nvSpPr>
        <p:spPr>
          <a:xfrm>
            <a:off x="10241280" y="3869740"/>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12</a:t>
            </a:r>
          </a:p>
        </p:txBody>
      </p:sp>
      <p:sp>
        <p:nvSpPr>
          <p:cNvPr id="151" name="TextBox 150"/>
          <p:cNvSpPr txBox="1"/>
          <p:nvPr/>
        </p:nvSpPr>
        <p:spPr>
          <a:xfrm>
            <a:off x="10835640" y="3869740"/>
            <a:ext cx="914400" cy="237744"/>
          </a:xfrm>
          <a:prstGeom prst="rect">
            <a:avLst/>
          </a:prstGeom>
          <a:noFill/>
        </p:spPr>
        <p:txBody>
          <a:bodyPr wrap="square" lIns="0" rIns="0" tIns="0" bIns="0" anchor="ctr">
            <a:spAutoFit/>
          </a:bodyPr>
          <a:lstStyle/>
          <a:p>
            <a:pPr algn="l">
              <a:spcAft>
                <a:spcPts val="0"/>
              </a:spcAft>
            </a:pPr>
            <a:r>
              <a:rPr sz="1200" b="1">
                <a:solidFill>
                  <a:srgbClr val="B4621A"/>
                </a:solidFill>
                <a:latin typeface="Calibri"/>
              </a:rPr>
              <a:t>New</a:t>
            </a:r>
          </a:p>
        </p:txBody>
      </p:sp>
      <p:sp>
        <p:nvSpPr>
          <p:cNvPr id="152" name="TextBox 151"/>
          <p:cNvSpPr txBox="1"/>
          <p:nvPr/>
        </p:nvSpPr>
        <p:spPr>
          <a:xfrm>
            <a:off x="5989320" y="4109313"/>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R-14</a:t>
            </a:r>
          </a:p>
        </p:txBody>
      </p:sp>
      <p:sp>
        <p:nvSpPr>
          <p:cNvPr id="153" name="TextBox 152"/>
          <p:cNvSpPr txBox="1"/>
          <p:nvPr/>
        </p:nvSpPr>
        <p:spPr>
          <a:xfrm>
            <a:off x="6629400" y="4109313"/>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Platform security weakness</a:t>
            </a:r>
          </a:p>
        </p:txBody>
      </p:sp>
      <p:sp>
        <p:nvSpPr>
          <p:cNvPr id="154" name="TextBox 153"/>
          <p:cNvSpPr txBox="1"/>
          <p:nvPr/>
        </p:nvSpPr>
        <p:spPr>
          <a:xfrm>
            <a:off x="10241280" y="4109313"/>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10</a:t>
            </a:r>
          </a:p>
        </p:txBody>
      </p:sp>
      <p:sp>
        <p:nvSpPr>
          <p:cNvPr id="155" name="TextBox 154"/>
          <p:cNvSpPr txBox="1"/>
          <p:nvPr/>
        </p:nvSpPr>
        <p:spPr>
          <a:xfrm>
            <a:off x="10835640" y="4109313"/>
            <a:ext cx="914400" cy="237744"/>
          </a:xfrm>
          <a:prstGeom prst="rect">
            <a:avLst/>
          </a:prstGeom>
          <a:noFill/>
        </p:spPr>
        <p:txBody>
          <a:bodyPr wrap="square" lIns="0" rIns="0" tIns="0" bIns="0" anchor="ctr">
            <a:spAutoFit/>
          </a:bodyPr>
          <a:lstStyle/>
          <a:p>
            <a:pPr algn="l">
              <a:spcAft>
                <a:spcPts val="0"/>
              </a:spcAft>
            </a:pPr>
            <a:r>
              <a:rPr sz="1200" b="1">
                <a:solidFill>
                  <a:srgbClr val="1F6B45"/>
                </a:solidFill>
                <a:latin typeface="Calibri"/>
              </a:rPr>
              <a:t>↓</a:t>
            </a:r>
          </a:p>
        </p:txBody>
      </p:sp>
      <p:sp>
        <p:nvSpPr>
          <p:cNvPr id="156" name="TextBox 155"/>
          <p:cNvSpPr txBox="1"/>
          <p:nvPr/>
        </p:nvSpPr>
        <p:spPr>
          <a:xfrm>
            <a:off x="5989320" y="4348886"/>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R-10</a:t>
            </a:r>
          </a:p>
        </p:txBody>
      </p:sp>
      <p:sp>
        <p:nvSpPr>
          <p:cNvPr id="157" name="TextBox 156"/>
          <p:cNvSpPr txBox="1"/>
          <p:nvPr/>
        </p:nvSpPr>
        <p:spPr>
          <a:xfrm>
            <a:off x="6629400" y="4348886"/>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App fails on untested phones</a:t>
            </a:r>
          </a:p>
        </p:txBody>
      </p:sp>
      <p:sp>
        <p:nvSpPr>
          <p:cNvPr id="158" name="TextBox 157"/>
          <p:cNvSpPr txBox="1"/>
          <p:nvPr/>
        </p:nvSpPr>
        <p:spPr>
          <a:xfrm>
            <a:off x="10241280" y="4348886"/>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9</a:t>
            </a:r>
          </a:p>
        </p:txBody>
      </p:sp>
      <p:sp>
        <p:nvSpPr>
          <p:cNvPr id="159" name="TextBox 158"/>
          <p:cNvSpPr txBox="1"/>
          <p:nvPr/>
        </p:nvSpPr>
        <p:spPr>
          <a:xfrm>
            <a:off x="5989320" y="4588459"/>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R-23</a:t>
            </a:r>
          </a:p>
        </p:txBody>
      </p:sp>
      <p:sp>
        <p:nvSpPr>
          <p:cNvPr id="160" name="TextBox 159"/>
          <p:cNvSpPr txBox="1"/>
          <p:nvPr/>
        </p:nvSpPr>
        <p:spPr>
          <a:xfrm>
            <a:off x="6629400" y="4588459"/>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Late merges break shared code</a:t>
            </a:r>
          </a:p>
        </p:txBody>
      </p:sp>
      <p:sp>
        <p:nvSpPr>
          <p:cNvPr id="161" name="TextBox 160"/>
          <p:cNvSpPr txBox="1"/>
          <p:nvPr/>
        </p:nvSpPr>
        <p:spPr>
          <a:xfrm>
            <a:off x="10241280" y="4588459"/>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9</a:t>
            </a:r>
          </a:p>
        </p:txBody>
      </p:sp>
      <p:sp>
        <p:nvSpPr>
          <p:cNvPr id="162" name="TextBox 161"/>
          <p:cNvSpPr txBox="1"/>
          <p:nvPr/>
        </p:nvSpPr>
        <p:spPr>
          <a:xfrm>
            <a:off x="10835640" y="4588459"/>
            <a:ext cx="914400" cy="237744"/>
          </a:xfrm>
          <a:prstGeom prst="rect">
            <a:avLst/>
          </a:prstGeom>
          <a:noFill/>
        </p:spPr>
        <p:txBody>
          <a:bodyPr wrap="square" lIns="0" rIns="0" tIns="0" bIns="0" anchor="ctr">
            <a:spAutoFit/>
          </a:bodyPr>
          <a:lstStyle/>
          <a:p>
            <a:pPr algn="l">
              <a:spcAft>
                <a:spcPts val="0"/>
              </a:spcAft>
            </a:pPr>
            <a:r>
              <a:rPr sz="1200" b="1">
                <a:solidFill>
                  <a:srgbClr val="B4621A"/>
                </a:solidFill>
                <a:latin typeface="Calibri"/>
              </a:rPr>
              <a:t>New</a:t>
            </a:r>
          </a:p>
        </p:txBody>
      </p:sp>
      <p:sp>
        <p:nvSpPr>
          <p:cNvPr id="163" name="TextBox 162"/>
          <p:cNvSpPr txBox="1"/>
          <p:nvPr/>
        </p:nvSpPr>
        <p:spPr>
          <a:xfrm>
            <a:off x="5989320" y="4828032"/>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R-07</a:t>
            </a:r>
          </a:p>
        </p:txBody>
      </p:sp>
      <p:sp>
        <p:nvSpPr>
          <p:cNvPr id="164" name="TextBox 163"/>
          <p:cNvSpPr txBox="1"/>
          <p:nvPr/>
        </p:nvSpPr>
        <p:spPr>
          <a:xfrm>
            <a:off x="6629400" y="4828032"/>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Hedera outage</a:t>
            </a:r>
          </a:p>
        </p:txBody>
      </p:sp>
      <p:sp>
        <p:nvSpPr>
          <p:cNvPr id="165" name="TextBox 164"/>
          <p:cNvSpPr txBox="1"/>
          <p:nvPr/>
        </p:nvSpPr>
        <p:spPr>
          <a:xfrm>
            <a:off x="10241280" y="4828032"/>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8</a:t>
            </a:r>
          </a:p>
        </p:txBody>
      </p:sp>
      <p:sp>
        <p:nvSpPr>
          <p:cNvPr id="166" name="TextBox 165"/>
          <p:cNvSpPr txBox="1"/>
          <p:nvPr/>
        </p:nvSpPr>
        <p:spPr>
          <a:xfrm>
            <a:off x="5989320" y="5067604"/>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R-15</a:t>
            </a:r>
          </a:p>
        </p:txBody>
      </p:sp>
      <p:sp>
        <p:nvSpPr>
          <p:cNvPr id="167" name="TextBox 166"/>
          <p:cNvSpPr txBox="1"/>
          <p:nvPr/>
        </p:nvSpPr>
        <p:spPr>
          <a:xfrm>
            <a:off x="6629400" y="5067604"/>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Analytics misread</a:t>
            </a:r>
          </a:p>
        </p:txBody>
      </p:sp>
      <p:sp>
        <p:nvSpPr>
          <p:cNvPr id="168" name="TextBox 167"/>
          <p:cNvSpPr txBox="1"/>
          <p:nvPr/>
        </p:nvSpPr>
        <p:spPr>
          <a:xfrm>
            <a:off x="10241280" y="5067604"/>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6</a:t>
            </a:r>
          </a:p>
        </p:txBody>
      </p:sp>
      <p:sp>
        <p:nvSpPr>
          <p:cNvPr id="169" name="TextBox 168"/>
          <p:cNvSpPr txBox="1"/>
          <p:nvPr/>
        </p:nvSpPr>
        <p:spPr>
          <a:xfrm>
            <a:off x="10835640" y="5067604"/>
            <a:ext cx="914400" cy="237744"/>
          </a:xfrm>
          <a:prstGeom prst="rect">
            <a:avLst/>
          </a:prstGeom>
          <a:noFill/>
        </p:spPr>
        <p:txBody>
          <a:bodyPr wrap="square" lIns="0" rIns="0" tIns="0" bIns="0" anchor="ctr">
            <a:spAutoFit/>
          </a:bodyPr>
          <a:lstStyle/>
          <a:p>
            <a:pPr algn="l">
              <a:spcAft>
                <a:spcPts val="0"/>
              </a:spcAft>
            </a:pPr>
            <a:r>
              <a:rPr sz="1200" b="1">
                <a:solidFill>
                  <a:srgbClr val="1F6B45"/>
                </a:solidFill>
                <a:latin typeface="Calibri"/>
              </a:rPr>
              <a:t>↓</a:t>
            </a:r>
          </a:p>
        </p:txBody>
      </p:sp>
      <p:sp>
        <p:nvSpPr>
          <p:cNvPr id="170" name="TextBox 169"/>
          <p:cNvSpPr txBox="1"/>
          <p:nvPr/>
        </p:nvSpPr>
        <p:spPr>
          <a:xfrm>
            <a:off x="5989320" y="5307177"/>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R-06</a:t>
            </a:r>
          </a:p>
        </p:txBody>
      </p:sp>
      <p:sp>
        <p:nvSpPr>
          <p:cNvPr id="171" name="TextBox 170"/>
          <p:cNvSpPr txBox="1"/>
          <p:nvPr/>
        </p:nvSpPr>
        <p:spPr>
          <a:xfrm>
            <a:off x="6629400" y="5307177"/>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Personal data on the public ledger</a:t>
            </a:r>
          </a:p>
        </p:txBody>
      </p:sp>
      <p:sp>
        <p:nvSpPr>
          <p:cNvPr id="172" name="TextBox 171"/>
          <p:cNvSpPr txBox="1"/>
          <p:nvPr/>
        </p:nvSpPr>
        <p:spPr>
          <a:xfrm>
            <a:off x="10241280" y="5307177"/>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5</a:t>
            </a:r>
          </a:p>
        </p:txBody>
      </p:sp>
      <p:sp>
        <p:nvSpPr>
          <p:cNvPr id="173" name="TextBox 172"/>
          <p:cNvSpPr txBox="1"/>
          <p:nvPr/>
        </p:nvSpPr>
        <p:spPr>
          <a:xfrm>
            <a:off x="5989320" y="5546750"/>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R-04</a:t>
            </a:r>
          </a:p>
        </p:txBody>
      </p:sp>
      <p:sp>
        <p:nvSpPr>
          <p:cNvPr id="174" name="TextBox 173"/>
          <p:cNvSpPr txBox="1"/>
          <p:nvPr/>
        </p:nvSpPr>
        <p:spPr>
          <a:xfrm>
            <a:off x="6629400" y="5546750"/>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Evidence altered before anchoring</a:t>
            </a:r>
          </a:p>
        </p:txBody>
      </p:sp>
      <p:sp>
        <p:nvSpPr>
          <p:cNvPr id="175" name="TextBox 174"/>
          <p:cNvSpPr txBox="1"/>
          <p:nvPr/>
        </p:nvSpPr>
        <p:spPr>
          <a:xfrm>
            <a:off x="10241280" y="5546750"/>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4</a:t>
            </a:r>
          </a:p>
        </p:txBody>
      </p:sp>
      <p:sp>
        <p:nvSpPr>
          <p:cNvPr id="176" name="TextBox 175"/>
          <p:cNvSpPr txBox="1"/>
          <p:nvPr/>
        </p:nvSpPr>
        <p:spPr>
          <a:xfrm>
            <a:off x="10835640" y="5546750"/>
            <a:ext cx="914400" cy="237744"/>
          </a:xfrm>
          <a:prstGeom prst="rect">
            <a:avLst/>
          </a:prstGeom>
          <a:noFill/>
        </p:spPr>
        <p:txBody>
          <a:bodyPr wrap="square" lIns="0" rIns="0" tIns="0" bIns="0" anchor="ctr">
            <a:spAutoFit/>
          </a:bodyPr>
          <a:lstStyle/>
          <a:p>
            <a:pPr algn="l">
              <a:spcAft>
                <a:spcPts val="0"/>
              </a:spcAft>
            </a:pPr>
            <a:r>
              <a:rPr sz="1200" b="1">
                <a:solidFill>
                  <a:srgbClr val="1F6B45"/>
                </a:solidFill>
                <a:latin typeface="Calibri"/>
              </a:rPr>
              <a:t>↓</a:t>
            </a:r>
          </a:p>
        </p:txBody>
      </p:sp>
      <p:sp>
        <p:nvSpPr>
          <p:cNvPr id="177" name="TextBox 176"/>
          <p:cNvSpPr txBox="1"/>
          <p:nvPr/>
        </p:nvSpPr>
        <p:spPr>
          <a:xfrm>
            <a:off x="5989320" y="5786323"/>
            <a:ext cx="640080" cy="237744"/>
          </a:xfrm>
          <a:prstGeom prst="rect">
            <a:avLst/>
          </a:prstGeom>
          <a:noFill/>
        </p:spPr>
        <p:txBody>
          <a:bodyPr wrap="square" lIns="0" rIns="0" tIns="0" bIns="0" anchor="ctr">
            <a:spAutoFit/>
          </a:bodyPr>
          <a:lstStyle/>
          <a:p>
            <a:pPr algn="l">
              <a:spcAft>
                <a:spcPts val="0"/>
              </a:spcAft>
            </a:pPr>
            <a:r>
              <a:rPr sz="1300" b="1">
                <a:solidFill>
                  <a:srgbClr val="1B7C8A"/>
                </a:solidFill>
                <a:latin typeface="Calibri"/>
              </a:rPr>
              <a:t>R-12</a:t>
            </a:r>
          </a:p>
        </p:txBody>
      </p:sp>
      <p:sp>
        <p:nvSpPr>
          <p:cNvPr id="178" name="TextBox 177"/>
          <p:cNvSpPr txBox="1"/>
          <p:nvPr/>
        </p:nvSpPr>
        <p:spPr>
          <a:xfrm>
            <a:off x="6629400" y="5786323"/>
            <a:ext cx="3657600" cy="237744"/>
          </a:xfrm>
          <a:prstGeom prst="rect">
            <a:avLst/>
          </a:prstGeom>
          <a:noFill/>
        </p:spPr>
        <p:txBody>
          <a:bodyPr wrap="square" lIns="0" rIns="0" tIns="0" bIns="0" anchor="ctr">
            <a:spAutoFit/>
          </a:bodyPr>
          <a:lstStyle/>
          <a:p>
            <a:pPr algn="l">
              <a:spcAft>
                <a:spcPts val="0"/>
              </a:spcAft>
            </a:pPr>
            <a:r>
              <a:rPr sz="1300" b="0">
                <a:solidFill>
                  <a:srgbClr val="0D1B2A"/>
                </a:solidFill>
                <a:latin typeface="Calibri"/>
              </a:rPr>
              <a:t>Receiver check disproportionate</a:t>
            </a:r>
          </a:p>
        </p:txBody>
      </p:sp>
      <p:sp>
        <p:nvSpPr>
          <p:cNvPr id="179" name="TextBox 178"/>
          <p:cNvSpPr txBox="1"/>
          <p:nvPr/>
        </p:nvSpPr>
        <p:spPr>
          <a:xfrm>
            <a:off x="10241280" y="5786323"/>
            <a:ext cx="457200" cy="237744"/>
          </a:xfrm>
          <a:prstGeom prst="rect">
            <a:avLst/>
          </a:prstGeom>
          <a:noFill/>
        </p:spPr>
        <p:txBody>
          <a:bodyPr wrap="square" lIns="0" rIns="0" tIns="0" bIns="0" anchor="ctr">
            <a:spAutoFit/>
          </a:bodyPr>
          <a:lstStyle/>
          <a:p>
            <a:pPr algn="r">
              <a:spcAft>
                <a:spcPts val="0"/>
              </a:spcAft>
            </a:pPr>
            <a:r>
              <a:rPr sz="1300" b="1">
                <a:solidFill>
                  <a:srgbClr val="0D1B2A"/>
                </a:solidFill>
                <a:latin typeface="Calibri"/>
              </a:rPr>
              <a:t>4</a:t>
            </a:r>
          </a:p>
        </p:txBody>
      </p:sp>
      <p:sp>
        <p:nvSpPr>
          <p:cNvPr id="180" name="TextBox 179"/>
          <p:cNvSpPr txBox="1"/>
          <p:nvPr/>
        </p:nvSpPr>
        <p:spPr>
          <a:xfrm>
            <a:off x="10835640" y="5786323"/>
            <a:ext cx="914400" cy="237744"/>
          </a:xfrm>
          <a:prstGeom prst="rect">
            <a:avLst/>
          </a:prstGeom>
          <a:noFill/>
        </p:spPr>
        <p:txBody>
          <a:bodyPr wrap="square" lIns="0" rIns="0" tIns="0" bIns="0" anchor="ctr">
            <a:spAutoFit/>
          </a:bodyPr>
          <a:lstStyle/>
          <a:p>
            <a:pPr algn="l">
              <a:spcAft>
                <a:spcPts val="0"/>
              </a:spcAft>
            </a:pPr>
            <a:r>
              <a:rPr sz="1200" b="1">
                <a:solidFill>
                  <a:srgbClr val="1F6B45"/>
                </a:solidFill>
                <a:latin typeface="Calibri"/>
              </a:rPr>
              <a: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Deployment architecture</a:t>
            </a:r>
            <a:endParaRPr lang="en-US" sz="3200" dirty="0"/>
          </a:p>
        </p:txBody>
      </p:sp>
      <p:sp>
        <p:nvSpPr>
          <p:cNvPr id="3" name="kicker_226"/>
          <p:cNvSpPr txBox="1"/>
          <p:nvPr/>
        </p:nvSpPr>
        <p:spPr>
          <a:xfrm>
            <a:off x="9020556" y="475488"/>
            <a:ext cx="2711196"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SE · ARCHITECTURE</a:t>
            </a:r>
            <a:endParaRPr lang="en-US" sz="1600" dirty="0"/>
          </a:p>
        </p:txBody>
      </p:sp>
      <p:pic>
        <p:nvPicPr>
          <p:cNvPr id="4" name="img_fig7.png_227" descr="/tmp/claude-0/-home-claude/31143541-0ec7-5398-affd-e5fcdd8964de/scratchpad/build/img/fig7.png"/>
          <p:cNvPicPr>
            <a:picLocks noChangeAspect="1"/>
          </p:cNvPicPr>
          <p:nvPr/>
        </p:nvPicPr>
        <p:blipFill>
          <a:blip r:embed="rId3"/>
          <a:stretch>
            <a:fillRect/>
          </a:stretch>
        </p:blipFill>
        <p:spPr>
          <a:xfrm>
            <a:off x="365760" y="1143000"/>
            <a:ext cx="7948778" cy="5212080"/>
          </a:xfrm>
          <a:prstGeom prst="rect">
            <a:avLst/>
          </a:prstGeom>
        </p:spPr>
      </p:pic>
      <p:sp>
        <p:nvSpPr>
          <p:cNvPr id="5" name="shape_228"/>
          <p:cNvSpPr/>
          <p:nvPr/>
        </p:nvSpPr>
        <p:spPr>
          <a:xfrm>
            <a:off x="8686800" y="1426464"/>
            <a:ext cx="274320" cy="274320"/>
          </a:xfrm>
          <a:prstGeom prst="roundRect">
            <a:avLst>
              <a:gd name="adj" fmla="val 16667"/>
            </a:avLst>
          </a:prstGeom>
          <a:solidFill>
            <a:srgbClr val="FCE6BE"/>
          </a:solidFill>
          <a:ln w="31750">
            <a:solidFill>
              <a:srgbClr val="E8A020"/>
            </a:solidFill>
            <a:prstDash val="solid"/>
          </a:ln>
        </p:spPr>
        <p:txBody>
          <a:bodyPr/>
          <a:lstStyle/>
          <a:p>
            <a:endParaRPr lang="en-GB"/>
          </a:p>
        </p:txBody>
      </p:sp>
      <p:sp>
        <p:nvSpPr>
          <p:cNvPr id="6" name="text_229"/>
          <p:cNvSpPr txBox="1"/>
          <p:nvPr/>
        </p:nvSpPr>
        <p:spPr>
          <a:xfrm>
            <a:off x="9070848" y="1371600"/>
            <a:ext cx="292608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New in Iteration 4</a:t>
            </a:r>
            <a:endParaRPr lang="en-US" sz="1800" dirty="0"/>
          </a:p>
        </p:txBody>
      </p:sp>
      <p:sp>
        <p:nvSpPr>
          <p:cNvPr id="7" name="chip_Simulated_230"/>
          <p:cNvSpPr txBox="1"/>
          <p:nvPr/>
        </p:nvSpPr>
        <p:spPr>
          <a:xfrm>
            <a:off x="8686800" y="2103120"/>
            <a:ext cx="1417320" cy="384048"/>
          </a:xfrm>
          <a:prstGeom prst="roundRect">
            <a:avLst>
              <a:gd name="adj" fmla="val 50000"/>
            </a:avLst>
          </a:prstGeom>
          <a:solidFill>
            <a:srgbClr val="ECEFF3"/>
          </a:solidFill>
          <a:ln w="15875">
            <a:solidFill>
              <a:srgbClr val="8FA8B8"/>
            </a:solidFill>
            <a:prstDash val="dash"/>
          </a:ln>
        </p:spPr>
        <p:txBody>
          <a:bodyPr wrap="square" lIns="0" tIns="0" rIns="0" bIns="0" rtlCol="0" anchor="ctr"/>
          <a:lstStyle/>
          <a:p>
            <a:pPr marL="0" indent="0" algn="ctr">
              <a:buNone/>
            </a:pPr>
            <a:r>
              <a:rPr lang="en-US" sz="1800" b="1" dirty="0">
                <a:solidFill>
                  <a:srgbClr val="3E4C5A"/>
                </a:solidFill>
                <a:latin typeface="Calibri" pitchFamily="34" charset="0"/>
                <a:ea typeface="Calibri" pitchFamily="34" charset="-122"/>
                <a:cs typeface="Calibri" pitchFamily="34" charset="-120"/>
              </a:rPr>
              <a:t>Simulated</a:t>
            </a:r>
            <a:endParaRPr lang="en-US" sz="1800" dirty="0"/>
          </a:p>
        </p:txBody>
      </p:sp>
      <p:sp>
        <p:nvSpPr>
          <p:cNvPr id="8" name="text_231"/>
          <p:cNvSpPr txBox="1"/>
          <p:nvPr/>
        </p:nvSpPr>
        <p:spPr>
          <a:xfrm>
            <a:off x="8686800" y="2560320"/>
            <a:ext cx="3063240" cy="685800"/>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Parcel Perfect, Pulsit, scan feed</a:t>
            </a:r>
            <a:endParaRPr lang="en-US" sz="1800" dirty="0"/>
          </a:p>
        </p:txBody>
      </p:sp>
      <p:sp>
        <p:nvSpPr>
          <p:cNvPr id="9" name="text_232"/>
          <p:cNvSpPr txBox="1"/>
          <p:nvPr/>
        </p:nvSpPr>
        <p:spPr>
          <a:xfrm>
            <a:off x="8686800" y="3474720"/>
            <a:ext cx="3063240" cy="685800"/>
          </a:xfrm>
          <a:prstGeom prst="rect">
            <a:avLst/>
          </a:prstGeom>
          <a:noFill/>
          <a:ln/>
        </p:spPr>
        <p:txBody>
          <a:bodyPr wrap="square" lIns="0" tIns="0" rIns="0" bIns="0" rtlCol="0" anchor="ctr"/>
          <a:lstStyle/>
          <a:p>
            <a:pPr marL="0" indent="0">
              <a:buNone/>
            </a:pPr>
            <a:r>
              <a:rPr lang="en-US" sz="1800" b="1" dirty="0">
                <a:solidFill>
                  <a:srgbClr val="0D1B2A"/>
                </a:solidFill>
                <a:latin typeface="Calibri" pitchFamily="34" charset="0"/>
                <a:ea typeface="Calibri" pitchFamily="34" charset="-122"/>
                <a:cs typeface="Calibri" pitchFamily="34" charset="-120"/>
              </a:rPr>
              <a:t>Live  </a:t>
            </a:r>
            <a:r>
              <a:rPr lang="en-US" sz="1800" dirty="0">
                <a:solidFill>
                  <a:srgbClr val="0D1B2A"/>
                </a:solidFill>
                <a:latin typeface="Calibri" pitchFamily="34" charset="0"/>
                <a:ea typeface="Calibri" pitchFamily="34" charset="-122"/>
                <a:cs typeface="Calibri" pitchFamily="34" charset="-120"/>
              </a:rPr>
              <a:t>Hedera test network, Didit, SendGrid</a:t>
            </a:r>
            <a:endParaRPr lang="en-US" sz="1800" dirty="0"/>
          </a:p>
        </p:txBody>
      </p:sp>
      <p:sp>
        <p:nvSpPr>
          <p:cNvPr id="10" name="shape_233"/>
          <p:cNvSpPr/>
          <p:nvPr/>
        </p:nvSpPr>
        <p:spPr>
          <a:xfrm>
            <a:off x="8686800" y="4434840"/>
            <a:ext cx="3063240" cy="1188720"/>
          </a:xfrm>
          <a:prstGeom prst="roundRect">
            <a:avLst>
              <a:gd name="adj" fmla="val 6154"/>
            </a:avLst>
          </a:prstGeom>
          <a:solidFill>
            <a:srgbClr val="F2F6F8"/>
          </a:solidFill>
          <a:ln w="12700">
            <a:solidFill>
              <a:srgbClr val="F2F6F8"/>
            </a:solidFill>
            <a:prstDash val="solid"/>
          </a:ln>
        </p:spPr>
        <p:txBody>
          <a:bodyPr/>
          <a:lstStyle/>
          <a:p>
            <a:endParaRPr lang="en-GB"/>
          </a:p>
        </p:txBody>
      </p:sp>
      <p:sp>
        <p:nvSpPr>
          <p:cNvPr id="11" name="text_234"/>
          <p:cNvSpPr txBox="1"/>
          <p:nvPr/>
        </p:nvSpPr>
        <p:spPr>
          <a:xfrm>
            <a:off x="8869680" y="4480560"/>
            <a:ext cx="2743200" cy="1097280"/>
          </a:xfrm>
          <a:prstGeom prst="rect">
            <a:avLst/>
          </a:prstGeom>
          <a:noFill/>
          <a:ln/>
        </p:spPr>
        <p:txBody>
          <a:bodyPr wrap="square" lIns="0" tIns="0" rIns="0" bIns="0" rtlCol="0" anchor="ctr"/>
          <a:lstStyle/>
          <a:p>
            <a:pPr marL="0" indent="0">
              <a:buNone/>
            </a:pPr>
            <a:r>
              <a:rPr lang="en-US" sz="2000" b="1" dirty="0">
                <a:solidFill>
                  <a:srgbClr val="0D1B2A"/>
                </a:solidFill>
                <a:latin typeface="Calibri" pitchFamily="34" charset="0"/>
                <a:ea typeface="Calibri" pitchFamily="34" charset="-122"/>
                <a:cs typeface="Calibri" pitchFamily="34" charset="-120"/>
              </a:rPr>
              <a:t>Only fingerprints reach Hedera</a:t>
            </a:r>
            <a:endParaRPr lang="en-US" sz="20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9</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Package diagram</a:t>
            </a:r>
            <a:endParaRPr lang="en-US" sz="3200" dirty="0"/>
          </a:p>
        </p:txBody>
      </p:sp>
      <p:sp>
        <p:nvSpPr>
          <p:cNvPr id="3" name="kicker_235"/>
          <p:cNvSpPr txBox="1"/>
          <p:nvPr/>
        </p:nvSpPr>
        <p:spPr>
          <a:xfrm>
            <a:off x="10213848" y="475488"/>
            <a:ext cx="151790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SE · UML</a:t>
            </a:r>
            <a:endParaRPr lang="en-US" sz="1600" dirty="0"/>
          </a:p>
        </p:txBody>
      </p:sp>
      <p:pic>
        <p:nvPicPr>
          <p:cNvPr id="4" name="img_fig1.png_236" descr="/tmp/claude-0/-home-claude/31143541-0ec7-5398-affd-e5fcdd8964de/scratchpad/build/img/fig1.png"/>
          <p:cNvPicPr>
            <a:picLocks noChangeAspect="1"/>
          </p:cNvPicPr>
          <p:nvPr/>
        </p:nvPicPr>
        <p:blipFill>
          <a:blip r:embed="rId3"/>
          <a:stretch>
            <a:fillRect/>
          </a:stretch>
        </p:blipFill>
        <p:spPr>
          <a:xfrm>
            <a:off x="365760" y="1143000"/>
            <a:ext cx="8032143" cy="5212080"/>
          </a:xfrm>
          <a:prstGeom prst="rect">
            <a:avLst/>
          </a:prstGeom>
        </p:spPr>
      </p:pic>
      <p:sp>
        <p:nvSpPr>
          <p:cNvPr id="5" name="shape_237"/>
          <p:cNvSpPr/>
          <p:nvPr/>
        </p:nvSpPr>
        <p:spPr>
          <a:xfrm>
            <a:off x="8778240" y="1426464"/>
            <a:ext cx="274320" cy="274320"/>
          </a:xfrm>
          <a:prstGeom prst="roundRect">
            <a:avLst>
              <a:gd name="adj" fmla="val 16667"/>
            </a:avLst>
          </a:prstGeom>
          <a:solidFill>
            <a:srgbClr val="FCE6BE"/>
          </a:solidFill>
          <a:ln w="31750">
            <a:solidFill>
              <a:srgbClr val="E8A020"/>
            </a:solidFill>
            <a:prstDash val="solid"/>
          </a:ln>
        </p:spPr>
        <p:txBody>
          <a:bodyPr/>
          <a:lstStyle/>
          <a:p>
            <a:endParaRPr lang="en-GB"/>
          </a:p>
        </p:txBody>
      </p:sp>
      <p:sp>
        <p:nvSpPr>
          <p:cNvPr id="6" name="text_238"/>
          <p:cNvSpPr txBox="1"/>
          <p:nvPr/>
        </p:nvSpPr>
        <p:spPr>
          <a:xfrm>
            <a:off x="9162288" y="1371600"/>
            <a:ext cx="292608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New in Iteration 4</a:t>
            </a:r>
            <a:endParaRPr lang="en-US" sz="1800" dirty="0"/>
          </a:p>
        </p:txBody>
      </p:sp>
      <p:sp>
        <p:nvSpPr>
          <p:cNvPr id="7" name="shape_239"/>
          <p:cNvSpPr/>
          <p:nvPr/>
        </p:nvSpPr>
        <p:spPr>
          <a:xfrm>
            <a:off x="8778240" y="2148840"/>
            <a:ext cx="2971800" cy="1828800"/>
          </a:xfrm>
          <a:prstGeom prst="roundRect">
            <a:avLst>
              <a:gd name="adj" fmla="val 4000"/>
            </a:avLst>
          </a:prstGeom>
          <a:solidFill>
            <a:srgbClr val="F2F6F8"/>
          </a:solidFill>
          <a:ln w="12700">
            <a:solidFill>
              <a:srgbClr val="F2F6F8"/>
            </a:solidFill>
            <a:prstDash val="solid"/>
          </a:ln>
        </p:spPr>
        <p:txBody>
          <a:bodyPr/>
          <a:lstStyle/>
          <a:p>
            <a:endParaRPr lang="en-GB"/>
          </a:p>
        </p:txBody>
      </p:sp>
      <p:sp>
        <p:nvSpPr>
          <p:cNvPr id="8" name="text_240"/>
          <p:cNvSpPr txBox="1"/>
          <p:nvPr/>
        </p:nvSpPr>
        <p:spPr>
          <a:xfrm>
            <a:off x="8961120" y="2194560"/>
            <a:ext cx="2651760" cy="1737360"/>
          </a:xfrm>
          <a:prstGeom prst="rect">
            <a:avLst/>
          </a:prstGeom>
          <a:noFill/>
          <a:ln/>
        </p:spPr>
        <p:txBody>
          <a:bodyPr wrap="square" lIns="0" tIns="0" rIns="0" bIns="0" rtlCol="0" anchor="ctr"/>
          <a:lstStyle/>
          <a:p>
            <a:pPr marL="0" indent="0">
              <a:buNone/>
            </a:pPr>
            <a:r>
              <a:rPr lang="en-US" sz="5400" b="1" dirty="0">
                <a:solidFill>
                  <a:srgbClr val="0D1B2A"/>
                </a:solidFill>
                <a:latin typeface="Calibri" pitchFamily="34" charset="0"/>
                <a:ea typeface="Calibri" pitchFamily="34" charset="-122"/>
                <a:cs typeface="Calibri" pitchFamily="34" charset="-120"/>
              </a:rPr>
              <a:t>23</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layering contracts in CI, 0 broken</a:t>
            </a:r>
            <a:endParaRPr lang="en-US" sz="1800" dirty="0"/>
          </a:p>
        </p:txBody>
      </p:sp>
      <p:sp>
        <p:nvSpPr>
          <p:cNvPr id="9" name="shape_241"/>
          <p:cNvSpPr/>
          <p:nvPr/>
        </p:nvSpPr>
        <p:spPr>
          <a:xfrm>
            <a:off x="8778240" y="4160520"/>
            <a:ext cx="2971800" cy="1463040"/>
          </a:xfrm>
          <a:prstGeom prst="roundRect">
            <a:avLst>
              <a:gd name="adj" fmla="val 5000"/>
            </a:avLst>
          </a:prstGeom>
          <a:solidFill>
            <a:srgbClr val="F2F6F8"/>
          </a:solidFill>
          <a:ln w="12700">
            <a:solidFill>
              <a:srgbClr val="F2F6F8"/>
            </a:solidFill>
            <a:prstDash val="solid"/>
          </a:ln>
        </p:spPr>
        <p:txBody>
          <a:bodyPr/>
          <a:lstStyle/>
          <a:p>
            <a:endParaRPr lang="en-GB"/>
          </a:p>
        </p:txBody>
      </p:sp>
      <p:sp>
        <p:nvSpPr>
          <p:cNvPr id="10" name="text_242"/>
          <p:cNvSpPr txBox="1"/>
          <p:nvPr/>
        </p:nvSpPr>
        <p:spPr>
          <a:xfrm>
            <a:off x="8961120" y="4206240"/>
            <a:ext cx="2651760" cy="1371600"/>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1,962-line phase service now split into packages</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10</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Class diagram: Iteration 4 additions</a:t>
            </a:r>
            <a:endParaRPr lang="en-US" sz="3200" dirty="0"/>
          </a:p>
        </p:txBody>
      </p:sp>
      <p:sp>
        <p:nvSpPr>
          <p:cNvPr id="3" name="kicker_243"/>
          <p:cNvSpPr txBox="1"/>
          <p:nvPr/>
        </p:nvSpPr>
        <p:spPr>
          <a:xfrm>
            <a:off x="10213848" y="475488"/>
            <a:ext cx="151790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SE · UML</a:t>
            </a:r>
            <a:endParaRPr lang="en-US" sz="1600" dirty="0"/>
          </a:p>
        </p:txBody>
      </p:sp>
      <p:pic>
        <p:nvPicPr>
          <p:cNvPr id="4" name="img_fig2b.png_244" descr="/tmp/claude-0/-home-claude/31143541-0ec7-5398-affd-e5fcdd8964de/scratchpad/build/img/fig2b.png"/>
          <p:cNvPicPr>
            <a:picLocks noChangeAspect="1"/>
          </p:cNvPicPr>
          <p:nvPr/>
        </p:nvPicPr>
        <p:blipFill>
          <a:blip r:embed="rId3"/>
          <a:stretch>
            <a:fillRect/>
          </a:stretch>
        </p:blipFill>
        <p:spPr>
          <a:xfrm>
            <a:off x="457200" y="1188720"/>
            <a:ext cx="11274552" cy="5101496"/>
          </a:xfrm>
          <a:prstGeom prst="rect">
            <a:avLst/>
          </a:prstGeom>
        </p:spPr>
      </p:pic>
      <p:sp>
        <p:nvSpPr>
          <p:cNvPr id="5" name="shape_245"/>
          <p:cNvSpPr/>
          <p:nvPr/>
        </p:nvSpPr>
        <p:spPr>
          <a:xfrm>
            <a:off x="548640" y="1335024"/>
            <a:ext cx="274320" cy="237744"/>
          </a:xfrm>
          <a:prstGeom prst="rect">
            <a:avLst/>
          </a:prstGeom>
          <a:solidFill>
            <a:srgbClr val="FCE6BE"/>
          </a:solidFill>
          <a:ln w="19050">
            <a:solidFill>
              <a:srgbClr val="E8A020"/>
            </a:solidFill>
            <a:prstDash val="solid"/>
          </a:ln>
        </p:spPr>
        <p:txBody>
          <a:bodyPr/>
          <a:lstStyle/>
          <a:p>
            <a:endParaRPr lang="en-GB"/>
          </a:p>
        </p:txBody>
      </p:sp>
      <p:sp>
        <p:nvSpPr>
          <p:cNvPr id="6" name="text_246"/>
          <p:cNvSpPr txBox="1"/>
          <p:nvPr/>
        </p:nvSpPr>
        <p:spPr>
          <a:xfrm>
            <a:off x="914400" y="1261872"/>
            <a:ext cx="96012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New</a:t>
            </a:r>
            <a:endParaRPr lang="en-US" sz="1800" dirty="0"/>
          </a:p>
        </p:txBody>
      </p:sp>
      <p:sp>
        <p:nvSpPr>
          <p:cNvPr id="7" name="shape_247"/>
          <p:cNvSpPr/>
          <p:nvPr/>
        </p:nvSpPr>
        <p:spPr>
          <a:xfrm>
            <a:off x="1874520" y="1335024"/>
            <a:ext cx="274320" cy="237744"/>
          </a:xfrm>
          <a:prstGeom prst="rect">
            <a:avLst/>
          </a:prstGeom>
          <a:solidFill>
            <a:srgbClr val="DAE8F5"/>
          </a:solidFill>
          <a:ln w="19050">
            <a:solidFill>
              <a:srgbClr val="4472C4"/>
            </a:solidFill>
            <a:prstDash val="solid"/>
          </a:ln>
        </p:spPr>
        <p:txBody>
          <a:bodyPr/>
          <a:lstStyle/>
          <a:p>
            <a:endParaRPr lang="en-GB"/>
          </a:p>
        </p:txBody>
      </p:sp>
      <p:sp>
        <p:nvSpPr>
          <p:cNvPr id="8" name="text_248"/>
          <p:cNvSpPr txBox="1"/>
          <p:nvPr/>
        </p:nvSpPr>
        <p:spPr>
          <a:xfrm>
            <a:off x="2240280" y="1261872"/>
            <a:ext cx="96012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Changed</a:t>
            </a:r>
            <a:endParaRPr lang="en-US" sz="1800" dirty="0"/>
          </a:p>
        </p:txBody>
      </p:sp>
      <p:sp>
        <p:nvSpPr>
          <p:cNvPr id="9" name="shape_249"/>
          <p:cNvSpPr/>
          <p:nvPr/>
        </p:nvSpPr>
        <p:spPr>
          <a:xfrm>
            <a:off x="3200400" y="1335024"/>
            <a:ext cx="274320" cy="237744"/>
          </a:xfrm>
          <a:prstGeom prst="rect">
            <a:avLst/>
          </a:prstGeom>
          <a:solidFill>
            <a:srgbClr val="F2F2F2"/>
          </a:solidFill>
          <a:ln w="19050">
            <a:solidFill>
              <a:srgbClr val="7F7F7F"/>
            </a:solidFill>
            <a:prstDash val="solid"/>
          </a:ln>
        </p:spPr>
        <p:txBody>
          <a:bodyPr/>
          <a:lstStyle/>
          <a:p>
            <a:endParaRPr lang="en-GB"/>
          </a:p>
        </p:txBody>
      </p:sp>
      <p:sp>
        <p:nvSpPr>
          <p:cNvPr id="10" name="text_250"/>
          <p:cNvSpPr txBox="1"/>
          <p:nvPr/>
        </p:nvSpPr>
        <p:spPr>
          <a:xfrm>
            <a:off x="3566160" y="1261872"/>
            <a:ext cx="96012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Earlier</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11</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State machine and use cases</a:t>
            </a:r>
            <a:endParaRPr lang="en-US" sz="3200" dirty="0"/>
          </a:p>
        </p:txBody>
      </p:sp>
      <p:sp>
        <p:nvSpPr>
          <p:cNvPr id="3" name="kicker_251"/>
          <p:cNvSpPr txBox="1"/>
          <p:nvPr/>
        </p:nvSpPr>
        <p:spPr>
          <a:xfrm>
            <a:off x="10213848" y="475488"/>
            <a:ext cx="1517904"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SE · UML</a:t>
            </a:r>
            <a:endParaRPr lang="en-US" sz="1600" dirty="0"/>
          </a:p>
        </p:txBody>
      </p:sp>
      <p:pic>
        <p:nvPicPr>
          <p:cNvPr id="4" name="img_fig5.png_252" descr="/tmp/claude-0/-home-claude/31143541-0ec7-5398-affd-e5fcdd8964de/scratchpad/build/img/fig5.png"/>
          <p:cNvPicPr>
            <a:picLocks noChangeAspect="1"/>
          </p:cNvPicPr>
          <p:nvPr/>
        </p:nvPicPr>
        <p:blipFill>
          <a:blip r:embed="rId3"/>
          <a:stretch>
            <a:fillRect/>
          </a:stretch>
        </p:blipFill>
        <p:spPr>
          <a:xfrm>
            <a:off x="365760" y="1143000"/>
            <a:ext cx="4787182" cy="5212080"/>
          </a:xfrm>
          <a:prstGeom prst="rect">
            <a:avLst/>
          </a:prstGeom>
        </p:spPr>
      </p:pic>
      <p:sp>
        <p:nvSpPr>
          <p:cNvPr id="5" name="shape_253"/>
          <p:cNvSpPr/>
          <p:nvPr/>
        </p:nvSpPr>
        <p:spPr>
          <a:xfrm>
            <a:off x="5989320" y="1298448"/>
            <a:ext cx="237744" cy="237744"/>
          </a:xfrm>
          <a:prstGeom prst="roundRect">
            <a:avLst>
              <a:gd name="adj" fmla="val 15385"/>
            </a:avLst>
          </a:prstGeom>
          <a:solidFill>
            <a:srgbClr val="FCE6BE"/>
          </a:solidFill>
          <a:ln w="31750">
            <a:solidFill>
              <a:srgbClr val="E8A020"/>
            </a:solidFill>
            <a:prstDash val="solid"/>
          </a:ln>
        </p:spPr>
        <p:txBody>
          <a:bodyPr/>
          <a:lstStyle/>
          <a:p>
            <a:endParaRPr lang="en-GB"/>
          </a:p>
        </p:txBody>
      </p:sp>
      <p:sp>
        <p:nvSpPr>
          <p:cNvPr id="6" name="text_254"/>
          <p:cNvSpPr txBox="1"/>
          <p:nvPr/>
        </p:nvSpPr>
        <p:spPr>
          <a:xfrm>
            <a:off x="6355080" y="1216152"/>
            <a:ext cx="5212080" cy="402336"/>
          </a:xfrm>
          <a:prstGeom prst="rect">
            <a:avLst/>
          </a:prstGeom>
          <a:noFill/>
          <a:ln/>
        </p:spPr>
        <p:txBody>
          <a:bodyPr wrap="square" lIns="0" tIns="0" rIns="0" bIns="0" rtlCol="0" anchor="ctr"/>
          <a:lstStyle/>
          <a:p>
            <a:pPr marL="0" indent="0">
              <a:buNone/>
            </a:pPr>
            <a:r>
              <a:rPr lang="en-US" sz="2000" dirty="0">
                <a:solidFill>
                  <a:srgbClr val="0D1B2A"/>
                </a:solidFill>
                <a:latin typeface="Calibri" pitchFamily="34" charset="0"/>
                <a:ea typeface="Calibri" pitchFamily="34" charset="-122"/>
                <a:cs typeface="Calibri" pitchFamily="34" charset="-120"/>
              </a:rPr>
              <a:t>Refused activation stays Created</a:t>
            </a:r>
            <a:endParaRPr lang="en-US" sz="2000" dirty="0"/>
          </a:p>
        </p:txBody>
      </p:sp>
      <p:sp>
        <p:nvSpPr>
          <p:cNvPr id="7" name="shape_255"/>
          <p:cNvSpPr/>
          <p:nvPr/>
        </p:nvSpPr>
        <p:spPr>
          <a:xfrm>
            <a:off x="5989320" y="1755648"/>
            <a:ext cx="237744" cy="237744"/>
          </a:xfrm>
          <a:prstGeom prst="roundRect">
            <a:avLst>
              <a:gd name="adj" fmla="val 15385"/>
            </a:avLst>
          </a:prstGeom>
          <a:solidFill>
            <a:srgbClr val="FCE6BE"/>
          </a:solidFill>
          <a:ln w="31750">
            <a:solidFill>
              <a:srgbClr val="E8A020"/>
            </a:solidFill>
            <a:prstDash val="solid"/>
          </a:ln>
        </p:spPr>
        <p:txBody>
          <a:bodyPr/>
          <a:lstStyle/>
          <a:p>
            <a:endParaRPr lang="en-GB"/>
          </a:p>
        </p:txBody>
      </p:sp>
      <p:sp>
        <p:nvSpPr>
          <p:cNvPr id="8" name="text_256"/>
          <p:cNvSpPr txBox="1"/>
          <p:nvPr/>
        </p:nvSpPr>
        <p:spPr>
          <a:xfrm>
            <a:off x="6355080" y="1673352"/>
            <a:ext cx="5212080" cy="402336"/>
          </a:xfrm>
          <a:prstGeom prst="rect">
            <a:avLst/>
          </a:prstGeom>
          <a:noFill/>
          <a:ln/>
        </p:spPr>
        <p:txBody>
          <a:bodyPr wrap="square" lIns="0" tIns="0" rIns="0" bIns="0" rtlCol="0" anchor="ctr"/>
          <a:lstStyle/>
          <a:p>
            <a:pPr marL="0" indent="0">
              <a:buNone/>
            </a:pPr>
            <a:r>
              <a:rPr lang="en-US" sz="2000" dirty="0">
                <a:solidFill>
                  <a:srgbClr val="0D1B2A"/>
                </a:solidFill>
                <a:latin typeface="Calibri" pitchFamily="34" charset="0"/>
                <a:ea typeface="Calibri" pitchFamily="34" charset="-122"/>
                <a:cs typeface="Calibri" pitchFamily="34" charset="-120"/>
              </a:rPr>
              <a:t>New Arrival state</a:t>
            </a:r>
            <a:endParaRPr lang="en-US" sz="2000" dirty="0"/>
          </a:p>
        </p:txBody>
      </p:sp>
      <p:sp>
        <p:nvSpPr>
          <p:cNvPr id="9" name="shape_257"/>
          <p:cNvSpPr/>
          <p:nvPr/>
        </p:nvSpPr>
        <p:spPr>
          <a:xfrm>
            <a:off x="5989320" y="2212848"/>
            <a:ext cx="237744" cy="237744"/>
          </a:xfrm>
          <a:prstGeom prst="roundRect">
            <a:avLst>
              <a:gd name="adj" fmla="val 15385"/>
            </a:avLst>
          </a:prstGeom>
          <a:solidFill>
            <a:srgbClr val="FCE6BE"/>
          </a:solidFill>
          <a:ln w="31750">
            <a:solidFill>
              <a:srgbClr val="E8A020"/>
            </a:solidFill>
            <a:prstDash val="solid"/>
          </a:ln>
        </p:spPr>
        <p:txBody>
          <a:bodyPr/>
          <a:lstStyle/>
          <a:p>
            <a:endParaRPr lang="en-GB"/>
          </a:p>
        </p:txBody>
      </p:sp>
      <p:sp>
        <p:nvSpPr>
          <p:cNvPr id="10" name="text_258"/>
          <p:cNvSpPr txBox="1"/>
          <p:nvPr/>
        </p:nvSpPr>
        <p:spPr>
          <a:xfrm>
            <a:off x="6355080" y="2130552"/>
            <a:ext cx="5212080" cy="402336"/>
          </a:xfrm>
          <a:prstGeom prst="rect">
            <a:avLst/>
          </a:prstGeom>
          <a:noFill/>
          <a:ln/>
        </p:spPr>
        <p:txBody>
          <a:bodyPr wrap="square" lIns="0" tIns="0" rIns="0" bIns="0" rtlCol="0" anchor="ctr"/>
          <a:lstStyle/>
          <a:p>
            <a:pPr marL="0" indent="0">
              <a:buNone/>
            </a:pPr>
            <a:r>
              <a:rPr lang="en-US" sz="2000" dirty="0">
                <a:solidFill>
                  <a:srgbClr val="0D1B2A"/>
                </a:solidFill>
                <a:latin typeface="Calibri" pitchFamily="34" charset="0"/>
                <a:ea typeface="Calibri" pitchFamily="34" charset="-122"/>
                <a:cs typeface="Calibri" pitchFamily="34" charset="-120"/>
              </a:rPr>
              <a:t>Both branches drawn</a:t>
            </a:r>
            <a:endParaRPr lang="en-US" sz="2000" dirty="0"/>
          </a:p>
        </p:txBody>
      </p:sp>
      <p:sp>
        <p:nvSpPr>
          <p:cNvPr id="11" name="text_259"/>
          <p:cNvSpPr txBox="1"/>
          <p:nvPr/>
        </p:nvSpPr>
        <p:spPr>
          <a:xfrm>
            <a:off x="5989320" y="2743200"/>
            <a:ext cx="5486400" cy="411480"/>
          </a:xfrm>
          <a:prstGeom prst="rect">
            <a:avLst/>
          </a:prstGeom>
          <a:noFill/>
          <a:ln/>
        </p:spPr>
        <p:txBody>
          <a:bodyPr wrap="square" lIns="0" tIns="0" rIns="0" bIns="0" rtlCol="0" anchor="ctr"/>
          <a:lstStyle/>
          <a:p>
            <a:pPr marL="0" indent="0">
              <a:buNone/>
            </a:pPr>
            <a:r>
              <a:rPr lang="en-US" sz="2200" b="1" dirty="0">
                <a:solidFill>
                  <a:srgbClr val="0D1B2A"/>
                </a:solidFill>
                <a:latin typeface="Calibri" pitchFamily="34" charset="0"/>
                <a:ea typeface="Calibri" pitchFamily="34" charset="-122"/>
                <a:cs typeface="Calibri" pitchFamily="34" charset="-120"/>
              </a:rPr>
              <a:t>New use cases</a:t>
            </a:r>
            <a:endParaRPr lang="en-US" sz="2200" dirty="0"/>
          </a:p>
        </p:txBody>
      </p:sp>
      <p:sp>
        <p:nvSpPr>
          <p:cNvPr id="12" name="usecase_260"/>
          <p:cNvSpPr txBox="1"/>
          <p:nvPr/>
        </p:nvSpPr>
        <p:spPr>
          <a:xfrm>
            <a:off x="5989320" y="3246120"/>
            <a:ext cx="2697480" cy="841248"/>
          </a:xfrm>
          <a:prstGeom prst="ellipse">
            <a:avLst/>
          </a:prstGeom>
          <a:solidFill>
            <a:srgbClr val="FCE6BE"/>
          </a:solidFill>
          <a:ln w="25400">
            <a:solidFill>
              <a:srgbClr val="E8A020"/>
            </a:solidFill>
          </a:ln>
        </p:spPr>
        <p:txBody>
          <a:bodyPr wrap="square" lIns="0" tIns="0" rIns="0" bIns="0" rtlCol="0" anchor="ctr"/>
          <a:lstStyle/>
          <a:p>
            <a:pPr marL="0" indent="0" algn="ctr">
              <a:buNone/>
            </a:pPr>
            <a:r>
              <a:rPr lang="en-US" sz="1800" b="1" dirty="0">
                <a:solidFill>
                  <a:srgbClr val="1B7C8A"/>
                </a:solidFill>
                <a:latin typeface="Calibri" pitchFamily="34" charset="0"/>
                <a:ea typeface="Calibri" pitchFamily="34" charset="-122"/>
                <a:cs typeface="Calibri" pitchFamily="34" charset="-120"/>
              </a:rPr>
              <a:t>TLM 1.12</a:t>
            </a:r>
            <a:endParaRPr lang="en-US" sz="1800" dirty="0"/>
          </a:p>
          <a:p>
            <a:pPr marL="0" indent="0" algn="ctr">
              <a:buNone/>
            </a:pPr>
            <a:r>
              <a:rPr lang="en-US" sz="1800" dirty="0">
                <a:solidFill>
                  <a:srgbClr val="0D1B2A"/>
                </a:solidFill>
                <a:latin typeface="Calibri" pitchFamily="34" charset="0"/>
                <a:ea typeface="Calibri" pitchFamily="34" charset="-122"/>
                <a:cs typeface="Calibri" pitchFamily="34" charset="-120"/>
              </a:rPr>
              <a:t>Issue audit pack</a:t>
            </a:r>
            <a:endParaRPr lang="en-US" sz="1800" dirty="0"/>
          </a:p>
        </p:txBody>
      </p:sp>
      <p:sp>
        <p:nvSpPr>
          <p:cNvPr id="13" name="usecase_261"/>
          <p:cNvSpPr txBox="1"/>
          <p:nvPr/>
        </p:nvSpPr>
        <p:spPr>
          <a:xfrm>
            <a:off x="8823960" y="3246120"/>
            <a:ext cx="2697480" cy="841248"/>
          </a:xfrm>
          <a:prstGeom prst="ellipse">
            <a:avLst/>
          </a:prstGeom>
          <a:solidFill>
            <a:srgbClr val="FCE6BE"/>
          </a:solidFill>
          <a:ln w="25400">
            <a:solidFill>
              <a:srgbClr val="E8A020"/>
            </a:solidFill>
          </a:ln>
        </p:spPr>
        <p:txBody>
          <a:bodyPr wrap="square" lIns="0" tIns="0" rIns="0" bIns="0" rtlCol="0" anchor="ctr"/>
          <a:lstStyle/>
          <a:p>
            <a:pPr marL="0" indent="0" algn="ctr">
              <a:buNone/>
            </a:pPr>
            <a:r>
              <a:rPr lang="en-US" sz="1800" b="1" dirty="0">
                <a:solidFill>
                  <a:srgbClr val="1B7C8A"/>
                </a:solidFill>
                <a:latin typeface="Calibri" pitchFamily="34" charset="0"/>
                <a:ea typeface="Calibri" pitchFamily="34" charset="-122"/>
                <a:cs typeface="Calibri" pitchFamily="34" charset="-120"/>
              </a:rPr>
              <a:t>TLM 1.13</a:t>
            </a:r>
            <a:endParaRPr lang="en-US" sz="1800" dirty="0"/>
          </a:p>
          <a:p>
            <a:pPr marL="0" indent="0" algn="ctr">
              <a:buNone/>
            </a:pPr>
            <a:r>
              <a:rPr lang="en-US" sz="1800" dirty="0">
                <a:solidFill>
                  <a:srgbClr val="0D1B2A"/>
                </a:solidFill>
                <a:latin typeface="Calibri" pitchFamily="34" charset="0"/>
                <a:ea typeface="Calibri" pitchFamily="34" charset="-122"/>
                <a:cs typeface="Calibri" pitchFamily="34" charset="-120"/>
              </a:rPr>
              <a:t>Trace parcel</a:t>
            </a:r>
            <a:endParaRPr lang="en-US" sz="1800" dirty="0"/>
          </a:p>
        </p:txBody>
      </p:sp>
      <p:sp>
        <p:nvSpPr>
          <p:cNvPr id="14" name="usecase_262"/>
          <p:cNvSpPr txBox="1"/>
          <p:nvPr/>
        </p:nvSpPr>
        <p:spPr>
          <a:xfrm>
            <a:off x="5989320" y="4206240"/>
            <a:ext cx="2697480" cy="841248"/>
          </a:xfrm>
          <a:prstGeom prst="ellipse">
            <a:avLst/>
          </a:prstGeom>
          <a:solidFill>
            <a:srgbClr val="FCE6BE"/>
          </a:solidFill>
          <a:ln w="25400">
            <a:solidFill>
              <a:srgbClr val="E8A020"/>
            </a:solidFill>
          </a:ln>
        </p:spPr>
        <p:txBody>
          <a:bodyPr wrap="square" lIns="0" tIns="0" rIns="0" bIns="0" rtlCol="0" anchor="ctr"/>
          <a:lstStyle/>
          <a:p>
            <a:pPr marL="0" indent="0" algn="ctr">
              <a:buNone/>
            </a:pPr>
            <a:r>
              <a:rPr lang="en-US" sz="1800" b="1" dirty="0">
                <a:solidFill>
                  <a:srgbClr val="1B7C8A"/>
                </a:solidFill>
                <a:latin typeface="Calibri" pitchFamily="34" charset="0"/>
                <a:ea typeface="Calibri" pitchFamily="34" charset="-122"/>
                <a:cs typeface="Calibri" pitchFamily="34" charset="-120"/>
              </a:rPr>
              <a:t>TLM 1.14</a:t>
            </a:r>
            <a:endParaRPr lang="en-US" sz="1800" dirty="0"/>
          </a:p>
          <a:p>
            <a:pPr marL="0" indent="0" algn="ctr">
              <a:buNone/>
            </a:pPr>
            <a:r>
              <a:rPr lang="en-US" sz="1800" dirty="0">
                <a:solidFill>
                  <a:srgbClr val="0D1B2A"/>
                </a:solidFill>
                <a:latin typeface="Calibri" pitchFamily="34" charset="0"/>
                <a:ea typeface="Calibri" pitchFamily="34" charset="-122"/>
                <a:cs typeface="Calibri" pitchFamily="34" charset="-120"/>
              </a:rPr>
              <a:t>Substitute driver</a:t>
            </a:r>
            <a:endParaRPr lang="en-US" sz="1800" dirty="0"/>
          </a:p>
        </p:txBody>
      </p:sp>
      <p:sp>
        <p:nvSpPr>
          <p:cNvPr id="15" name="usecase_263"/>
          <p:cNvSpPr txBox="1"/>
          <p:nvPr/>
        </p:nvSpPr>
        <p:spPr>
          <a:xfrm>
            <a:off x="8823960" y="4206240"/>
            <a:ext cx="2697480" cy="841248"/>
          </a:xfrm>
          <a:prstGeom prst="ellipse">
            <a:avLst/>
          </a:prstGeom>
          <a:solidFill>
            <a:srgbClr val="FCE6BE"/>
          </a:solidFill>
          <a:ln w="25400">
            <a:solidFill>
              <a:srgbClr val="E8A020"/>
            </a:solidFill>
          </a:ln>
        </p:spPr>
        <p:txBody>
          <a:bodyPr wrap="square" lIns="0" tIns="0" rIns="0" bIns="0" rtlCol="0" anchor="ctr"/>
          <a:lstStyle/>
          <a:p>
            <a:pPr marL="0" indent="0" algn="ctr">
              <a:buNone/>
            </a:pPr>
            <a:r>
              <a:rPr lang="en-US" sz="1800" b="1" dirty="0">
                <a:solidFill>
                  <a:srgbClr val="1B7C8A"/>
                </a:solidFill>
                <a:latin typeface="Calibri" pitchFamily="34" charset="0"/>
                <a:ea typeface="Calibri" pitchFamily="34" charset="-122"/>
                <a:cs typeface="Calibri" pitchFamily="34" charset="-120"/>
              </a:rPr>
              <a:t>CC 1.11</a:t>
            </a:r>
            <a:endParaRPr lang="en-US" sz="1800" dirty="0"/>
          </a:p>
          <a:p>
            <a:pPr marL="0" indent="0" algn="ctr">
              <a:buNone/>
            </a:pPr>
            <a:r>
              <a:rPr lang="en-US" sz="1800" dirty="0">
                <a:solidFill>
                  <a:srgbClr val="0D1B2A"/>
                </a:solidFill>
                <a:latin typeface="Calibri" pitchFamily="34" charset="0"/>
                <a:ea typeface="Calibri" pitchFamily="34" charset="-122"/>
                <a:cs typeface="Calibri" pitchFamily="34" charset="-120"/>
              </a:rPr>
              <a:t>Record arrival</a:t>
            </a:r>
            <a:endParaRPr lang="en-US" sz="1800" dirty="0"/>
          </a:p>
        </p:txBody>
      </p:sp>
      <p:sp>
        <p:nvSpPr>
          <p:cNvPr id="16" name="shape_264"/>
          <p:cNvSpPr/>
          <p:nvPr/>
        </p:nvSpPr>
        <p:spPr>
          <a:xfrm>
            <a:off x="5989320" y="5669280"/>
            <a:ext cx="5532120" cy="640080"/>
          </a:xfrm>
          <a:prstGeom prst="roundRect">
            <a:avLst>
              <a:gd name="adj" fmla="val 9412"/>
            </a:avLst>
          </a:prstGeom>
          <a:solidFill>
            <a:srgbClr val="F2F6F8"/>
          </a:solidFill>
          <a:ln w="25400">
            <a:solidFill>
              <a:srgbClr val="E8A020"/>
            </a:solidFill>
            <a:prstDash val="solid"/>
          </a:ln>
        </p:spPr>
        <p:txBody>
          <a:bodyPr/>
          <a:lstStyle/>
          <a:p>
            <a:endParaRPr lang="en-GB"/>
          </a:p>
        </p:txBody>
      </p:sp>
      <p:pic>
        <p:nvPicPr>
          <p:cNvPr id="17" name="actor_icon" descr="preencoded.png"/>
          <p:cNvPicPr>
            <a:picLocks noChangeAspect="1"/>
          </p:cNvPicPr>
          <p:nvPr/>
        </p:nvPicPr>
        <p:blipFill>
          <a:blip r:embed="rId4"/>
          <a:stretch>
            <a:fillRect/>
          </a:stretch>
        </p:blipFill>
        <p:spPr>
          <a:xfrm>
            <a:off x="6172200" y="5788152"/>
            <a:ext cx="502920" cy="502920"/>
          </a:xfrm>
          <a:prstGeom prst="rect">
            <a:avLst/>
          </a:prstGeom>
        </p:spPr>
      </p:pic>
      <p:sp>
        <p:nvSpPr>
          <p:cNvPr id="18" name="text_265"/>
          <p:cNvSpPr txBox="1"/>
          <p:nvPr/>
        </p:nvSpPr>
        <p:spPr>
          <a:xfrm>
            <a:off x="6858000" y="5669280"/>
            <a:ext cx="4572000" cy="640080"/>
          </a:xfrm>
          <a:prstGeom prst="rect">
            <a:avLst/>
          </a:prstGeom>
          <a:noFill/>
          <a:ln/>
        </p:spPr>
        <p:txBody>
          <a:bodyPr wrap="square" lIns="0" tIns="0" rIns="0" bIns="0" rtlCol="0" anchor="ctr"/>
          <a:lstStyle/>
          <a:p>
            <a:pPr marL="0" indent="0">
              <a:buNone/>
            </a:pPr>
            <a:r>
              <a:rPr lang="en-US" sz="2000" dirty="0">
                <a:solidFill>
                  <a:srgbClr val="0D1B2A"/>
                </a:solidFill>
                <a:latin typeface="Calibri" pitchFamily="34" charset="0"/>
                <a:ea typeface="Calibri" pitchFamily="34" charset="-122"/>
                <a:cs typeface="Calibri" pitchFamily="34" charset="-120"/>
              </a:rPr>
              <a:t>New actor: audit-pack recipient</a:t>
            </a:r>
            <a:endParaRPr lang="en-US" sz="20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12</a:t>
            </a:fld>
            <a:endParaRPr lang="en-US"/>
          </a:p>
        </p:txBody>
      </p:sp>
      <p:sp>
        <p:nvSpPr>
          <p:cNvPr id="26" name="TextBox 25"/>
          <p:cNvSpPr txBox="1"/>
          <p:nvPr/>
        </p:nvSpPr>
        <p:spPr>
          <a:xfrm>
            <a:off x="5989320" y="5120640"/>
            <a:ext cx="5532120" cy="457200"/>
          </a:xfrm>
          <a:prstGeom prst="rect">
            <a:avLst/>
          </a:prstGeom>
          <a:noFill/>
        </p:spPr>
        <p:txBody>
          <a:bodyPr wrap="square" lIns="0" rIns="0" tIns="0" bIns="0" anchor="ctr">
            <a:spAutoFit/>
          </a:bodyPr>
          <a:lstStyle/>
          <a:p>
            <a:pPr algn="l">
              <a:spcAft>
                <a:spcPts val="0"/>
              </a:spcAft>
            </a:pPr>
            <a:r>
              <a:rPr sz="1400" b="1">
                <a:solidFill>
                  <a:srgbClr val="0D1B2A"/>
                </a:solidFill>
                <a:latin typeface="Calibri"/>
              </a:rPr>
              <a:t>Changed  </a:t>
            </a:r>
            <a:r>
              <a:rPr sz="1400" b="0">
                <a:solidFill>
                  <a:srgbClr val="4A6274"/>
                </a:solidFill>
                <a:latin typeface="Calibri"/>
              </a:rPr>
              <a:t>TLM 1.2, 1.3, 1.7, 1.9, 1.10, 1.11 · CC 1.4, 1.6–1.10</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How we build</a:t>
            </a:r>
            <a:endParaRPr lang="en-US" sz="3200" dirty="0"/>
          </a:p>
        </p:txBody>
      </p:sp>
      <p:sp>
        <p:nvSpPr>
          <p:cNvPr id="3" name="kicker_266"/>
          <p:cNvSpPr txBox="1"/>
          <p:nvPr/>
        </p:nvSpPr>
        <p:spPr>
          <a:xfrm>
            <a:off x="9418320" y="475488"/>
            <a:ext cx="2313432"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SE · STANDARDS</a:t>
            </a:r>
            <a:endParaRPr lang="en-US" sz="1600" dirty="0"/>
          </a:p>
        </p:txBody>
      </p:sp>
      <p:sp>
        <p:nvSpPr>
          <p:cNvPr id="27"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13</a:t>
            </a:fld>
            <a:endParaRPr lang="en-US"/>
          </a:p>
        </p:txBody>
      </p:sp>
      <p:sp>
        <p:nvSpPr>
          <p:cNvPr id="28" name="Rounded Rectangle 27"/>
          <p:cNvSpPr/>
          <p:nvPr/>
        </p:nvSpPr>
        <p:spPr>
          <a:xfrm>
            <a:off x="457200" y="1234440"/>
            <a:ext cx="4206240" cy="484632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731520" y="1417320"/>
            <a:ext cx="3749039" cy="4572000"/>
          </a:xfrm>
          <a:prstGeom prst="rect">
            <a:avLst/>
          </a:prstGeom>
          <a:noFill/>
        </p:spPr>
        <p:txBody>
          <a:bodyPr wrap="square" lIns="0" rIns="0" tIns="0" bIns="0" anchor="t">
            <a:spAutoFit/>
          </a:bodyPr>
          <a:lstStyle/>
          <a:p>
            <a:pPr algn="l">
              <a:spcAft>
                <a:spcPts val="1200"/>
              </a:spcAft>
            </a:pPr>
            <a:r>
              <a:rPr sz="2000" b="1">
                <a:solidFill>
                  <a:srgbClr val="1B7C8A"/>
                </a:solidFill>
                <a:latin typeface="Calibri"/>
              </a:rPr>
              <a:t>Scrum</a:t>
            </a:r>
          </a:p>
          <a:p>
            <a:pPr algn="l">
              <a:spcAft>
                <a:spcPts val="1000"/>
              </a:spcAft>
            </a:pPr>
            <a:r>
              <a:rPr sz="1700" b="0">
                <a:solidFill>
                  <a:srgbClr val="0D1B2A"/>
                </a:solidFill>
                <a:latin typeface="Calibri"/>
              </a:rPr>
              <a:t>Two-week sprints, nine in total</a:t>
            </a:r>
          </a:p>
          <a:p>
            <a:pPr algn="l">
              <a:spcAft>
                <a:spcPts val="1000"/>
              </a:spcAft>
            </a:pPr>
            <a:r>
              <a:rPr sz="1700" b="0">
                <a:solidFill>
                  <a:srgbClr val="0D1B2A"/>
                </a:solidFill>
                <a:latin typeface="Calibri"/>
              </a:rPr>
              <a:t>Jira board, Fibonacci estimates</a:t>
            </a:r>
          </a:p>
          <a:p>
            <a:pPr algn="l">
              <a:spcAft>
                <a:spcPts val="400"/>
              </a:spcAft>
            </a:pPr>
            <a:r>
              <a:rPr sz="1700" b="0">
                <a:solidFill>
                  <a:srgbClr val="4A6274"/>
                </a:solidFill>
                <a:latin typeface="Calibri"/>
              </a:rPr>
              <a:t>Product owner </a:t>
            </a:r>
            <a:r>
              <a:rPr sz="1700" b="1">
                <a:solidFill>
                  <a:srgbClr val="0D1B2A"/>
                </a:solidFill>
                <a:latin typeface="Calibri"/>
              </a:rPr>
              <a:t>Ciaran</a:t>
            </a:r>
          </a:p>
          <a:p>
            <a:pPr algn="l">
              <a:spcAft>
                <a:spcPts val="1000"/>
              </a:spcAft>
            </a:pPr>
            <a:r>
              <a:rPr sz="1700" b="0">
                <a:solidFill>
                  <a:srgbClr val="4A6274"/>
                </a:solidFill>
                <a:latin typeface="Calibri"/>
              </a:rPr>
              <a:t>Scrum master </a:t>
            </a:r>
            <a:r>
              <a:rPr sz="1700" b="1">
                <a:solidFill>
                  <a:srgbClr val="0D1B2A"/>
                </a:solidFill>
                <a:latin typeface="Calibri"/>
              </a:rPr>
              <a:t>Tim</a:t>
            </a:r>
          </a:p>
          <a:p>
            <a:pPr algn="l">
              <a:spcAft>
                <a:spcPts val="1000"/>
              </a:spcAft>
            </a:pPr>
            <a:r>
              <a:rPr sz="1700" b="0">
                <a:solidFill>
                  <a:srgbClr val="0D1B2A"/>
                </a:solidFill>
                <a:latin typeface="Calibri"/>
              </a:rPr>
              <a:t>Weekly review every Wednesday</a:t>
            </a:r>
          </a:p>
          <a:p>
            <a:pPr algn="l">
              <a:spcAft>
                <a:spcPts val="0"/>
              </a:spcAft>
            </a:pPr>
            <a:r>
              <a:rPr sz="1700" b="0">
                <a:solidFill>
                  <a:srgbClr val="0D1B2A"/>
                </a:solidFill>
                <a:latin typeface="Calibri"/>
              </a:rPr>
              <a:t>Carried work reported apart from new work</a:t>
            </a:r>
          </a:p>
        </p:txBody>
      </p:sp>
      <p:sp>
        <p:nvSpPr>
          <p:cNvPr id="30" name="TextBox 29"/>
          <p:cNvSpPr txBox="1"/>
          <p:nvPr/>
        </p:nvSpPr>
        <p:spPr>
          <a:xfrm>
            <a:off x="4937760" y="1234440"/>
            <a:ext cx="6766560" cy="365760"/>
          </a:xfrm>
          <a:prstGeom prst="rect">
            <a:avLst/>
          </a:prstGeom>
          <a:noFill/>
        </p:spPr>
        <p:txBody>
          <a:bodyPr wrap="square" lIns="0" rIns="0" tIns="0" bIns="0" anchor="t">
            <a:spAutoFit/>
          </a:bodyPr>
          <a:lstStyle/>
          <a:p>
            <a:pPr algn="l">
              <a:spcAft>
                <a:spcPts val="0"/>
              </a:spcAft>
            </a:pPr>
            <a:r>
              <a:rPr sz="2000" b="1">
                <a:solidFill>
                  <a:srgbClr val="1B7C8A"/>
                </a:solidFill>
                <a:latin typeface="Calibri"/>
              </a:rPr>
              <a:t>Every change takes the same path</a:t>
            </a:r>
          </a:p>
        </p:txBody>
      </p:sp>
      <p:sp>
        <p:nvSpPr>
          <p:cNvPr id="31" name="Rounded Rectangle 30"/>
          <p:cNvSpPr/>
          <p:nvPr/>
        </p:nvSpPr>
        <p:spPr>
          <a:xfrm>
            <a:off x="4937760" y="1737360"/>
            <a:ext cx="2130552" cy="1188720"/>
          </a:xfrm>
          <a:prstGeom prst="roundRect">
            <a:avLst>
              <a:gd name="adj" fmla="val 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102352" y="1737360"/>
            <a:ext cx="1801368" cy="1188720"/>
          </a:xfrm>
          <a:prstGeom prst="rect">
            <a:avLst/>
          </a:prstGeom>
          <a:noFill/>
        </p:spPr>
        <p:txBody>
          <a:bodyPr wrap="square" lIns="0" rIns="0" tIns="0" bIns="0" anchor="ctr">
            <a:spAutoFit/>
          </a:bodyPr>
          <a:lstStyle/>
          <a:p>
            <a:pPr algn="l">
              <a:spcAft>
                <a:spcPts val="400"/>
              </a:spcAft>
            </a:pPr>
            <a:r>
              <a:rPr sz="1800" b="1">
                <a:solidFill>
                  <a:srgbClr val="FFFFFF"/>
                </a:solidFill>
                <a:latin typeface="Calibri"/>
              </a:rPr>
              <a:t>Pull request</a:t>
            </a:r>
          </a:p>
          <a:p>
            <a:pPr algn="l">
              <a:spcAft>
                <a:spcPts val="0"/>
              </a:spcAft>
            </a:pPr>
            <a:r>
              <a:rPr sz="1400" b="0">
                <a:solidFill>
                  <a:srgbClr val="FFFFFF"/>
                </a:solidFill>
                <a:latin typeface="Calibri"/>
              </a:rPr>
              <a:t>into a protected branch</a:t>
            </a:r>
          </a:p>
        </p:txBody>
      </p:sp>
      <p:sp>
        <p:nvSpPr>
          <p:cNvPr id="33" name="Rounded Rectangle 32"/>
          <p:cNvSpPr/>
          <p:nvPr/>
        </p:nvSpPr>
        <p:spPr>
          <a:xfrm>
            <a:off x="7269480" y="1737360"/>
            <a:ext cx="2130552" cy="1188720"/>
          </a:xfrm>
          <a:prstGeom prst="roundRect">
            <a:avLst>
              <a:gd name="adj" fmla="val 8000"/>
            </a:avLst>
          </a:prstGeom>
          <a:solidFill>
            <a:srgbClr val="0D1B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434072" y="1737360"/>
            <a:ext cx="1801368" cy="1188720"/>
          </a:xfrm>
          <a:prstGeom prst="rect">
            <a:avLst/>
          </a:prstGeom>
          <a:noFill/>
        </p:spPr>
        <p:txBody>
          <a:bodyPr wrap="square" lIns="0" rIns="0" tIns="0" bIns="0" anchor="ctr">
            <a:spAutoFit/>
          </a:bodyPr>
          <a:lstStyle/>
          <a:p>
            <a:pPr algn="l">
              <a:spcAft>
                <a:spcPts val="400"/>
              </a:spcAft>
            </a:pPr>
            <a:r>
              <a:rPr sz="1800" b="1">
                <a:solidFill>
                  <a:srgbClr val="FFFFFF"/>
                </a:solidFill>
                <a:latin typeface="Calibri"/>
              </a:rPr>
              <a:t>Automated checks</a:t>
            </a:r>
          </a:p>
          <a:p>
            <a:pPr algn="l">
              <a:spcAft>
                <a:spcPts val="0"/>
              </a:spcAft>
            </a:pPr>
            <a:r>
              <a:rPr sz="1400" b="0">
                <a:solidFill>
                  <a:srgbClr val="FFFFFF"/>
                </a:solidFill>
                <a:latin typeface="Calibri"/>
              </a:rPr>
              <a:t>style, types, layering, tests, migrations</a:t>
            </a:r>
          </a:p>
        </p:txBody>
      </p:sp>
      <p:sp>
        <p:nvSpPr>
          <p:cNvPr id="35" name="Rounded Rectangle 34"/>
          <p:cNvSpPr/>
          <p:nvPr/>
        </p:nvSpPr>
        <p:spPr>
          <a:xfrm>
            <a:off x="9601200" y="1737360"/>
            <a:ext cx="2130552" cy="1188720"/>
          </a:xfrm>
          <a:prstGeom prst="roundRect">
            <a:avLst>
              <a:gd name="adj" fmla="val 8000"/>
            </a:avLst>
          </a:prstGeom>
          <a:solidFill>
            <a:srgbClr val="1F6B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765792" y="1737360"/>
            <a:ext cx="1801368" cy="1188720"/>
          </a:xfrm>
          <a:prstGeom prst="rect">
            <a:avLst/>
          </a:prstGeom>
          <a:noFill/>
        </p:spPr>
        <p:txBody>
          <a:bodyPr wrap="square" lIns="0" rIns="0" tIns="0" bIns="0" anchor="ctr">
            <a:spAutoFit/>
          </a:bodyPr>
          <a:lstStyle/>
          <a:p>
            <a:pPr algn="l">
              <a:spcAft>
                <a:spcPts val="400"/>
              </a:spcAft>
            </a:pPr>
            <a:r>
              <a:rPr sz="1800" b="1">
                <a:solidFill>
                  <a:srgbClr val="FFFFFF"/>
                </a:solidFill>
                <a:latin typeface="Calibri"/>
              </a:rPr>
              <a:t>Merge</a:t>
            </a:r>
          </a:p>
          <a:p>
            <a:pPr algn="l">
              <a:spcAft>
                <a:spcPts val="0"/>
              </a:spcAft>
            </a:pPr>
            <a:r>
              <a:rPr sz="1400" b="0">
                <a:solidFill>
                  <a:srgbClr val="FFFFFF"/>
                </a:solidFill>
                <a:latin typeface="Calibri"/>
              </a:rPr>
              <a:t>only when every check passes</a:t>
            </a:r>
          </a:p>
        </p:txBody>
      </p:sp>
      <p:sp>
        <p:nvSpPr>
          <p:cNvPr id="37" name="Rounded Rectangle 36"/>
          <p:cNvSpPr/>
          <p:nvPr/>
        </p:nvSpPr>
        <p:spPr>
          <a:xfrm>
            <a:off x="4937760" y="3108960"/>
            <a:ext cx="3319272" cy="297180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5166360" y="3200400"/>
            <a:ext cx="2926080" cy="365760"/>
          </a:xfrm>
          <a:prstGeom prst="rect">
            <a:avLst/>
          </a:prstGeom>
          <a:noFill/>
        </p:spPr>
        <p:txBody>
          <a:bodyPr wrap="square" lIns="0" rIns="0" tIns="0" bIns="0" anchor="t">
            <a:spAutoFit/>
          </a:bodyPr>
          <a:lstStyle/>
          <a:p>
            <a:pPr algn="l">
              <a:spcAft>
                <a:spcPts val="0"/>
              </a:spcAft>
            </a:pPr>
            <a:r>
              <a:rPr sz="1800" b="1">
                <a:solidFill>
                  <a:srgbClr val="0D1B2A"/>
                </a:solidFill>
                <a:latin typeface="Calibri"/>
              </a:rPr>
              <a:t>Layering rules</a:t>
            </a:r>
          </a:p>
        </p:txBody>
      </p:sp>
      <p:sp>
        <p:nvSpPr>
          <p:cNvPr id="39" name="Rounded Rectangle 38"/>
          <p:cNvSpPr/>
          <p:nvPr/>
        </p:nvSpPr>
        <p:spPr>
          <a:xfrm>
            <a:off x="5166360" y="3639312"/>
            <a:ext cx="2862072" cy="347472"/>
          </a:xfrm>
          <a:prstGeom prst="roundRect">
            <a:avLst>
              <a:gd name="adj" fmla="val 15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166360" y="3639312"/>
            <a:ext cx="2862072" cy="347472"/>
          </a:xfrm>
          <a:prstGeom prst="rect">
            <a:avLst/>
          </a:prstGeom>
          <a:noFill/>
        </p:spPr>
        <p:txBody>
          <a:bodyPr wrap="square" lIns="0" rIns="0" tIns="0" bIns="0" anchor="ctr">
            <a:spAutoFit/>
          </a:bodyPr>
          <a:lstStyle/>
          <a:p>
            <a:pPr algn="ctr">
              <a:spcAft>
                <a:spcPts val="0"/>
              </a:spcAft>
            </a:pPr>
            <a:r>
              <a:rPr sz="1400" b="1">
                <a:solidFill>
                  <a:srgbClr val="0D1B2A"/>
                </a:solidFill>
                <a:latin typeface="Calibri"/>
              </a:rPr>
              <a:t>Endpoints</a:t>
            </a:r>
          </a:p>
        </p:txBody>
      </p:sp>
      <p:sp>
        <p:nvSpPr>
          <p:cNvPr id="41" name="Rounded Rectangle 40"/>
          <p:cNvSpPr/>
          <p:nvPr/>
        </p:nvSpPr>
        <p:spPr>
          <a:xfrm>
            <a:off x="5166360" y="4069080"/>
            <a:ext cx="2862072" cy="347472"/>
          </a:xfrm>
          <a:prstGeom prst="roundRect">
            <a:avLst>
              <a:gd name="adj" fmla="val 15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5166360" y="4069080"/>
            <a:ext cx="2862072" cy="347472"/>
          </a:xfrm>
          <a:prstGeom prst="rect">
            <a:avLst/>
          </a:prstGeom>
          <a:noFill/>
        </p:spPr>
        <p:txBody>
          <a:bodyPr wrap="square" lIns="0" rIns="0" tIns="0" bIns="0" anchor="ctr">
            <a:spAutoFit/>
          </a:bodyPr>
          <a:lstStyle/>
          <a:p>
            <a:pPr algn="ctr">
              <a:spcAft>
                <a:spcPts val="0"/>
              </a:spcAft>
            </a:pPr>
            <a:r>
              <a:rPr sz="1400" b="1">
                <a:solidFill>
                  <a:srgbClr val="0D1B2A"/>
                </a:solidFill>
                <a:latin typeface="Calibri"/>
              </a:rPr>
              <a:t>Orchestration</a:t>
            </a:r>
          </a:p>
        </p:txBody>
      </p:sp>
      <p:sp>
        <p:nvSpPr>
          <p:cNvPr id="43" name="Rounded Rectangle 42"/>
          <p:cNvSpPr/>
          <p:nvPr/>
        </p:nvSpPr>
        <p:spPr>
          <a:xfrm>
            <a:off x="5166360" y="4498848"/>
            <a:ext cx="2862072" cy="347472"/>
          </a:xfrm>
          <a:prstGeom prst="roundRect">
            <a:avLst>
              <a:gd name="adj" fmla="val 15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166360" y="4498848"/>
            <a:ext cx="2862072" cy="347472"/>
          </a:xfrm>
          <a:prstGeom prst="rect">
            <a:avLst/>
          </a:prstGeom>
          <a:noFill/>
        </p:spPr>
        <p:txBody>
          <a:bodyPr wrap="square" lIns="0" rIns="0" tIns="0" bIns="0" anchor="ctr">
            <a:spAutoFit/>
          </a:bodyPr>
          <a:lstStyle/>
          <a:p>
            <a:pPr algn="ctr">
              <a:spcAft>
                <a:spcPts val="0"/>
              </a:spcAft>
            </a:pPr>
            <a:r>
              <a:rPr sz="1400" b="1">
                <a:solidFill>
                  <a:srgbClr val="0D1B2A"/>
                </a:solidFill>
                <a:latin typeface="Calibri"/>
              </a:rPr>
              <a:t>Partners · Hedera · storage</a:t>
            </a:r>
          </a:p>
        </p:txBody>
      </p:sp>
      <p:sp>
        <p:nvSpPr>
          <p:cNvPr id="45" name="Rounded Rectangle 44"/>
          <p:cNvSpPr/>
          <p:nvPr/>
        </p:nvSpPr>
        <p:spPr>
          <a:xfrm>
            <a:off x="5166360" y="4928616"/>
            <a:ext cx="2862072" cy="347472"/>
          </a:xfrm>
          <a:prstGeom prst="roundRect">
            <a:avLst>
              <a:gd name="adj" fmla="val 15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166360" y="4928616"/>
            <a:ext cx="2862072" cy="347472"/>
          </a:xfrm>
          <a:prstGeom prst="rect">
            <a:avLst/>
          </a:prstGeom>
          <a:noFill/>
        </p:spPr>
        <p:txBody>
          <a:bodyPr wrap="square" lIns="0" rIns="0" tIns="0" bIns="0" anchor="ctr">
            <a:spAutoFit/>
          </a:bodyPr>
          <a:lstStyle/>
          <a:p>
            <a:pPr algn="ctr">
              <a:spcAft>
                <a:spcPts val="0"/>
              </a:spcAft>
            </a:pPr>
            <a:r>
              <a:rPr sz="1400" b="1">
                <a:solidFill>
                  <a:srgbClr val="0D1B2A"/>
                </a:solidFill>
                <a:latin typeface="Calibri"/>
              </a:rPr>
              <a:t>Database</a:t>
            </a:r>
          </a:p>
        </p:txBody>
      </p:sp>
      <p:sp>
        <p:nvSpPr>
          <p:cNvPr id="47" name="TextBox 46"/>
          <p:cNvSpPr txBox="1"/>
          <p:nvPr/>
        </p:nvSpPr>
        <p:spPr>
          <a:xfrm>
            <a:off x="5166360" y="5394960"/>
            <a:ext cx="2926080" cy="640080"/>
          </a:xfrm>
          <a:prstGeom prst="rect">
            <a:avLst/>
          </a:prstGeom>
          <a:noFill/>
        </p:spPr>
        <p:txBody>
          <a:bodyPr wrap="square" lIns="0" rIns="0" tIns="0" bIns="0" anchor="t">
            <a:spAutoFit/>
          </a:bodyPr>
          <a:lstStyle/>
          <a:p>
            <a:pPr algn="l">
              <a:spcAft>
                <a:spcPts val="0"/>
              </a:spcAft>
            </a:pPr>
            <a:r>
              <a:rPr sz="1400" b="0">
                <a:solidFill>
                  <a:srgbClr val="4A6274"/>
                </a:solidFill>
                <a:latin typeface="Calibri"/>
              </a:rPr>
              <a:t>Each layer calls only the one below. Checked by import-linter on every change.</a:t>
            </a:r>
          </a:p>
        </p:txBody>
      </p:sp>
      <p:sp>
        <p:nvSpPr>
          <p:cNvPr id="48" name="Rounded Rectangle 47"/>
          <p:cNvSpPr/>
          <p:nvPr/>
        </p:nvSpPr>
        <p:spPr>
          <a:xfrm>
            <a:off x="8412480" y="3108960"/>
            <a:ext cx="3319272" cy="297180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8641080" y="3200400"/>
            <a:ext cx="2926080" cy="2743200"/>
          </a:xfrm>
          <a:prstGeom prst="rect">
            <a:avLst/>
          </a:prstGeom>
          <a:noFill/>
        </p:spPr>
        <p:txBody>
          <a:bodyPr wrap="square" lIns="0" rIns="0" tIns="0" bIns="0" anchor="t">
            <a:spAutoFit/>
          </a:bodyPr>
          <a:lstStyle/>
          <a:p>
            <a:pPr algn="l">
              <a:spcAft>
                <a:spcPts val="1000"/>
              </a:spcAft>
            </a:pPr>
            <a:r>
              <a:rPr sz="1800" b="1">
                <a:solidFill>
                  <a:srgbClr val="0D1B2A"/>
                </a:solidFill>
                <a:latin typeface="Calibri"/>
              </a:rPr>
              <a:t>Database migrations</a:t>
            </a:r>
          </a:p>
          <a:p>
            <a:pPr algn="l">
              <a:spcAft>
                <a:spcPts val="1000"/>
              </a:spcAft>
            </a:pPr>
            <a:r>
              <a:rPr sz="1600" b="0">
                <a:solidFill>
                  <a:srgbClr val="0D1B2A"/>
                </a:solidFill>
                <a:latin typeface="Calibri"/>
              </a:rPr>
              <a:t>Every schema change is an Alembic migration, reviewed like code.</a:t>
            </a:r>
          </a:p>
          <a:p>
            <a:pPr algn="l">
              <a:spcAft>
                <a:spcPts val="0"/>
              </a:spcAft>
            </a:pPr>
            <a:r>
              <a:rPr sz="1600" b="0">
                <a:solidFill>
                  <a:srgbClr val="4A6274"/>
                </a:solidFill>
                <a:latin typeface="Calibri"/>
              </a:rPr>
              <a:t>CI rebuilds the whole database from an empty one on every change, so the history always works.</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Testing and QA</a:t>
            </a:r>
            <a:endParaRPr lang="en-US" sz="3200" dirty="0"/>
          </a:p>
        </p:txBody>
      </p:sp>
      <p:sp>
        <p:nvSpPr>
          <p:cNvPr id="3" name="kicker_290"/>
          <p:cNvSpPr txBox="1"/>
          <p:nvPr/>
        </p:nvSpPr>
        <p:spPr>
          <a:xfrm>
            <a:off x="9683496" y="475488"/>
            <a:ext cx="2048256"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SE · TESTING</a:t>
            </a:r>
            <a:endParaRPr lang="en-US" sz="1600" dirty="0"/>
          </a:p>
        </p:txBody>
      </p:sp>
      <p:pic>
        <p:nvPicPr>
          <p:cNvPr id="11" name="img_tests_19oct.png_298" descr="/tmp/claude-0/-home-claude/31143541-0ec7-5398-affd-e5fcdd8964de/scratchpad/build/img/tests_19oct.png"/>
          <p:cNvPicPr>
            <a:picLocks noChangeAspect="1"/>
          </p:cNvPicPr>
          <p:nvPr/>
        </p:nvPicPr>
        <p:blipFill>
          <a:blip r:embed="rId3"/>
          <a:stretch>
            <a:fillRect/>
          </a:stretch>
        </p:blipFill>
        <p:spPr>
          <a:xfrm>
            <a:off x="6355080" y="2103120"/>
            <a:ext cx="5376672" cy="2072620"/>
          </a:xfrm>
          <a:prstGeom prst="rect">
            <a:avLst/>
          </a:prstGeom>
        </p:spPr>
      </p:pic>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14</a:t>
            </a:fld>
            <a:endParaRPr lang="en-US"/>
          </a:p>
        </p:txBody>
      </p:sp>
      <p:sp>
        <p:nvSpPr>
          <p:cNvPr id="26" name="TextBox 25"/>
          <p:cNvSpPr txBox="1"/>
          <p:nvPr/>
        </p:nvSpPr>
        <p:spPr>
          <a:xfrm>
            <a:off x="6355080" y="1691640"/>
            <a:ext cx="5376672" cy="365760"/>
          </a:xfrm>
          <a:prstGeom prst="rect">
            <a:avLst/>
          </a:prstGeom>
          <a:noFill/>
        </p:spPr>
        <p:txBody>
          <a:bodyPr wrap="square" lIns="0" rIns="0" tIns="0" bIns="0" anchor="t">
            <a:spAutoFit/>
          </a:bodyPr>
          <a:lstStyle/>
          <a:p>
            <a:pPr algn="l">
              <a:spcAft>
                <a:spcPts val="0"/>
              </a:spcAft>
            </a:pPr>
            <a:r>
              <a:rPr sz="1500" b="1">
                <a:solidFill>
                  <a:srgbClr val="9B2C22"/>
                </a:solidFill>
                <a:latin typeface="Calibri"/>
              </a:rPr>
              <a:t>PLACEHOLDER: replace with Sunday's CI run (19 Oct shown)</a:t>
            </a:r>
          </a:p>
        </p:txBody>
      </p:sp>
      <p:sp>
        <p:nvSpPr>
          <p:cNvPr id="27" name="Rounded Rectangle 26"/>
          <p:cNvSpPr/>
          <p:nvPr/>
        </p:nvSpPr>
        <p:spPr>
          <a:xfrm>
            <a:off x="457200" y="1234440"/>
            <a:ext cx="2697480" cy="146304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1325880"/>
            <a:ext cx="2286000" cy="411480"/>
          </a:xfrm>
          <a:prstGeom prst="rect">
            <a:avLst/>
          </a:prstGeom>
          <a:noFill/>
        </p:spPr>
        <p:txBody>
          <a:bodyPr wrap="square" lIns="0" rIns="0" tIns="0" bIns="0" anchor="t">
            <a:spAutoFit/>
          </a:bodyPr>
          <a:lstStyle/>
          <a:p>
            <a:pPr algn="l">
              <a:spcAft>
                <a:spcPts val="0"/>
              </a:spcAft>
            </a:pPr>
            <a:r>
              <a:rPr sz="1900" b="1">
                <a:solidFill>
                  <a:srgbClr val="0D1B2A"/>
                </a:solidFill>
                <a:latin typeface="Calibri"/>
              </a:rPr>
              <a:t>Backend</a:t>
            </a:r>
          </a:p>
        </p:txBody>
      </p:sp>
      <p:sp>
        <p:nvSpPr>
          <p:cNvPr id="29" name="TextBox 28"/>
          <p:cNvSpPr txBox="1"/>
          <p:nvPr/>
        </p:nvSpPr>
        <p:spPr>
          <a:xfrm>
            <a:off x="685800" y="1737360"/>
            <a:ext cx="2286000" cy="594360"/>
          </a:xfrm>
          <a:prstGeom prst="rect">
            <a:avLst/>
          </a:prstGeom>
          <a:noFill/>
        </p:spPr>
        <p:txBody>
          <a:bodyPr wrap="square" lIns="0" rIns="0" tIns="0" bIns="0" anchor="t">
            <a:spAutoFit/>
          </a:bodyPr>
          <a:lstStyle/>
          <a:p>
            <a:pPr algn="l">
              <a:spcAft>
                <a:spcPts val="0"/>
              </a:spcAft>
            </a:pPr>
            <a:r>
              <a:rPr sz="1400" b="0">
                <a:solidFill>
                  <a:srgbClr val="4A6274"/>
                </a:solidFill>
                <a:latin typeface="Calibri"/>
              </a:rPr>
              <a:t>pytest: unit and integration tests on PostgreSQL and Redis</a:t>
            </a:r>
          </a:p>
        </p:txBody>
      </p:sp>
      <p:sp>
        <p:nvSpPr>
          <p:cNvPr id="30" name="Rounded Rectangle 29"/>
          <p:cNvSpPr/>
          <p:nvPr/>
        </p:nvSpPr>
        <p:spPr>
          <a:xfrm>
            <a:off x="685800" y="2240280"/>
            <a:ext cx="1371600" cy="365760"/>
          </a:xfrm>
          <a:prstGeom prst="roundRect">
            <a:avLst>
              <a:gd name="adj" fmla="val 50000"/>
            </a:avLst>
          </a:prstGeom>
          <a:solidFill>
            <a:srgbClr val="DDF3E6"/>
          </a:solidFill>
          <a:ln w="15875">
            <a:solidFill>
              <a:srgbClr val="1FAD6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6B3E"/>
                </a:solidFill>
                <a:latin typeface="Calibri"/>
              </a:rPr>
              <a:t>All passing</a:t>
            </a:r>
          </a:p>
        </p:txBody>
      </p:sp>
      <p:sp>
        <p:nvSpPr>
          <p:cNvPr id="31" name="Rounded Rectangle 30"/>
          <p:cNvSpPr/>
          <p:nvPr/>
        </p:nvSpPr>
        <p:spPr>
          <a:xfrm>
            <a:off x="3291840" y="1234440"/>
            <a:ext cx="2697480" cy="146304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3520440" y="1325880"/>
            <a:ext cx="2286000" cy="411480"/>
          </a:xfrm>
          <a:prstGeom prst="rect">
            <a:avLst/>
          </a:prstGeom>
          <a:noFill/>
        </p:spPr>
        <p:txBody>
          <a:bodyPr wrap="square" lIns="0" rIns="0" tIns="0" bIns="0" anchor="t">
            <a:spAutoFit/>
          </a:bodyPr>
          <a:lstStyle/>
          <a:p>
            <a:pPr algn="l">
              <a:spcAft>
                <a:spcPts val="0"/>
              </a:spcAft>
            </a:pPr>
            <a:r>
              <a:rPr sz="1900" b="1">
                <a:solidFill>
                  <a:srgbClr val="0D1B2A"/>
                </a:solidFill>
                <a:latin typeface="Calibri"/>
              </a:rPr>
              <a:t>Frontend</a:t>
            </a:r>
          </a:p>
        </p:txBody>
      </p:sp>
      <p:sp>
        <p:nvSpPr>
          <p:cNvPr id="33" name="TextBox 32"/>
          <p:cNvSpPr txBox="1"/>
          <p:nvPr/>
        </p:nvSpPr>
        <p:spPr>
          <a:xfrm>
            <a:off x="3520440" y="1737360"/>
            <a:ext cx="2286000" cy="594360"/>
          </a:xfrm>
          <a:prstGeom prst="rect">
            <a:avLst/>
          </a:prstGeom>
          <a:noFill/>
        </p:spPr>
        <p:txBody>
          <a:bodyPr wrap="square" lIns="0" rIns="0" tIns="0" bIns="0" anchor="t">
            <a:spAutoFit/>
          </a:bodyPr>
          <a:lstStyle/>
          <a:p>
            <a:pPr algn="l">
              <a:spcAft>
                <a:spcPts val="0"/>
              </a:spcAft>
            </a:pPr>
            <a:r>
              <a:rPr sz="1400" b="0">
                <a:solidFill>
                  <a:srgbClr val="4A6274"/>
                </a:solidFill>
                <a:latin typeface="Calibri"/>
              </a:rPr>
              <a:t>Vitest: dispatcher, driver app and shared code</a:t>
            </a:r>
          </a:p>
        </p:txBody>
      </p:sp>
      <p:sp>
        <p:nvSpPr>
          <p:cNvPr id="34" name="Rounded Rectangle 33"/>
          <p:cNvSpPr/>
          <p:nvPr/>
        </p:nvSpPr>
        <p:spPr>
          <a:xfrm>
            <a:off x="3520440" y="2240280"/>
            <a:ext cx="1371600" cy="365760"/>
          </a:xfrm>
          <a:prstGeom prst="roundRect">
            <a:avLst>
              <a:gd name="adj" fmla="val 50000"/>
            </a:avLst>
          </a:prstGeom>
          <a:solidFill>
            <a:srgbClr val="DDF3E6"/>
          </a:solidFill>
          <a:ln w="15875">
            <a:solidFill>
              <a:srgbClr val="1FAD6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0F6B3E"/>
                </a:solidFill>
                <a:latin typeface="Calibri"/>
              </a:rPr>
              <a:t>All passing</a:t>
            </a:r>
          </a:p>
        </p:txBody>
      </p:sp>
      <p:sp>
        <p:nvSpPr>
          <p:cNvPr id="35" name="TextBox 34"/>
          <p:cNvSpPr txBox="1"/>
          <p:nvPr/>
        </p:nvSpPr>
        <p:spPr>
          <a:xfrm>
            <a:off x="457200" y="2880360"/>
            <a:ext cx="5669280" cy="365760"/>
          </a:xfrm>
          <a:prstGeom prst="rect">
            <a:avLst/>
          </a:prstGeom>
          <a:noFill/>
        </p:spPr>
        <p:txBody>
          <a:bodyPr wrap="square" lIns="0" rIns="0" tIns="0" bIns="0" anchor="t">
            <a:spAutoFit/>
          </a:bodyPr>
          <a:lstStyle/>
          <a:p>
            <a:pPr algn="l">
              <a:spcAft>
                <a:spcPts val="0"/>
              </a:spcAft>
            </a:pPr>
            <a:r>
              <a:rPr sz="1800" b="1">
                <a:solidFill>
                  <a:srgbClr val="1B7C8A"/>
                </a:solidFill>
                <a:latin typeface="Calibri"/>
              </a:rPr>
              <a:t>What the tests prove</a:t>
            </a:r>
          </a:p>
        </p:txBody>
      </p:sp>
      <p:sp>
        <p:nvSpPr>
          <p:cNvPr id="36" name="Rounded Rectangle 35"/>
          <p:cNvSpPr/>
          <p:nvPr/>
        </p:nvSpPr>
        <p:spPr>
          <a:xfrm>
            <a:off x="457200" y="3291840"/>
            <a:ext cx="5532120" cy="621792"/>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85800" y="3291840"/>
            <a:ext cx="5212080" cy="621792"/>
          </a:xfrm>
          <a:prstGeom prst="rect">
            <a:avLst/>
          </a:prstGeom>
          <a:noFill/>
        </p:spPr>
        <p:txBody>
          <a:bodyPr wrap="square" lIns="0" rIns="0" tIns="0" bIns="0" anchor="ctr">
            <a:spAutoFit/>
          </a:bodyPr>
          <a:lstStyle/>
          <a:p>
            <a:pPr algn="l">
              <a:spcAft>
                <a:spcPts val="0"/>
              </a:spcAft>
            </a:pPr>
            <a:r>
              <a:rPr sz="1600" b="1">
                <a:solidFill>
                  <a:srgbClr val="0D1B2A"/>
                </a:solidFill>
                <a:latin typeface="Calibri"/>
              </a:rPr>
              <a:t>Tamper detection  </a:t>
            </a:r>
            <a:r>
              <a:rPr sz="1500" b="0">
                <a:solidFill>
                  <a:srgbClr val="4A6274"/>
                </a:solidFill>
                <a:latin typeface="Calibri"/>
              </a:rPr>
              <a:t>A changed record or photo fails verification</a:t>
            </a:r>
          </a:p>
        </p:txBody>
      </p:sp>
      <p:sp>
        <p:nvSpPr>
          <p:cNvPr id="38" name="Rounded Rectangle 37"/>
          <p:cNvSpPr/>
          <p:nvPr/>
        </p:nvSpPr>
        <p:spPr>
          <a:xfrm>
            <a:off x="457200" y="4005072"/>
            <a:ext cx="5532120" cy="621792"/>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85800" y="4005072"/>
            <a:ext cx="5212080" cy="621792"/>
          </a:xfrm>
          <a:prstGeom prst="rect">
            <a:avLst/>
          </a:prstGeom>
          <a:noFill/>
        </p:spPr>
        <p:txBody>
          <a:bodyPr wrap="square" lIns="0" rIns="0" tIns="0" bIns="0" anchor="ctr">
            <a:spAutoFit/>
          </a:bodyPr>
          <a:lstStyle/>
          <a:p>
            <a:pPr algn="l">
              <a:spcAft>
                <a:spcPts val="0"/>
              </a:spcAft>
            </a:pPr>
            <a:r>
              <a:rPr sz="1600" b="1">
                <a:solidFill>
                  <a:srgbClr val="0D1B2A"/>
                </a:solidFill>
                <a:latin typeface="Calibri"/>
              </a:rPr>
              <a:t>Concurrency  </a:t>
            </a:r>
            <a:r>
              <a:rPr sz="1500" b="0">
                <a:solidFill>
                  <a:srgbClr val="4A6274"/>
                </a:solidFill>
                <a:latin typeface="Calibri"/>
              </a:rPr>
              <a:t>Two phones redeem one QR: exactly one confirms</a:t>
            </a:r>
          </a:p>
        </p:txBody>
      </p:sp>
      <p:sp>
        <p:nvSpPr>
          <p:cNvPr id="40" name="Rounded Rectangle 39"/>
          <p:cNvSpPr/>
          <p:nvPr/>
        </p:nvSpPr>
        <p:spPr>
          <a:xfrm>
            <a:off x="457200" y="4718304"/>
            <a:ext cx="5532120" cy="621792"/>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685800" y="4718304"/>
            <a:ext cx="5212080" cy="621792"/>
          </a:xfrm>
          <a:prstGeom prst="rect">
            <a:avLst/>
          </a:prstGeom>
          <a:noFill/>
        </p:spPr>
        <p:txBody>
          <a:bodyPr wrap="square" lIns="0" rIns="0" tIns="0" bIns="0" anchor="ctr">
            <a:spAutoFit/>
          </a:bodyPr>
          <a:lstStyle/>
          <a:p>
            <a:pPr algn="l">
              <a:spcAft>
                <a:spcPts val="0"/>
              </a:spcAft>
            </a:pPr>
            <a:r>
              <a:rPr sz="1600" b="1">
                <a:solidFill>
                  <a:srgbClr val="0D1B2A"/>
                </a:solidFill>
                <a:latin typeface="Calibri"/>
              </a:rPr>
              <a:t>Outages  </a:t>
            </a:r>
            <a:r>
              <a:rPr sz="1500" b="0">
                <a:solidFill>
                  <a:srgbClr val="4A6274"/>
                </a:solidFill>
                <a:latin typeface="Calibri"/>
              </a:rPr>
              <a:t>Ledger down: the driver carries on, receipts retry</a:t>
            </a:r>
          </a:p>
        </p:txBody>
      </p:sp>
      <p:sp>
        <p:nvSpPr>
          <p:cNvPr id="42" name="Rounded Rectangle 41"/>
          <p:cNvSpPr/>
          <p:nvPr/>
        </p:nvSpPr>
        <p:spPr>
          <a:xfrm>
            <a:off x="457200" y="5431536"/>
            <a:ext cx="5532120" cy="621792"/>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85800" y="5431536"/>
            <a:ext cx="5212080" cy="621792"/>
          </a:xfrm>
          <a:prstGeom prst="rect">
            <a:avLst/>
          </a:prstGeom>
          <a:noFill/>
        </p:spPr>
        <p:txBody>
          <a:bodyPr wrap="square" lIns="0" rIns="0" tIns="0" bIns="0" anchor="ctr">
            <a:spAutoFit/>
          </a:bodyPr>
          <a:lstStyle/>
          <a:p>
            <a:pPr algn="l">
              <a:spcAft>
                <a:spcPts val="0"/>
              </a:spcAft>
            </a:pPr>
            <a:r>
              <a:rPr sz="1600" b="1">
                <a:solidFill>
                  <a:srgbClr val="0D1B2A"/>
                </a:solidFill>
                <a:latin typeface="Calibri"/>
              </a:rPr>
              <a:t>Structure  </a:t>
            </a:r>
            <a:r>
              <a:rPr sz="1500" b="0">
                <a:solidFill>
                  <a:srgbClr val="4A6274"/>
                </a:solidFill>
                <a:latin typeface="Calibri"/>
              </a:rPr>
              <a:t>Layering rules and migration rebuild, every change</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AI use</a:t>
            </a:r>
            <a:endParaRPr lang="en-US" sz="3200" dirty="0"/>
          </a:p>
        </p:txBody>
      </p:sp>
      <p:sp>
        <p:nvSpPr>
          <p:cNvPr id="3" name="kicker_302"/>
          <p:cNvSpPr txBox="1"/>
          <p:nvPr/>
        </p:nvSpPr>
        <p:spPr>
          <a:xfrm>
            <a:off x="9816084" y="475488"/>
            <a:ext cx="191566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SE · AI USE</a:t>
            </a:r>
            <a:endParaRPr lang="en-US" sz="1600" dirty="0"/>
          </a:p>
        </p:txBody>
      </p:sp>
      <p:sp>
        <p:nvSpPr>
          <p:cNvPr id="4" name="shape_303"/>
          <p:cNvSpPr/>
          <p:nvPr/>
        </p:nvSpPr>
        <p:spPr>
          <a:xfrm>
            <a:off x="457200" y="1325880"/>
            <a:ext cx="5532120" cy="4937760"/>
          </a:xfrm>
          <a:prstGeom prst="roundRect">
            <a:avLst>
              <a:gd name="adj" fmla="val 1852"/>
            </a:avLst>
          </a:prstGeom>
          <a:solidFill>
            <a:srgbClr val="F2F6F8"/>
          </a:solidFill>
          <a:ln w="12700">
            <a:solidFill>
              <a:srgbClr val="F2F6F8"/>
            </a:solidFill>
            <a:prstDash val="solid"/>
          </a:ln>
        </p:spPr>
        <p:txBody>
          <a:bodyPr/>
          <a:lstStyle/>
          <a:p>
            <a:endParaRPr lang="en-GB"/>
          </a:p>
        </p:txBody>
      </p:sp>
      <p:sp>
        <p:nvSpPr>
          <p:cNvPr id="5" name="shape_304"/>
          <p:cNvSpPr/>
          <p:nvPr/>
        </p:nvSpPr>
        <p:spPr>
          <a:xfrm>
            <a:off x="457200" y="1325880"/>
            <a:ext cx="5532120" cy="731520"/>
          </a:xfrm>
          <a:prstGeom prst="roundRect">
            <a:avLst>
              <a:gd name="adj" fmla="val 12500"/>
            </a:avLst>
          </a:prstGeom>
          <a:solidFill>
            <a:srgbClr val="1B7C8A"/>
          </a:solidFill>
          <a:ln w="12700">
            <a:solidFill>
              <a:srgbClr val="1B7C8A"/>
            </a:solidFill>
            <a:prstDash val="solid"/>
          </a:ln>
        </p:spPr>
        <p:txBody>
          <a:bodyPr/>
          <a:lstStyle/>
          <a:p>
            <a:endParaRPr lang="en-GB"/>
          </a:p>
        </p:txBody>
      </p:sp>
      <p:sp>
        <p:nvSpPr>
          <p:cNvPr id="6" name="shape_305"/>
          <p:cNvSpPr/>
          <p:nvPr/>
        </p:nvSpPr>
        <p:spPr>
          <a:xfrm>
            <a:off x="457200" y="1783080"/>
            <a:ext cx="5532120" cy="274320"/>
          </a:xfrm>
          <a:prstGeom prst="rect">
            <a:avLst/>
          </a:prstGeom>
          <a:solidFill>
            <a:srgbClr val="1B7C8A"/>
          </a:solidFill>
          <a:ln w="12700">
            <a:solidFill>
              <a:srgbClr val="1B7C8A"/>
            </a:solidFill>
            <a:prstDash val="solid"/>
          </a:ln>
        </p:spPr>
        <p:txBody>
          <a:bodyPr/>
          <a:lstStyle/>
          <a:p>
            <a:endParaRPr lang="en-GB"/>
          </a:p>
        </p:txBody>
      </p:sp>
      <p:pic>
        <p:nvPicPr>
          <p:cNvPr id="7" name="Image 0" descr="preencoded.png"/>
          <p:cNvPicPr>
            <a:picLocks noChangeAspect="1"/>
          </p:cNvPicPr>
          <p:nvPr/>
        </p:nvPicPr>
        <p:blipFill>
          <a:blip r:embed="rId3"/>
          <a:stretch>
            <a:fillRect/>
          </a:stretch>
        </p:blipFill>
        <p:spPr>
          <a:xfrm>
            <a:off x="731520" y="1490472"/>
            <a:ext cx="411480" cy="411480"/>
          </a:xfrm>
          <a:prstGeom prst="rect">
            <a:avLst/>
          </a:prstGeom>
        </p:spPr>
      </p:pic>
      <p:sp>
        <p:nvSpPr>
          <p:cNvPr id="8" name="text_306"/>
          <p:cNvSpPr txBox="1"/>
          <p:nvPr/>
        </p:nvSpPr>
        <p:spPr>
          <a:xfrm>
            <a:off x="1325880" y="1325880"/>
            <a:ext cx="448056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How we build</a:t>
            </a:r>
            <a:endParaRPr lang="en-US" sz="2400" dirty="0"/>
          </a:p>
        </p:txBody>
      </p:sp>
      <p:sp>
        <p:nvSpPr>
          <p:cNvPr id="9" name="text_307"/>
          <p:cNvSpPr txBox="1"/>
          <p:nvPr/>
        </p:nvSpPr>
        <p:spPr>
          <a:xfrm>
            <a:off x="777240" y="2286000"/>
            <a:ext cx="4937760" cy="3886200"/>
          </a:xfrm>
          <a:prstGeom prst="rect">
            <a:avLst/>
          </a:prstGeom>
          <a:noFill/>
          <a:ln/>
        </p:spPr>
        <p:txBody>
          <a:bodyPr wrap="square" lIns="0" tIns="0" rIns="0" bIns="0" rtlCol="0" anchor="t"/>
          <a:lstStyle/>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Claude Code (main)</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Gemini: sprint records</a:t>
            </a:r>
            <a:endParaRPr lang="en-US" sz="2400" dirty="0"/>
          </a:p>
          <a:p>
            <a:pPr marL="0" indent="0">
              <a:spcAft>
                <a:spcPts val="900"/>
              </a:spcAft>
              <a:buNone/>
            </a:pPr>
            <a:r>
              <a:rPr lang="en-US" sz="2400" b="1" dirty="0">
                <a:solidFill>
                  <a:srgbClr val="1B7C8A"/>
                </a:solidFill>
                <a:latin typeface="Calibri" pitchFamily="34" charset="0"/>
                <a:ea typeface="Calibri" pitchFamily="34" charset="-122"/>
                <a:cs typeface="Calibri" pitchFamily="34" charset="-120"/>
              </a:rPr>
              <a:t>Controls</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Plan first</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Humans commit every change</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PR and CI</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Own-module walkthroughs</a:t>
            </a:r>
            <a:endParaRPr lang="en-US" sz="2400" dirty="0"/>
          </a:p>
        </p:txBody>
      </p:sp>
      <p:sp>
        <p:nvSpPr>
          <p:cNvPr id="10" name="shape_308"/>
          <p:cNvSpPr/>
          <p:nvPr/>
        </p:nvSpPr>
        <p:spPr>
          <a:xfrm>
            <a:off x="6217920" y="1325880"/>
            <a:ext cx="5532120" cy="4937760"/>
          </a:xfrm>
          <a:prstGeom prst="roundRect">
            <a:avLst>
              <a:gd name="adj" fmla="val 1852"/>
            </a:avLst>
          </a:prstGeom>
          <a:solidFill>
            <a:srgbClr val="F2F6F8"/>
          </a:solidFill>
          <a:ln w="12700">
            <a:solidFill>
              <a:srgbClr val="F2F6F8"/>
            </a:solidFill>
            <a:prstDash val="solid"/>
          </a:ln>
        </p:spPr>
        <p:txBody>
          <a:bodyPr/>
          <a:lstStyle/>
          <a:p>
            <a:endParaRPr lang="en-GB"/>
          </a:p>
        </p:txBody>
      </p:sp>
      <p:sp>
        <p:nvSpPr>
          <p:cNvPr id="11" name="shape_309"/>
          <p:cNvSpPr/>
          <p:nvPr/>
        </p:nvSpPr>
        <p:spPr>
          <a:xfrm>
            <a:off x="6217920" y="1325880"/>
            <a:ext cx="5532120" cy="731520"/>
          </a:xfrm>
          <a:prstGeom prst="roundRect">
            <a:avLst>
              <a:gd name="adj" fmla="val 12500"/>
            </a:avLst>
          </a:prstGeom>
          <a:solidFill>
            <a:srgbClr val="1B7C8A"/>
          </a:solidFill>
          <a:ln w="12700">
            <a:solidFill>
              <a:srgbClr val="1B7C8A"/>
            </a:solidFill>
            <a:prstDash val="solid"/>
          </a:ln>
        </p:spPr>
        <p:txBody>
          <a:bodyPr/>
          <a:lstStyle/>
          <a:p>
            <a:endParaRPr lang="en-GB"/>
          </a:p>
        </p:txBody>
      </p:sp>
      <p:sp>
        <p:nvSpPr>
          <p:cNvPr id="12" name="shape_310"/>
          <p:cNvSpPr/>
          <p:nvPr/>
        </p:nvSpPr>
        <p:spPr>
          <a:xfrm>
            <a:off x="6217920" y="1783080"/>
            <a:ext cx="5532120" cy="274320"/>
          </a:xfrm>
          <a:prstGeom prst="rect">
            <a:avLst/>
          </a:prstGeom>
          <a:solidFill>
            <a:srgbClr val="1B7C8A"/>
          </a:solidFill>
          <a:ln w="12700">
            <a:solidFill>
              <a:srgbClr val="1B7C8A"/>
            </a:solidFill>
            <a:prstDash val="solid"/>
          </a:ln>
        </p:spPr>
        <p:txBody>
          <a:bodyPr/>
          <a:lstStyle/>
          <a:p>
            <a:endParaRPr lang="en-GB"/>
          </a:p>
        </p:txBody>
      </p:sp>
      <p:pic>
        <p:nvPicPr>
          <p:cNvPr id="13" name="Image 1" descr="preencoded.png"/>
          <p:cNvPicPr>
            <a:picLocks noChangeAspect="1"/>
          </p:cNvPicPr>
          <p:nvPr/>
        </p:nvPicPr>
        <p:blipFill>
          <a:blip r:embed="rId4"/>
          <a:stretch>
            <a:fillRect/>
          </a:stretch>
        </p:blipFill>
        <p:spPr>
          <a:xfrm>
            <a:off x="6492240" y="1490472"/>
            <a:ext cx="411480" cy="411480"/>
          </a:xfrm>
          <a:prstGeom prst="rect">
            <a:avLst/>
          </a:prstGeom>
        </p:spPr>
      </p:pic>
      <p:sp>
        <p:nvSpPr>
          <p:cNvPr id="14" name="text_311"/>
          <p:cNvSpPr txBox="1"/>
          <p:nvPr/>
        </p:nvSpPr>
        <p:spPr>
          <a:xfrm>
            <a:off x="7086600" y="1325880"/>
            <a:ext cx="4480560" cy="731520"/>
          </a:xfrm>
          <a:prstGeom prst="rect">
            <a:avLst/>
          </a:prstGeom>
          <a:noFill/>
          <a:ln/>
        </p:spPr>
        <p:txBody>
          <a:bodyPr wrap="square" lIns="0" tIns="0" rIns="0" bIns="0" rtlCol="0" anchor="ctr"/>
          <a:lstStyle/>
          <a:p>
            <a:pPr marL="0" indent="0">
              <a:buNone/>
            </a:pPr>
            <a:r>
              <a:rPr lang="en-US" sz="2400" b="1" dirty="0">
                <a:solidFill>
                  <a:srgbClr val="FFFFFF"/>
                </a:solidFill>
                <a:latin typeface="Calibri" pitchFamily="34" charset="0"/>
                <a:ea typeface="Calibri" pitchFamily="34" charset="-122"/>
                <a:cs typeface="Calibri" pitchFamily="34" charset="-120"/>
              </a:rPr>
              <a:t>In the product</a:t>
            </a:r>
            <a:endParaRPr lang="en-US" sz="2400" dirty="0"/>
          </a:p>
        </p:txBody>
      </p:sp>
      <p:sp>
        <p:nvSpPr>
          <p:cNvPr id="15" name="text_312"/>
          <p:cNvSpPr txBox="1"/>
          <p:nvPr/>
        </p:nvSpPr>
        <p:spPr>
          <a:xfrm>
            <a:off x="6537960" y="2286000"/>
            <a:ext cx="4937760" cy="3886200"/>
          </a:xfrm>
          <a:prstGeom prst="rect">
            <a:avLst/>
          </a:prstGeom>
          <a:noFill/>
          <a:ln/>
        </p:spPr>
        <p:txBody>
          <a:bodyPr wrap="square" lIns="0" tIns="0" rIns="0" bIns="0" rtlCol="0" anchor="t"/>
          <a:lstStyle/>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Analytics chat</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De-identified figures</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Off by default</a:t>
            </a:r>
            <a:endParaRPr lang="en-US" sz="2400" dirty="0"/>
          </a:p>
          <a:p>
            <a:pPr marL="342900" indent="-342900">
              <a:spcAft>
                <a:spcPts val="900"/>
              </a:spcAft>
              <a:buSzPct val="100000"/>
              <a:buChar char="•"/>
            </a:pPr>
            <a:r>
              <a:rPr lang="en-US" sz="2400" dirty="0">
                <a:solidFill>
                  <a:srgbClr val="0D1B2A"/>
                </a:solidFill>
                <a:latin typeface="Calibri" pitchFamily="34" charset="0"/>
                <a:ea typeface="Calibri" pitchFamily="34" charset="-122"/>
                <a:cs typeface="Calibri" pitchFamily="34" charset="-120"/>
              </a:rPr>
              <a:t>USD 20/month cap</a:t>
            </a:r>
            <a:endParaRPr lang="en-US" sz="2400" dirty="0"/>
          </a:p>
          <a:p>
            <a:pPr marL="342900" indent="-342900">
              <a:spcAft>
                <a:spcPts val="900"/>
              </a:spcAft>
              <a:buSzPct val="100000"/>
              <a:buChar char="•"/>
            </a:pPr>
            <a:r>
              <a:rPr lang="en-US" sz="2400" b="1" dirty="0">
                <a:solidFill>
                  <a:srgbClr val="0D1B2A"/>
                </a:solidFill>
                <a:latin typeface="Calibri" pitchFamily="34" charset="0"/>
                <a:ea typeface="Calibri" pitchFamily="34" charset="-122"/>
                <a:cs typeface="Calibri" pitchFamily="34" charset="-120"/>
              </a:rPr>
              <a:t>Severity: fixed rules</a:t>
            </a:r>
            <a:endParaRPr lang="en-US" sz="24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15</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Ready for a pilot</a:t>
            </a:r>
            <a:endParaRPr lang="en-US" sz="3200" dirty="0"/>
          </a:p>
        </p:txBody>
      </p:sp>
      <p:sp>
        <p:nvSpPr>
          <p:cNvPr id="3" name="kicker_313"/>
          <p:cNvSpPr txBox="1"/>
          <p:nvPr/>
        </p:nvSpPr>
        <p:spPr>
          <a:xfrm>
            <a:off x="10346436" y="475488"/>
            <a:ext cx="1385316"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GENERAL</a:t>
            </a:r>
            <a:endParaRPr lang="en-US" sz="16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16</a:t>
            </a:fld>
            <a:endParaRPr lang="en-US"/>
          </a:p>
        </p:txBody>
      </p:sp>
      <p:sp>
        <p:nvSpPr>
          <p:cNvPr id="26" name="Rounded Rectangle 25"/>
          <p:cNvSpPr/>
          <p:nvPr/>
        </p:nvSpPr>
        <p:spPr>
          <a:xfrm>
            <a:off x="457200" y="1234440"/>
            <a:ext cx="3639312" cy="342900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Oval 26"/>
          <p:cNvSpPr/>
          <p:nvPr/>
        </p:nvSpPr>
        <p:spPr>
          <a:xfrm>
            <a:off x="685800" y="1463040"/>
            <a:ext cx="201168" cy="201168"/>
          </a:xfrm>
          <a:prstGeom prst="ellipse">
            <a:avLst/>
          </a:prstGeom>
          <a:solidFill>
            <a:srgbClr val="1FAD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05840" y="1371600"/>
            <a:ext cx="2971800" cy="3200400"/>
          </a:xfrm>
          <a:prstGeom prst="rect">
            <a:avLst/>
          </a:prstGeom>
          <a:noFill/>
        </p:spPr>
        <p:txBody>
          <a:bodyPr wrap="square" lIns="0" rIns="0" tIns="0" bIns="0" anchor="t">
            <a:spAutoFit/>
          </a:bodyPr>
          <a:lstStyle/>
          <a:p>
            <a:pPr algn="l">
              <a:spcAft>
                <a:spcPts val="1000"/>
              </a:spcAft>
            </a:pPr>
            <a:r>
              <a:rPr sz="1900" b="1">
                <a:solidFill>
                  <a:srgbClr val="0D1B2A"/>
                </a:solidFill>
                <a:latin typeface="Calibri"/>
              </a:rPr>
              <a:t>Running today</a:t>
            </a:r>
          </a:p>
          <a:p>
            <a:pPr algn="l">
              <a:spcAft>
                <a:spcPts val="800"/>
              </a:spcAft>
            </a:pPr>
            <a:r>
              <a:rPr sz="1600" b="0">
                <a:solidFill>
                  <a:srgbClr val="0D1B2A"/>
                </a:solidFill>
                <a:latin typeface="Calibri"/>
              </a:rPr>
              <a:t>Deployed: Vercel, Railway, Supabase</a:t>
            </a:r>
          </a:p>
          <a:p>
            <a:pPr algn="l">
              <a:spcAft>
                <a:spcPts val="800"/>
              </a:spcAft>
            </a:pPr>
            <a:r>
              <a:rPr sz="1600" b="0">
                <a:solidFill>
                  <a:srgbClr val="0D1B2A"/>
                </a:solidFill>
                <a:latin typeface="Calibri"/>
              </a:rPr>
              <a:t>Hedera anchoring (test network)</a:t>
            </a:r>
          </a:p>
          <a:p>
            <a:pPr algn="l">
              <a:spcAft>
                <a:spcPts val="800"/>
              </a:spcAft>
            </a:pPr>
            <a:r>
              <a:rPr sz="1600" b="0">
                <a:solidFill>
                  <a:srgbClr val="0D1B2A"/>
                </a:solidFill>
                <a:latin typeface="Calibri"/>
              </a:rPr>
              <a:t>Didit ID checks, SendGrid e-mail</a:t>
            </a:r>
          </a:p>
          <a:p>
            <a:pPr algn="l">
              <a:spcAft>
                <a:spcPts val="800"/>
              </a:spcAft>
            </a:pPr>
            <a:r>
              <a:rPr sz="1600" b="0">
                <a:solidFill>
                  <a:srgbClr val="0D1B2A"/>
                </a:solidFill>
                <a:latin typeface="Calibri"/>
              </a:rPr>
              <a:t>Full test suite on every change</a:t>
            </a:r>
          </a:p>
        </p:txBody>
      </p:sp>
      <p:sp>
        <p:nvSpPr>
          <p:cNvPr id="29" name="Rounded Rectangle 28"/>
          <p:cNvSpPr/>
          <p:nvPr/>
        </p:nvSpPr>
        <p:spPr>
          <a:xfrm>
            <a:off x="4279392" y="1234440"/>
            <a:ext cx="3639312" cy="342900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Oval 29"/>
          <p:cNvSpPr/>
          <p:nvPr/>
        </p:nvSpPr>
        <p:spPr>
          <a:xfrm>
            <a:off x="4507992" y="1463040"/>
            <a:ext cx="201168" cy="201168"/>
          </a:xfrm>
          <a:prstGeom prst="ellipse">
            <a:avLst/>
          </a:prstGeom>
          <a:solidFill>
            <a:srgbClr val="8FA8B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28031" y="1371600"/>
            <a:ext cx="2971800" cy="3200400"/>
          </a:xfrm>
          <a:prstGeom prst="rect">
            <a:avLst/>
          </a:prstGeom>
          <a:noFill/>
        </p:spPr>
        <p:txBody>
          <a:bodyPr wrap="square" lIns="0" rIns="0" tIns="0" bIns="0" anchor="t">
            <a:spAutoFit/>
          </a:bodyPr>
          <a:lstStyle/>
          <a:p>
            <a:pPr algn="l">
              <a:spcAft>
                <a:spcPts val="1000"/>
              </a:spcAft>
            </a:pPr>
            <a:r>
              <a:rPr sz="1900" b="1">
                <a:solidFill>
                  <a:srgbClr val="0D1B2A"/>
                </a:solidFill>
                <a:latin typeface="Calibri"/>
              </a:rPr>
              <a:t>Simulated until credentials</a:t>
            </a:r>
          </a:p>
          <a:p>
            <a:pPr algn="l">
              <a:spcAft>
                <a:spcPts val="800"/>
              </a:spcAft>
            </a:pPr>
            <a:r>
              <a:rPr sz="1600" b="0">
                <a:solidFill>
                  <a:srgbClr val="0D1B2A"/>
                </a:solidFill>
                <a:latin typeface="Calibri"/>
              </a:rPr>
              <a:t>Pulsit truck and trailer trackers</a:t>
            </a:r>
          </a:p>
          <a:p>
            <a:pPr algn="l">
              <a:spcAft>
                <a:spcPts val="800"/>
              </a:spcAft>
            </a:pPr>
            <a:r>
              <a:rPr sz="1600" b="0">
                <a:solidFill>
                  <a:srgbClr val="0D1B2A"/>
                </a:solidFill>
                <a:latin typeface="Calibri"/>
              </a:rPr>
              <a:t>Parcel Perfect manifests</a:t>
            </a:r>
          </a:p>
          <a:p>
            <a:pPr algn="l">
              <a:spcAft>
                <a:spcPts val="800"/>
              </a:spcAft>
            </a:pPr>
            <a:r>
              <a:rPr sz="1600" b="0">
                <a:solidFill>
                  <a:srgbClr val="0D1B2A"/>
                </a:solidFill>
                <a:latin typeface="Calibri"/>
              </a:rPr>
              <a:t>Warehouse scans</a:t>
            </a:r>
          </a:p>
          <a:p>
            <a:pPr algn="l">
              <a:spcAft>
                <a:spcPts val="800"/>
              </a:spcAft>
            </a:pPr>
            <a:r>
              <a:rPr sz="1600" b="0">
                <a:solidFill>
                  <a:srgbClr val="0D1B2A"/>
                </a:solidFill>
                <a:latin typeface="Calibri"/>
              </a:rPr>
              <a:t>Pulsit and Parcel Perfect adapters written</a:t>
            </a:r>
          </a:p>
        </p:txBody>
      </p:sp>
      <p:sp>
        <p:nvSpPr>
          <p:cNvPr id="32" name="Rounded Rectangle 31"/>
          <p:cNvSpPr/>
          <p:nvPr/>
        </p:nvSpPr>
        <p:spPr>
          <a:xfrm>
            <a:off x="8101583" y="1234440"/>
            <a:ext cx="3639312" cy="3429000"/>
          </a:xfrm>
          <a:prstGeom prst="roundRect">
            <a:avLst>
              <a:gd name="adj" fmla="val 8000"/>
            </a:avLst>
          </a:prstGeom>
          <a:solidFill>
            <a:srgbClr val="F2F6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Oval 32"/>
          <p:cNvSpPr/>
          <p:nvPr/>
        </p:nvSpPr>
        <p:spPr>
          <a:xfrm>
            <a:off x="8330183" y="1463040"/>
            <a:ext cx="201168" cy="201168"/>
          </a:xfrm>
          <a:prstGeom prst="ellipse">
            <a:avLst/>
          </a:prstGeom>
          <a:solidFill>
            <a:srgbClr val="1B7C8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8650224" y="1371600"/>
            <a:ext cx="2971800" cy="3246120"/>
          </a:xfrm>
          <a:prstGeom prst="rect">
            <a:avLst/>
          </a:prstGeom>
          <a:noFill/>
        </p:spPr>
        <p:txBody>
          <a:bodyPr wrap="square" lIns="0" rIns="0" tIns="0" bIns="0" anchor="t">
            <a:spAutoFit/>
          </a:bodyPr>
          <a:lstStyle/>
          <a:p>
            <a:pPr algn="l">
              <a:spcAft>
                <a:spcPts val="800"/>
              </a:spcAft>
            </a:pPr>
            <a:r>
              <a:rPr sz="1900" b="1">
                <a:solidFill>
                  <a:srgbClr val="0D1B2A"/>
                </a:solidFill>
                <a:latin typeface="Calibri"/>
              </a:rPr>
              <a:t>Before live customer trips</a:t>
            </a:r>
          </a:p>
          <a:p>
            <a:pPr algn="l">
              <a:spcAft>
                <a:spcPts val="0"/>
              </a:spcAft>
            </a:pPr>
            <a:r>
              <a:rPr sz="1500" b="1">
                <a:solidFill>
                  <a:srgbClr val="0D1B2A"/>
                </a:solidFill>
                <a:latin typeface="Calibri"/>
              </a:rPr>
              <a:t>Load test</a:t>
            </a:r>
          </a:p>
          <a:p>
            <a:pPr algn="l">
              <a:spcAft>
                <a:spcPts val="500"/>
              </a:spcAft>
            </a:pPr>
            <a:r>
              <a:rPr sz="1300" b="0">
                <a:solidFill>
                  <a:srgbClr val="4A6274"/>
                </a:solidFill>
                <a:latin typeface="Calibri"/>
              </a:rPr>
              <a:t>receipts within 60 s at real volume</a:t>
            </a:r>
          </a:p>
          <a:p>
            <a:pPr algn="l">
              <a:spcAft>
                <a:spcPts val="0"/>
              </a:spcAft>
            </a:pPr>
            <a:r>
              <a:rPr sz="1500" b="1">
                <a:solidFill>
                  <a:srgbClr val="0D1B2A"/>
                </a:solidFill>
                <a:latin typeface="Calibri"/>
              </a:rPr>
              <a:t>In-country hosting</a:t>
            </a:r>
          </a:p>
          <a:p>
            <a:pPr algn="l">
              <a:spcAft>
                <a:spcPts val="500"/>
              </a:spcAft>
            </a:pPr>
            <a:r>
              <a:rPr sz="1300" b="0">
                <a:solidFill>
                  <a:srgbClr val="4A6274"/>
                </a:solidFill>
                <a:latin typeface="Calibri"/>
              </a:rPr>
              <a:t>personal data on a South African host</a:t>
            </a:r>
          </a:p>
          <a:p>
            <a:pPr algn="l">
              <a:spcAft>
                <a:spcPts val="0"/>
              </a:spcAft>
            </a:pPr>
            <a:r>
              <a:rPr sz="1500" b="1">
                <a:solidFill>
                  <a:srgbClr val="0D1B2A"/>
                </a:solidFill>
                <a:latin typeface="Calibri"/>
              </a:rPr>
              <a:t>Authorised receivers</a:t>
            </a:r>
          </a:p>
          <a:p>
            <a:pPr algn="l">
              <a:spcAft>
                <a:spcPts val="500"/>
              </a:spcAft>
            </a:pPr>
            <a:r>
              <a:rPr sz="1300" b="0">
                <a:solidFill>
                  <a:srgbClr val="4A6274"/>
                </a:solidFill>
                <a:latin typeface="Calibri"/>
              </a:rPr>
              <a:t>each customer names who may sign</a:t>
            </a:r>
          </a:p>
          <a:p>
            <a:pPr algn="l">
              <a:spcAft>
                <a:spcPts val="0"/>
              </a:spcAft>
            </a:pPr>
            <a:r>
              <a:rPr sz="1500" b="1">
                <a:solidFill>
                  <a:srgbClr val="0D1B2A"/>
                </a:solidFill>
                <a:latin typeface="Calibri"/>
              </a:rPr>
              <a:t>External alerts</a:t>
            </a:r>
          </a:p>
          <a:p>
            <a:pPr algn="l">
              <a:spcAft>
                <a:spcPts val="500"/>
              </a:spcAft>
            </a:pPr>
            <a:r>
              <a:rPr sz="1300" b="0">
                <a:solidFill>
                  <a:srgbClr val="4A6274"/>
                </a:solidFill>
                <a:latin typeface="Calibri"/>
              </a:rPr>
              <a:t>e-mail or WhatsApp to whoever is on duty</a:t>
            </a:r>
          </a:p>
          <a:p>
            <a:pPr algn="l">
              <a:spcAft>
                <a:spcPts val="0"/>
              </a:spcAft>
            </a:pPr>
            <a:r>
              <a:rPr sz="1500" b="1">
                <a:solidFill>
                  <a:srgbClr val="0D1B2A"/>
                </a:solidFill>
                <a:latin typeface="Calibri"/>
              </a:rPr>
              <a:t>Camera footage</a:t>
            </a:r>
          </a:p>
          <a:p>
            <a:pPr algn="l">
              <a:spcAft>
                <a:spcPts val="500"/>
              </a:spcAft>
            </a:pPr>
            <a:r>
              <a:rPr sz="1300" b="0">
                <a:solidFill>
                  <a:srgbClr val="4A6274"/>
                </a:solidFill>
                <a:latin typeface="Calibri"/>
              </a:rPr>
              <a:t>clips from Pulsit when an exception fires</a:t>
            </a:r>
          </a:p>
        </p:txBody>
      </p:sp>
      <p:sp>
        <p:nvSpPr>
          <p:cNvPr id="35" name="Rounded Rectangle 34"/>
          <p:cNvSpPr/>
          <p:nvPr/>
        </p:nvSpPr>
        <p:spPr>
          <a:xfrm>
            <a:off x="457200" y="4800600"/>
            <a:ext cx="11274552" cy="1280160"/>
          </a:xfrm>
          <a:prstGeom prst="roundRect">
            <a:avLst>
              <a:gd name="adj" fmla="val 8000"/>
            </a:avLst>
          </a:prstGeom>
          <a:solidFill>
            <a:srgbClr val="FFFFFF"/>
          </a:solidFill>
          <a:ln w="12700">
            <a:solidFill>
              <a:srgbClr val="C9D5D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731520" y="4873752"/>
            <a:ext cx="2743200" cy="365760"/>
          </a:xfrm>
          <a:prstGeom prst="rect">
            <a:avLst/>
          </a:prstGeom>
          <a:noFill/>
        </p:spPr>
        <p:txBody>
          <a:bodyPr wrap="square" lIns="0" rIns="0" tIns="0" bIns="0" anchor="t">
            <a:spAutoFit/>
          </a:bodyPr>
          <a:lstStyle/>
          <a:p>
            <a:pPr algn="l">
              <a:spcAft>
                <a:spcPts val="0"/>
              </a:spcAft>
            </a:pPr>
            <a:r>
              <a:rPr sz="1700" b="1">
                <a:solidFill>
                  <a:srgbClr val="1B7C8A"/>
                </a:solidFill>
                <a:latin typeface="Calibri"/>
              </a:rPr>
              <a:t>Challenges we overcame</a:t>
            </a:r>
          </a:p>
        </p:txBody>
      </p:sp>
      <p:sp>
        <p:nvSpPr>
          <p:cNvPr id="37" name="TextBox 36"/>
          <p:cNvSpPr txBox="1"/>
          <p:nvPr/>
        </p:nvSpPr>
        <p:spPr>
          <a:xfrm>
            <a:off x="731520" y="5257800"/>
            <a:ext cx="5212080" cy="777240"/>
          </a:xfrm>
          <a:prstGeom prst="rect">
            <a:avLst/>
          </a:prstGeom>
          <a:noFill/>
        </p:spPr>
        <p:txBody>
          <a:bodyPr wrap="square" lIns="0" rIns="0" tIns="0" bIns="0" anchor="t">
            <a:spAutoFit/>
          </a:bodyPr>
          <a:lstStyle/>
          <a:p>
            <a:pPr algn="l">
              <a:spcAft>
                <a:spcPts val="0"/>
              </a:spcAft>
            </a:pPr>
            <a:r>
              <a:rPr sz="1500" b="1">
                <a:solidFill>
                  <a:srgbClr val="0D1B2A"/>
                </a:solidFill>
                <a:latin typeface="Calibri"/>
              </a:rPr>
              <a:t>No partner credentials. </a:t>
            </a:r>
            <a:r>
              <a:rPr sz="1500" b="0">
                <a:solidFill>
                  <a:srgbClr val="4A6274"/>
                </a:solidFill>
                <a:latin typeface="Calibri"/>
              </a:rPr>
              <a:t>We simulated the feeds behind the same interfaces, so everything after the feed is the real pipeline.</a:t>
            </a:r>
          </a:p>
        </p:txBody>
      </p:sp>
      <p:sp>
        <p:nvSpPr>
          <p:cNvPr id="38" name="TextBox 37"/>
          <p:cNvSpPr txBox="1"/>
          <p:nvPr/>
        </p:nvSpPr>
        <p:spPr>
          <a:xfrm>
            <a:off x="6263640" y="5257800"/>
            <a:ext cx="5303520" cy="777240"/>
          </a:xfrm>
          <a:prstGeom prst="rect">
            <a:avLst/>
          </a:prstGeom>
          <a:noFill/>
        </p:spPr>
        <p:txBody>
          <a:bodyPr wrap="square" lIns="0" rIns="0" tIns="0" bIns="0" anchor="t">
            <a:spAutoFit/>
          </a:bodyPr>
          <a:lstStyle/>
          <a:p>
            <a:pPr algn="l">
              <a:spcAft>
                <a:spcPts val="0"/>
              </a:spcAft>
            </a:pPr>
            <a:r>
              <a:rPr sz="1500" b="1">
                <a:solidFill>
                  <a:srgbClr val="0D1B2A"/>
                </a:solidFill>
                <a:latin typeface="Calibri"/>
              </a:rPr>
              <a:t>Sprint 8 closed at 51%. </a:t>
            </a:r>
            <a:r>
              <a:rPr sz="1500" b="0">
                <a:solidFill>
                  <a:srgbClr val="4A6274"/>
                </a:solidFill>
                <a:latin typeface="Calibri"/>
              </a:rPr>
              <a:t>Large stories finished late, so we split them; Sprint 9 delivered 111 of 118 points.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_331"/>
          <p:cNvSpPr txBox="1"/>
          <p:nvPr/>
        </p:nvSpPr>
        <p:spPr>
          <a:xfrm>
            <a:off x="457200" y="411480"/>
            <a:ext cx="9144000" cy="731520"/>
          </a:xfrm>
          <a:prstGeom prst="rect">
            <a:avLst/>
          </a:prstGeom>
          <a:noFill/>
          <a:ln/>
        </p:spPr>
        <p:txBody>
          <a:bodyPr wrap="square" lIns="0" tIns="0" rIns="0" bIns="0"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Today's demo: one bad day</a:t>
            </a:r>
            <a:endParaRPr lang="en-US" sz="3400" dirty="0"/>
          </a:p>
        </p:txBody>
      </p:sp>
      <p:sp>
        <p:nvSpPr>
          <p:cNvPr id="3" name="text_332"/>
          <p:cNvSpPr txBox="1"/>
          <p:nvPr/>
        </p:nvSpPr>
        <p:spPr>
          <a:xfrm>
            <a:off x="457200" y="1188720"/>
            <a:ext cx="9144000" cy="457200"/>
          </a:xfrm>
          <a:prstGeom prst="rect">
            <a:avLst/>
          </a:prstGeom>
          <a:noFill/>
          <a:ln/>
        </p:spPr>
        <p:txBody>
          <a:bodyPr wrap="square" lIns="0" tIns="0" rIns="0" bIns="0" rtlCol="0" anchor="ctr"/>
          <a:lstStyle/>
          <a:p>
            <a:pPr marL="0" indent="0">
              <a:buNone/>
            </a:pPr>
            <a:r>
              <a:rPr lang="en-US" sz="2200" dirty="0">
                <a:solidFill>
                  <a:srgbClr val="BFE8EE"/>
                </a:solidFill>
                <a:latin typeface="Calibri" pitchFamily="34" charset="0"/>
                <a:ea typeface="Calibri" pitchFamily="34" charset="-122"/>
                <a:cs typeface="Calibri" pitchFamily="34" charset="-120"/>
              </a:rPr>
              <a:t>First: two-minute recorded walkthrough</a:t>
            </a:r>
            <a:endParaRPr lang="en-US" sz="2200" dirty="0"/>
          </a:p>
        </p:txBody>
      </p:sp>
      <p:sp>
        <p:nvSpPr>
          <p:cNvPr id="4" name="route"/>
          <p:cNvSpPr/>
          <p:nvPr/>
        </p:nvSpPr>
        <p:spPr>
          <a:xfrm>
            <a:off x="1234440" y="3931920"/>
            <a:ext cx="9692640" cy="0"/>
          </a:xfrm>
          <a:prstGeom prst="line">
            <a:avLst/>
          </a:prstGeom>
          <a:noFill/>
          <a:ln w="50800">
            <a:solidFill>
              <a:srgbClr val="8FA8B8"/>
            </a:solidFill>
            <a:prstDash val="solid"/>
          </a:ln>
        </p:spPr>
        <p:txBody>
          <a:bodyPr/>
          <a:lstStyle/>
          <a:p>
            <a:endParaRPr lang="en-GB"/>
          </a:p>
        </p:txBody>
      </p:sp>
      <p:sp>
        <p:nvSpPr>
          <p:cNvPr id="5" name="stop_333"/>
          <p:cNvSpPr txBox="1"/>
          <p:nvPr/>
        </p:nvSpPr>
        <p:spPr>
          <a:xfrm>
            <a:off x="941832" y="3639312"/>
            <a:ext cx="585216" cy="585216"/>
          </a:xfrm>
          <a:prstGeom prst="ellipse">
            <a:avLst/>
          </a:prstGeom>
          <a:solidFill>
            <a:srgbClr val="FFFFFF"/>
          </a:solidFill>
          <a:ln w="25400">
            <a:solidFill>
              <a:srgbClr val="FFFFFF"/>
            </a:solid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0</a:t>
            </a:r>
            <a:endParaRPr lang="en-US" sz="2000" dirty="0"/>
          </a:p>
        </p:txBody>
      </p:sp>
      <p:sp>
        <p:nvSpPr>
          <p:cNvPr id="6" name="text_334"/>
          <p:cNvSpPr txBox="1"/>
          <p:nvPr/>
        </p:nvSpPr>
        <p:spPr>
          <a:xfrm>
            <a:off x="182880" y="2697480"/>
            <a:ext cx="2103120" cy="777240"/>
          </a:xfrm>
          <a:prstGeom prst="rect">
            <a:avLst/>
          </a:prstGeom>
          <a:noFill/>
          <a:ln/>
        </p:spPr>
        <p:txBody>
          <a:bodyPr wrap="square" lIns="0" tIns="0" rIns="0" bIns="0" rtlCol="0" anchor="b"/>
          <a:lstStyle/>
          <a:p>
            <a:pPr marL="0" indent="0" algn="ctr">
              <a:buNone/>
            </a:pPr>
            <a:r>
              <a:rPr lang="en-US" sz="2000" dirty="0">
                <a:solidFill>
                  <a:srgbClr val="FFFFFF"/>
                </a:solidFill>
                <a:latin typeface="Calibri" pitchFamily="34" charset="0"/>
                <a:ea typeface="Calibri" pitchFamily="34" charset="-122"/>
                <a:cs typeface="Calibri" pitchFamily="34" charset="-120"/>
              </a:rPr>
              <a:t>Wall screen</a:t>
            </a:r>
            <a:endParaRPr lang="en-US" sz="2000" dirty="0"/>
          </a:p>
        </p:txBody>
      </p:sp>
      <p:sp>
        <p:nvSpPr>
          <p:cNvPr id="7" name="stop_335"/>
          <p:cNvSpPr txBox="1"/>
          <p:nvPr/>
        </p:nvSpPr>
        <p:spPr>
          <a:xfrm>
            <a:off x="2153412" y="3639312"/>
            <a:ext cx="585216" cy="585216"/>
          </a:xfrm>
          <a:prstGeom prst="ellipse">
            <a:avLst/>
          </a:prstGeom>
          <a:solidFill>
            <a:srgbClr val="FFFFFF"/>
          </a:solidFill>
          <a:ln w="25400">
            <a:solidFill>
              <a:srgbClr val="FFFFFF"/>
            </a:solid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1</a:t>
            </a:r>
            <a:endParaRPr lang="en-US" sz="2000" dirty="0"/>
          </a:p>
        </p:txBody>
      </p:sp>
      <p:sp>
        <p:nvSpPr>
          <p:cNvPr id="8" name="text_336"/>
          <p:cNvSpPr txBox="1"/>
          <p:nvPr/>
        </p:nvSpPr>
        <p:spPr>
          <a:xfrm>
            <a:off x="1394460" y="4389120"/>
            <a:ext cx="2103120" cy="777240"/>
          </a:xfrm>
          <a:prstGeom prst="rect">
            <a:avLst/>
          </a:prstGeom>
          <a:noFill/>
          <a:ln/>
        </p:spPr>
        <p:txBody>
          <a:bodyPr wrap="square" lIns="0" tIns="0" rIns="0" bIns="0"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Manifest trip</a:t>
            </a:r>
            <a:endParaRPr lang="en-US" sz="2000" dirty="0"/>
          </a:p>
        </p:txBody>
      </p:sp>
      <p:sp>
        <p:nvSpPr>
          <p:cNvPr id="9" name="stop_337"/>
          <p:cNvSpPr txBox="1"/>
          <p:nvPr/>
        </p:nvSpPr>
        <p:spPr>
          <a:xfrm>
            <a:off x="3364992" y="3639312"/>
            <a:ext cx="585216" cy="585216"/>
          </a:xfrm>
          <a:prstGeom prst="ellipse">
            <a:avLst/>
          </a:prstGeom>
          <a:solidFill>
            <a:srgbClr val="FFFFFF"/>
          </a:solidFill>
          <a:ln w="25400">
            <a:solidFill>
              <a:srgbClr val="FFFFFF"/>
            </a:solid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2</a:t>
            </a:r>
            <a:endParaRPr lang="en-US" sz="2000" dirty="0"/>
          </a:p>
        </p:txBody>
      </p:sp>
      <p:sp>
        <p:nvSpPr>
          <p:cNvPr id="10" name="text_338"/>
          <p:cNvSpPr txBox="1"/>
          <p:nvPr/>
        </p:nvSpPr>
        <p:spPr>
          <a:xfrm>
            <a:off x="2606040" y="2697480"/>
            <a:ext cx="2103120" cy="777240"/>
          </a:xfrm>
          <a:prstGeom prst="rect">
            <a:avLst/>
          </a:prstGeom>
          <a:noFill/>
          <a:ln/>
        </p:spPr>
        <p:txBody>
          <a:bodyPr wrap="square" lIns="0" tIns="0" rIns="0" bIns="0" rtlCol="0" anchor="b"/>
          <a:lstStyle/>
          <a:p>
            <a:pPr marL="0" indent="0" algn="ctr">
              <a:buNone/>
            </a:pPr>
            <a:r>
              <a:rPr lang="en-US" sz="2000" dirty="0">
                <a:solidFill>
                  <a:srgbClr val="FFFFFF"/>
                </a:solidFill>
                <a:latin typeface="Calibri" pitchFamily="34" charset="0"/>
                <a:ea typeface="Calibri" pitchFamily="34" charset="-122"/>
                <a:cs typeface="Calibri" pitchFamily="34" charset="-120"/>
              </a:rPr>
              <a:t>Load and depart</a:t>
            </a:r>
            <a:endParaRPr lang="en-US" sz="2000" dirty="0"/>
          </a:p>
        </p:txBody>
      </p:sp>
      <p:sp>
        <p:nvSpPr>
          <p:cNvPr id="11" name="stop_339"/>
          <p:cNvSpPr txBox="1"/>
          <p:nvPr/>
        </p:nvSpPr>
        <p:spPr>
          <a:xfrm>
            <a:off x="4576572" y="3639312"/>
            <a:ext cx="585216" cy="585216"/>
          </a:xfrm>
          <a:prstGeom prst="ellipse">
            <a:avLst/>
          </a:prstGeom>
          <a:solidFill>
            <a:srgbClr val="C0483A"/>
          </a:solidFill>
          <a:ln w="25400">
            <a:solidFill>
              <a:srgbClr val="FFFFFF"/>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2" name="text_340"/>
          <p:cNvSpPr txBox="1"/>
          <p:nvPr/>
        </p:nvSpPr>
        <p:spPr>
          <a:xfrm>
            <a:off x="3817620" y="4389120"/>
            <a:ext cx="2103120" cy="777240"/>
          </a:xfrm>
          <a:prstGeom prst="rect">
            <a:avLst/>
          </a:prstGeom>
          <a:noFill/>
          <a:ln/>
        </p:spPr>
        <p:txBody>
          <a:bodyPr wrap="square" lIns="0" tIns="0" rIns="0" bIns="0"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Trailer separates</a:t>
            </a:r>
            <a:endParaRPr lang="en-US" sz="2000" dirty="0"/>
          </a:p>
        </p:txBody>
      </p:sp>
      <p:sp>
        <p:nvSpPr>
          <p:cNvPr id="13" name="stop_341"/>
          <p:cNvSpPr txBox="1"/>
          <p:nvPr/>
        </p:nvSpPr>
        <p:spPr>
          <a:xfrm>
            <a:off x="5788152" y="3639312"/>
            <a:ext cx="585216" cy="585216"/>
          </a:xfrm>
          <a:prstGeom prst="ellipse">
            <a:avLst/>
          </a:prstGeom>
          <a:solidFill>
            <a:srgbClr val="C0483A"/>
          </a:solidFill>
          <a:ln w="25400">
            <a:solidFill>
              <a:srgbClr val="FFFFFF"/>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14" name="text_342"/>
          <p:cNvSpPr txBox="1"/>
          <p:nvPr/>
        </p:nvSpPr>
        <p:spPr>
          <a:xfrm>
            <a:off x="5029200" y="2697480"/>
            <a:ext cx="2103120" cy="777240"/>
          </a:xfrm>
          <a:prstGeom prst="rect">
            <a:avLst/>
          </a:prstGeom>
          <a:noFill/>
          <a:ln/>
        </p:spPr>
        <p:txBody>
          <a:bodyPr wrap="square" lIns="0" tIns="0" rIns="0" bIns="0" rtlCol="0" anchor="b"/>
          <a:lstStyle/>
          <a:p>
            <a:pPr marL="0" indent="0" algn="ctr">
              <a:buNone/>
            </a:pPr>
            <a:r>
              <a:rPr lang="en-US" sz="2000" dirty="0">
                <a:solidFill>
                  <a:srgbClr val="FFFFFF"/>
                </a:solidFill>
                <a:latin typeface="Calibri" pitchFamily="34" charset="0"/>
                <a:ea typeface="Calibri" pitchFamily="34" charset="-122"/>
                <a:cs typeface="Calibri" pitchFamily="34" charset="-120"/>
              </a:rPr>
              <a:t>Incident</a:t>
            </a:r>
            <a:endParaRPr lang="en-US" sz="2000" dirty="0"/>
          </a:p>
        </p:txBody>
      </p:sp>
      <p:sp>
        <p:nvSpPr>
          <p:cNvPr id="15" name="stop_343"/>
          <p:cNvSpPr txBox="1"/>
          <p:nvPr/>
        </p:nvSpPr>
        <p:spPr>
          <a:xfrm>
            <a:off x="6999732" y="3639312"/>
            <a:ext cx="585216" cy="585216"/>
          </a:xfrm>
          <a:prstGeom prst="ellipse">
            <a:avLst/>
          </a:prstGeom>
          <a:solidFill>
            <a:srgbClr val="FFFFFF"/>
          </a:solidFill>
          <a:ln w="25400">
            <a:solidFill>
              <a:srgbClr val="FFFFFF"/>
            </a:solid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5</a:t>
            </a:r>
            <a:endParaRPr lang="en-US" sz="2000" dirty="0"/>
          </a:p>
        </p:txBody>
      </p:sp>
      <p:sp>
        <p:nvSpPr>
          <p:cNvPr id="16" name="text_344"/>
          <p:cNvSpPr txBox="1"/>
          <p:nvPr/>
        </p:nvSpPr>
        <p:spPr>
          <a:xfrm>
            <a:off x="6240780" y="4389120"/>
            <a:ext cx="2103120" cy="777240"/>
          </a:xfrm>
          <a:prstGeom prst="rect">
            <a:avLst/>
          </a:prstGeom>
          <a:noFill/>
          <a:ln/>
        </p:spPr>
        <p:txBody>
          <a:bodyPr wrap="square" lIns="0" tIns="0" rIns="0" bIns="0"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Re-plan the load</a:t>
            </a:r>
            <a:endParaRPr lang="en-US" sz="2000" dirty="0"/>
          </a:p>
        </p:txBody>
      </p:sp>
      <p:sp>
        <p:nvSpPr>
          <p:cNvPr id="17" name="stop_345"/>
          <p:cNvSpPr txBox="1"/>
          <p:nvPr/>
        </p:nvSpPr>
        <p:spPr>
          <a:xfrm>
            <a:off x="8211312" y="3639312"/>
            <a:ext cx="585216" cy="585216"/>
          </a:xfrm>
          <a:prstGeom prst="ellipse">
            <a:avLst/>
          </a:prstGeom>
          <a:solidFill>
            <a:srgbClr val="FFFFFF"/>
          </a:solidFill>
          <a:ln w="25400">
            <a:solidFill>
              <a:srgbClr val="FFFFFF"/>
            </a:solid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6</a:t>
            </a:r>
            <a:endParaRPr lang="en-US" sz="2000" dirty="0"/>
          </a:p>
        </p:txBody>
      </p:sp>
      <p:sp>
        <p:nvSpPr>
          <p:cNvPr id="18" name="text_346"/>
          <p:cNvSpPr txBox="1"/>
          <p:nvPr/>
        </p:nvSpPr>
        <p:spPr>
          <a:xfrm>
            <a:off x="7452360" y="2697480"/>
            <a:ext cx="2103120" cy="777240"/>
          </a:xfrm>
          <a:prstGeom prst="rect">
            <a:avLst/>
          </a:prstGeom>
          <a:noFill/>
          <a:ln/>
        </p:spPr>
        <p:txBody>
          <a:bodyPr wrap="square" lIns="0" tIns="0" rIns="0" bIns="0" rtlCol="0" anchor="b"/>
          <a:lstStyle/>
          <a:p>
            <a:pPr marL="0" indent="0" algn="ctr">
              <a:buNone/>
            </a:pPr>
            <a:r>
              <a:rPr lang="en-US" sz="2000" dirty="0">
                <a:solidFill>
                  <a:srgbClr val="FFFFFF"/>
                </a:solidFill>
                <a:latin typeface="Calibri" pitchFamily="34" charset="0"/>
                <a:ea typeface="Calibri" pitchFamily="34" charset="-122"/>
                <a:cs typeface="Calibri" pitchFamily="34" charset="-120"/>
              </a:rPr>
              <a:t>Today's map</a:t>
            </a:r>
            <a:endParaRPr lang="en-US" sz="2000" dirty="0"/>
          </a:p>
        </p:txBody>
      </p:sp>
      <p:sp>
        <p:nvSpPr>
          <p:cNvPr id="19" name="stop_347"/>
          <p:cNvSpPr txBox="1"/>
          <p:nvPr/>
        </p:nvSpPr>
        <p:spPr>
          <a:xfrm>
            <a:off x="9422892" y="3639312"/>
            <a:ext cx="585216" cy="585216"/>
          </a:xfrm>
          <a:prstGeom prst="ellipse">
            <a:avLst/>
          </a:prstGeom>
          <a:solidFill>
            <a:srgbClr val="FFFFFF"/>
          </a:solidFill>
          <a:ln w="25400">
            <a:solidFill>
              <a:srgbClr val="FFFFFF"/>
            </a:solidFill>
          </a:ln>
        </p:spPr>
        <p:txBody>
          <a:bodyPr wrap="square" lIns="0" tIns="0" rIns="0" bIns="0" rtlCol="0" anchor="ctr"/>
          <a:lstStyle/>
          <a:p>
            <a:pPr marL="0" indent="0" algn="ctr">
              <a:buNone/>
            </a:pPr>
            <a:r>
              <a:rPr lang="en-US" sz="2000" b="1" dirty="0">
                <a:solidFill>
                  <a:srgbClr val="0D1B2A"/>
                </a:solidFill>
                <a:latin typeface="Calibri" pitchFamily="34" charset="0"/>
                <a:ea typeface="Calibri" pitchFamily="34" charset="-122"/>
                <a:cs typeface="Calibri" pitchFamily="34" charset="-120"/>
              </a:rPr>
              <a:t>7</a:t>
            </a:r>
            <a:endParaRPr lang="en-US" sz="2000" dirty="0"/>
          </a:p>
        </p:txBody>
      </p:sp>
      <p:sp>
        <p:nvSpPr>
          <p:cNvPr id="20" name="text_348"/>
          <p:cNvSpPr txBox="1"/>
          <p:nvPr/>
        </p:nvSpPr>
        <p:spPr>
          <a:xfrm>
            <a:off x="8663940" y="4389120"/>
            <a:ext cx="2103120" cy="777240"/>
          </a:xfrm>
          <a:prstGeom prst="rect">
            <a:avLst/>
          </a:prstGeom>
          <a:noFill/>
          <a:ln/>
        </p:spPr>
        <p:txBody>
          <a:bodyPr wrap="square" lIns="0" tIns="0" rIns="0" bIns="0" rtlCol="0" anchor="t"/>
          <a:lstStyle/>
          <a:p>
            <a:pPr marL="0" indent="0" algn="ctr">
              <a:buNone/>
            </a:pPr>
            <a:r>
              <a:rPr lang="en-US" sz="2000" dirty="0">
                <a:solidFill>
                  <a:srgbClr val="FFFFFF"/>
                </a:solidFill>
                <a:latin typeface="Calibri" pitchFamily="34" charset="0"/>
                <a:ea typeface="Calibri" pitchFamily="34" charset="-122"/>
                <a:cs typeface="Calibri" pitchFamily="34" charset="-120"/>
              </a:rPr>
              <a:t>Phase verified</a:t>
            </a:r>
            <a:endParaRPr lang="en-US" sz="2000" dirty="0"/>
          </a:p>
        </p:txBody>
      </p:sp>
      <p:sp>
        <p:nvSpPr>
          <p:cNvPr id="21" name="stop_349"/>
          <p:cNvSpPr txBox="1"/>
          <p:nvPr/>
        </p:nvSpPr>
        <p:spPr>
          <a:xfrm>
            <a:off x="10634472" y="3639312"/>
            <a:ext cx="585216" cy="585216"/>
          </a:xfrm>
          <a:prstGeom prst="ellipse">
            <a:avLst/>
          </a:prstGeom>
          <a:solidFill>
            <a:srgbClr val="22A4B8"/>
          </a:solidFill>
          <a:ln w="25400">
            <a:solidFill>
              <a:srgbClr val="FFFFFF"/>
            </a:solid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8</a:t>
            </a:r>
            <a:endParaRPr lang="en-US" sz="2000" dirty="0"/>
          </a:p>
        </p:txBody>
      </p:sp>
      <p:sp>
        <p:nvSpPr>
          <p:cNvPr id="22" name="text_350"/>
          <p:cNvSpPr txBox="1"/>
          <p:nvPr/>
        </p:nvSpPr>
        <p:spPr>
          <a:xfrm>
            <a:off x="9875520" y="2697480"/>
            <a:ext cx="2103120" cy="777240"/>
          </a:xfrm>
          <a:prstGeom prst="rect">
            <a:avLst/>
          </a:prstGeom>
          <a:noFill/>
          <a:ln/>
        </p:spPr>
        <p:txBody>
          <a:bodyPr wrap="square" lIns="0" tIns="0" rIns="0" bIns="0" rtlCol="0" anchor="b"/>
          <a:lstStyle/>
          <a:p>
            <a:pPr marL="0" indent="0" algn="ctr">
              <a:buNone/>
            </a:pPr>
            <a:r>
              <a:rPr lang="en-US" sz="2000" b="1" dirty="0">
                <a:solidFill>
                  <a:srgbClr val="FFFFFF"/>
                </a:solidFill>
                <a:latin typeface="Calibri" pitchFamily="34" charset="0"/>
                <a:ea typeface="Calibri" pitchFamily="34" charset="-122"/>
                <a:cs typeface="Calibri" pitchFamily="34" charset="-120"/>
              </a:rPr>
              <a:t>Edited PDF fails</a:t>
            </a:r>
            <a:endParaRPr lang="en-US" sz="20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8FA8B8"/>
                </a:solidFill>
              </a:defRPr>
            </a:lvl1pPr>
          </a:lstStyle>
          <a:p>
            <a:pPr algn="r"/>
            <a:fld id="{F7021451-1387-4CA6-816F-3879F97B5CBC}" type="slidenum">
              <a:rPr lang="en-US" b="0"/>
              <a:t>17</a:t>
            </a:fld>
            <a:endParaRPr lang="en-US"/>
          </a:p>
        </p:txBody>
      </p:sp>
      <p:sp>
        <p:nvSpPr>
          <p:cNvPr id="26" name="TextBox 25"/>
          <p:cNvSpPr txBox="1"/>
          <p:nvPr/>
        </p:nvSpPr>
        <p:spPr>
          <a:xfrm>
            <a:off x="457200" y="5532120"/>
            <a:ext cx="9144000" cy="411480"/>
          </a:xfrm>
          <a:prstGeom prst="rect">
            <a:avLst/>
          </a:prstGeom>
          <a:noFill/>
        </p:spPr>
        <p:txBody>
          <a:bodyPr wrap="square" lIns="0" rIns="0" tIns="0" bIns="0" anchor="t">
            <a:spAutoFit/>
          </a:bodyPr>
          <a:lstStyle/>
          <a:p>
            <a:pPr algn="l">
              <a:spcAft>
                <a:spcPts val="0"/>
              </a:spcAft>
            </a:pPr>
            <a:r>
              <a:rPr sz="1800" b="1">
                <a:solidFill>
                  <a:srgbClr val="8FA8B8"/>
                </a:solidFill>
                <a:latin typeface="Calibri"/>
              </a:rPr>
              <a:t>If time:  </a:t>
            </a:r>
            <a:r>
              <a:rPr sz="1800" b="0">
                <a:solidFill>
                  <a:srgbClr val="C9D5DE"/>
                </a:solidFill>
                <a:latin typeface="Calibri"/>
              </a:rPr>
              <a:t>draw a precinct from an address search</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_351"/>
          <p:cNvSpPr txBox="1"/>
          <p:nvPr/>
        </p:nvSpPr>
        <p:spPr>
          <a:xfrm>
            <a:off x="457200" y="274320"/>
            <a:ext cx="7315200" cy="640080"/>
          </a:xfrm>
          <a:prstGeom prst="rect">
            <a:avLst/>
          </a:prstGeom>
          <a:noFill/>
          <a:ln/>
        </p:spPr>
        <p:txBody>
          <a:bodyPr wrap="square" lIns="0" tIns="0" rIns="0" bIns="0" rtlCol="0" anchor="ctr"/>
          <a:lstStyle/>
          <a:p>
            <a:pPr marL="0" indent="0">
              <a:buNone/>
            </a:pPr>
            <a:r>
              <a:rPr lang="en-US" sz="3000" b="1" dirty="0">
                <a:solidFill>
                  <a:srgbClr val="FFFFFF"/>
                </a:solidFill>
                <a:latin typeface="Calibri" pitchFamily="34" charset="0"/>
                <a:ea typeface="Calibri" pitchFamily="34" charset="-122"/>
                <a:cs typeface="Calibri" pitchFamily="34" charset="-120"/>
              </a:rPr>
              <a:t>Recorded walkthrough</a:t>
            </a:r>
            <a:endParaRPr lang="en-US" sz="3000" dirty="0"/>
          </a:p>
        </p:txBody>
      </p:sp>
      <p:sp>
        <p:nvSpPr>
          <p:cNvPr id="3" name="text_352"/>
          <p:cNvSpPr txBox="1"/>
          <p:nvPr/>
        </p:nvSpPr>
        <p:spPr>
          <a:xfrm>
            <a:off x="5760720" y="274320"/>
            <a:ext cx="5989320" cy="640080"/>
          </a:xfrm>
          <a:prstGeom prst="rect">
            <a:avLst/>
          </a:prstGeom>
          <a:noFill/>
          <a:ln/>
        </p:spPr>
        <p:txBody>
          <a:bodyPr wrap="square" lIns="0" tIns="0" rIns="0" bIns="0" rtlCol="0" anchor="ctr"/>
          <a:lstStyle/>
          <a:p>
            <a:pPr marL="0" indent="0" algn="r">
              <a:buNone/>
            </a:pPr>
            <a:r>
              <a:rPr lang="en-US" sz="1800" dirty="0">
                <a:solidFill>
                  <a:srgbClr val="D5DEE5"/>
                </a:solidFill>
                <a:latin typeface="Calibri" pitchFamily="34" charset="0"/>
                <a:ea typeface="Calibri" pitchFamily="34" charset="-122"/>
                <a:cs typeface="Calibri" pitchFamily="34" charset="-120"/>
              </a:rPr>
              <a:t>Sample data · the live system follows</a:t>
            </a:r>
            <a:endParaRPr lang="en-US" sz="1800" dirty="0"/>
          </a:p>
        </p:txBody>
      </p:sp>
      <p:pic>
        <p:nvPicPr>
          <p:cNvPr id="4" name="walkthrough_video">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1298448" y="1051560"/>
            <a:ext cx="9601200" cy="5400446"/>
          </a:xfrm>
          <a:prstGeom prst="rect">
            <a:avLst/>
          </a:prstGeom>
        </p:spPr>
      </p:pic>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8FA8B8"/>
                </a:solidFill>
              </a:defRPr>
            </a:lvl1pPr>
          </a:lstStyle>
          <a:p>
            <a:pPr algn="r"/>
            <a:fld id="{F7021451-1387-4CA6-816F-3879F97B5CBC}" type="slidenum">
              <a:rPr lang="en-US" b="0"/>
              <a:t>18</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Full class diagram</a:t>
            </a:r>
            <a:endParaRPr lang="en-US" sz="3200" dirty="0"/>
          </a:p>
        </p:txBody>
      </p:sp>
      <p:sp>
        <p:nvSpPr>
          <p:cNvPr id="3" name="kicker_353"/>
          <p:cNvSpPr txBox="1"/>
          <p:nvPr/>
        </p:nvSpPr>
        <p:spPr>
          <a:xfrm>
            <a:off x="10479024" y="475488"/>
            <a:ext cx="125272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BACKUP</a:t>
            </a:r>
            <a:endParaRPr lang="en-US" sz="1600" dirty="0"/>
          </a:p>
        </p:txBody>
      </p:sp>
      <p:pic>
        <p:nvPicPr>
          <p:cNvPr id="4" name="img_fig2.png_354" descr="/tmp/claude-0/-home-claude/31143541-0ec7-5398-affd-e5fcdd8964de/scratchpad/build/img/fig2.png"/>
          <p:cNvPicPr>
            <a:picLocks noChangeAspect="1"/>
          </p:cNvPicPr>
          <p:nvPr/>
        </p:nvPicPr>
        <p:blipFill>
          <a:blip r:embed="rId3"/>
          <a:stretch>
            <a:fillRect/>
          </a:stretch>
        </p:blipFill>
        <p:spPr>
          <a:xfrm>
            <a:off x="365760" y="1143000"/>
            <a:ext cx="6748782" cy="5212080"/>
          </a:xfrm>
          <a:prstGeom prst="rect">
            <a:avLst/>
          </a:prstGeom>
        </p:spPr>
      </p:pic>
      <p:sp>
        <p:nvSpPr>
          <p:cNvPr id="5" name="shape_355"/>
          <p:cNvSpPr/>
          <p:nvPr/>
        </p:nvSpPr>
        <p:spPr>
          <a:xfrm>
            <a:off x="9052560" y="1463040"/>
            <a:ext cx="292608" cy="256032"/>
          </a:xfrm>
          <a:prstGeom prst="rect">
            <a:avLst/>
          </a:prstGeom>
          <a:solidFill>
            <a:srgbClr val="DAE8F5"/>
          </a:solidFill>
          <a:ln w="19050">
            <a:solidFill>
              <a:srgbClr val="4472C4"/>
            </a:solidFill>
            <a:prstDash val="solid"/>
          </a:ln>
        </p:spPr>
        <p:txBody>
          <a:bodyPr/>
          <a:lstStyle/>
          <a:p>
            <a:endParaRPr lang="en-GB"/>
          </a:p>
        </p:txBody>
      </p:sp>
      <p:sp>
        <p:nvSpPr>
          <p:cNvPr id="6" name="text_356"/>
          <p:cNvSpPr txBox="1"/>
          <p:nvPr/>
        </p:nvSpPr>
        <p:spPr>
          <a:xfrm>
            <a:off x="9464040" y="1399032"/>
            <a:ext cx="219456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Changed</a:t>
            </a:r>
            <a:endParaRPr lang="en-US" sz="1800" dirty="0"/>
          </a:p>
        </p:txBody>
      </p:sp>
      <p:sp>
        <p:nvSpPr>
          <p:cNvPr id="7" name="shape_357"/>
          <p:cNvSpPr/>
          <p:nvPr/>
        </p:nvSpPr>
        <p:spPr>
          <a:xfrm>
            <a:off x="9052560" y="1920240"/>
            <a:ext cx="292608" cy="256032"/>
          </a:xfrm>
          <a:prstGeom prst="rect">
            <a:avLst/>
          </a:prstGeom>
          <a:solidFill>
            <a:srgbClr val="F2F2F2"/>
          </a:solidFill>
          <a:ln w="19050">
            <a:solidFill>
              <a:srgbClr val="7F7F7F"/>
            </a:solidFill>
            <a:prstDash val="solid"/>
          </a:ln>
        </p:spPr>
        <p:txBody>
          <a:bodyPr/>
          <a:lstStyle/>
          <a:p>
            <a:endParaRPr lang="en-GB"/>
          </a:p>
        </p:txBody>
      </p:sp>
      <p:sp>
        <p:nvSpPr>
          <p:cNvPr id="8" name="text_358"/>
          <p:cNvSpPr txBox="1"/>
          <p:nvPr/>
        </p:nvSpPr>
        <p:spPr>
          <a:xfrm>
            <a:off x="9464040" y="1856232"/>
            <a:ext cx="219456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Earlier</a:t>
            </a:r>
            <a:endParaRPr lang="en-US" sz="1800" dirty="0"/>
          </a:p>
        </p:txBody>
      </p:sp>
      <p:sp>
        <p:nvSpPr>
          <p:cNvPr id="9" name="text_359"/>
          <p:cNvSpPr txBox="1"/>
          <p:nvPr/>
        </p:nvSpPr>
        <p:spPr>
          <a:xfrm>
            <a:off x="9052560" y="2560320"/>
            <a:ext cx="2651760" cy="457200"/>
          </a:xfrm>
          <a:prstGeom prst="rect">
            <a:avLst/>
          </a:prstGeom>
          <a:noFill/>
          <a:ln/>
        </p:spPr>
        <p:txBody>
          <a:bodyPr wrap="square" lIns="0" tIns="0" rIns="0" bIns="0" rtlCol="0" anchor="ctr"/>
          <a:lstStyle/>
          <a:p>
            <a:pPr marL="0" indent="0">
              <a:buNone/>
            </a:pPr>
            <a:r>
              <a:rPr lang="en-US" sz="1800" dirty="0">
                <a:solidFill>
                  <a:srgbClr val="4A6274"/>
                </a:solidFill>
                <a:latin typeface="Calibri" pitchFamily="34" charset="0"/>
                <a:ea typeface="Calibri" pitchFamily="34" charset="-122"/>
                <a:cs typeface="Calibri" pitchFamily="34" charset="-120"/>
              </a:rPr>
              <a:t>New classes: slide 11</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19</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Database: Iteration 4 tables</a:t>
            </a:r>
            <a:endParaRPr lang="en-US" sz="3200" dirty="0"/>
          </a:p>
        </p:txBody>
      </p:sp>
      <p:sp>
        <p:nvSpPr>
          <p:cNvPr id="3" name="kicker_360"/>
          <p:cNvSpPr txBox="1"/>
          <p:nvPr/>
        </p:nvSpPr>
        <p:spPr>
          <a:xfrm>
            <a:off x="10479024" y="475488"/>
            <a:ext cx="125272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BACKUP</a:t>
            </a:r>
            <a:endParaRPr lang="en-US" sz="1600" dirty="0"/>
          </a:p>
        </p:txBody>
      </p:sp>
      <p:pic>
        <p:nvPicPr>
          <p:cNvPr id="4" name="img_erd_it3.png_361" descr="/tmp/claude-0/-home-claude/31143541-0ec7-5398-affd-e5fcdd8964de/scratchpad/build/img/erd_it3.png"/>
          <p:cNvPicPr>
            <a:picLocks noChangeAspect="1"/>
          </p:cNvPicPr>
          <p:nvPr/>
        </p:nvPicPr>
        <p:blipFill>
          <a:blip r:embed="rId3"/>
          <a:stretch>
            <a:fillRect/>
          </a:stretch>
        </p:blipFill>
        <p:spPr>
          <a:xfrm>
            <a:off x="365760" y="1234440"/>
            <a:ext cx="6949440" cy="3934004"/>
          </a:xfrm>
          <a:prstGeom prst="rect">
            <a:avLst/>
          </a:prstGeom>
        </p:spPr>
      </p:pic>
      <p:sp>
        <p:nvSpPr>
          <p:cNvPr id="5" name="text_362"/>
          <p:cNvSpPr txBox="1"/>
          <p:nvPr/>
        </p:nvSpPr>
        <p:spPr>
          <a:xfrm>
            <a:off x="365760" y="5259884"/>
            <a:ext cx="6949440" cy="411480"/>
          </a:xfrm>
          <a:prstGeom prst="rect">
            <a:avLst/>
          </a:prstGeom>
          <a:noFill/>
          <a:ln/>
        </p:spPr>
        <p:txBody>
          <a:bodyPr wrap="square" lIns="0" tIns="0" rIns="0" bIns="0" rtlCol="0" anchor="ctr"/>
          <a:lstStyle/>
          <a:p>
            <a:pPr marL="0" indent="0">
              <a:buNone/>
            </a:pPr>
            <a:r>
              <a:rPr lang="en-US" sz="1800" b="1" dirty="0">
                <a:solidFill>
                  <a:srgbClr val="4A6274"/>
                </a:solidFill>
                <a:latin typeface="Calibri" pitchFamily="34" charset="0"/>
                <a:ea typeface="Calibri" pitchFamily="34" charset="-122"/>
                <a:cs typeface="Calibri" pitchFamily="34" charset="-120"/>
              </a:rPr>
              <a:t>Core schema shown; Iteration 4 tables listed on the right</a:t>
            </a:r>
            <a:endParaRPr lang="en-US" sz="1800" dirty="0"/>
          </a:p>
        </p:txBody>
      </p:sp>
      <p:sp>
        <p:nvSpPr>
          <p:cNvPr id="6" name="shape_363"/>
          <p:cNvSpPr/>
          <p:nvPr/>
        </p:nvSpPr>
        <p:spPr>
          <a:xfrm>
            <a:off x="7680960" y="1335024"/>
            <a:ext cx="274320" cy="274320"/>
          </a:xfrm>
          <a:prstGeom prst="roundRect">
            <a:avLst>
              <a:gd name="adj" fmla="val 16667"/>
            </a:avLst>
          </a:prstGeom>
          <a:solidFill>
            <a:srgbClr val="FCE6BE"/>
          </a:solidFill>
          <a:ln w="31750">
            <a:solidFill>
              <a:srgbClr val="E8A020"/>
            </a:solidFill>
            <a:prstDash val="solid"/>
          </a:ln>
        </p:spPr>
        <p:txBody>
          <a:bodyPr/>
          <a:lstStyle/>
          <a:p>
            <a:endParaRPr lang="en-GB"/>
          </a:p>
        </p:txBody>
      </p:sp>
      <p:sp>
        <p:nvSpPr>
          <p:cNvPr id="7" name="text_364"/>
          <p:cNvSpPr txBox="1"/>
          <p:nvPr/>
        </p:nvSpPr>
        <p:spPr>
          <a:xfrm>
            <a:off x="8065008" y="1280160"/>
            <a:ext cx="2926080" cy="384048"/>
          </a:xfrm>
          <a:prstGeom prst="rect">
            <a:avLst/>
          </a:prstGeom>
          <a:noFill/>
          <a:ln/>
        </p:spPr>
        <p:txBody>
          <a:bodyPr wrap="square" lIns="0" tIns="0" rIns="0" bIns="0" rtlCol="0" anchor="ctr"/>
          <a:lstStyle/>
          <a:p>
            <a:pPr marL="0" indent="0">
              <a:buNone/>
            </a:pPr>
            <a:r>
              <a:rPr lang="en-US" sz="1800" dirty="0">
                <a:solidFill>
                  <a:srgbClr val="0D1B2A"/>
                </a:solidFill>
                <a:latin typeface="Calibri" pitchFamily="34" charset="0"/>
                <a:ea typeface="Calibri" pitchFamily="34" charset="-122"/>
                <a:cs typeface="Calibri" pitchFamily="34" charset="-120"/>
              </a:rPr>
              <a:t>New tables</a:t>
            </a:r>
            <a:endParaRPr lang="en-US" sz="1800" dirty="0"/>
          </a:p>
        </p:txBody>
      </p:sp>
      <p:sp>
        <p:nvSpPr>
          <p:cNvPr id="8" name="text_365"/>
          <p:cNvSpPr txBox="1"/>
          <p:nvPr/>
        </p:nvSpPr>
        <p:spPr>
          <a:xfrm>
            <a:off x="7680960" y="1828800"/>
            <a:ext cx="4069080" cy="3108960"/>
          </a:xfrm>
          <a:prstGeom prst="rect">
            <a:avLst/>
          </a:prstGeom>
          <a:noFill/>
          <a:ln/>
        </p:spPr>
        <p:txBody>
          <a:bodyPr wrap="square" lIns="0" tIns="0" rIns="0" bIns="0" rtlCol="0" anchor="ctr"/>
          <a:lstStyle/>
          <a:p>
            <a:pPr marL="342900" indent="-342900">
              <a:spcAft>
                <a:spcPts val="600"/>
              </a:spcAft>
              <a:buSzPct val="100000"/>
              <a:buChar char="•"/>
            </a:pPr>
            <a:r>
              <a:rPr lang="en-US" sz="1800" dirty="0">
                <a:solidFill>
                  <a:srgbClr val="0D1B2A"/>
                </a:solidFill>
                <a:latin typeface="Calibri" pitchFamily="34" charset="0"/>
                <a:ea typeface="Calibri" pitchFamily="34" charset="-122"/>
                <a:cs typeface="Calibri" pitchFamily="34" charset="-120"/>
              </a:rPr>
              <a:t>audit_packs (+2)</a:t>
            </a:r>
            <a:endParaRPr lang="en-US" sz="1800" dirty="0"/>
          </a:p>
          <a:p>
            <a:pPr marL="342900" indent="-342900">
              <a:spcAft>
                <a:spcPts val="600"/>
              </a:spcAft>
              <a:buSzPct val="100000"/>
              <a:buChar char="•"/>
            </a:pPr>
            <a:r>
              <a:rPr lang="en-US" sz="1800" dirty="0">
                <a:solidFill>
                  <a:srgbClr val="0D1B2A"/>
                </a:solidFill>
                <a:latin typeface="Calibri" pitchFamily="34" charset="0"/>
                <a:ea typeface="Calibri" pitchFamily="34" charset="-122"/>
                <a:cs typeface="Calibri" pitchFamily="34" charset="-120"/>
              </a:rPr>
              <a:t>incidents (+3)</a:t>
            </a:r>
            <a:endParaRPr lang="en-US" sz="1800" dirty="0"/>
          </a:p>
          <a:p>
            <a:pPr marL="342900" indent="-342900">
              <a:spcAft>
                <a:spcPts val="600"/>
              </a:spcAft>
              <a:buSzPct val="100000"/>
              <a:buChar char="•"/>
            </a:pPr>
            <a:r>
              <a:rPr lang="en-US" sz="1800" dirty="0">
                <a:solidFill>
                  <a:srgbClr val="0D1B2A"/>
                </a:solidFill>
                <a:latin typeface="Calibri" pitchFamily="34" charset="0"/>
                <a:ea typeface="Calibri" pitchFamily="34" charset="-122"/>
                <a:cs typeface="Calibri" pitchFamily="34" charset="-120"/>
              </a:rPr>
              <a:t>incident_declarations</a:t>
            </a:r>
            <a:endParaRPr lang="en-US" sz="1800" dirty="0"/>
          </a:p>
          <a:p>
            <a:pPr marL="342900" indent="-342900">
              <a:spcAft>
                <a:spcPts val="600"/>
              </a:spcAft>
              <a:buSzPct val="100000"/>
              <a:buChar char="•"/>
            </a:pPr>
            <a:r>
              <a:rPr lang="en-US" sz="1800" dirty="0">
                <a:solidFill>
                  <a:srgbClr val="0D1B2A"/>
                </a:solidFill>
                <a:latin typeface="Calibri" pitchFamily="34" charset="0"/>
                <a:ea typeface="Calibri" pitchFamily="34" charset="-122"/>
                <a:cs typeface="Calibri" pitchFamily="34" charset="-120"/>
              </a:rPr>
              <a:t>evidence_anchor_events</a:t>
            </a:r>
            <a:endParaRPr lang="en-US" sz="1800" dirty="0"/>
          </a:p>
          <a:p>
            <a:pPr marL="342900" indent="-342900">
              <a:spcAft>
                <a:spcPts val="600"/>
              </a:spcAft>
              <a:buSzPct val="100000"/>
              <a:buChar char="•"/>
            </a:pPr>
            <a:r>
              <a:rPr lang="en-US" sz="1800" dirty="0">
                <a:solidFill>
                  <a:srgbClr val="0D1B2A"/>
                </a:solidFill>
                <a:latin typeface="Calibri" pitchFamily="34" charset="0"/>
                <a:ea typeface="Calibri" pitchFamily="34" charset="-122"/>
                <a:cs typeface="Calibri" pitchFamily="34" charset="-120"/>
              </a:rPr>
              <a:t>cost_profiles</a:t>
            </a:r>
            <a:endParaRPr lang="en-US" sz="1800" dirty="0"/>
          </a:p>
          <a:p>
            <a:pPr marL="342900" indent="-342900">
              <a:spcAft>
                <a:spcPts val="600"/>
              </a:spcAft>
              <a:buSzPct val="100000"/>
              <a:buChar char="•"/>
            </a:pPr>
            <a:r>
              <a:rPr lang="en-US" sz="1800" dirty="0">
                <a:solidFill>
                  <a:srgbClr val="0D1B2A"/>
                </a:solidFill>
                <a:latin typeface="Calibri" pitchFamily="34" charset="0"/>
                <a:ea typeface="Calibri" pitchFamily="34" charset="-122"/>
                <a:cs typeface="Calibri" pitchFamily="34" charset="-120"/>
              </a:rPr>
              <a:t>driver_substitution_requests (+7)</a:t>
            </a:r>
            <a:endParaRPr lang="en-US" sz="1800" dirty="0"/>
          </a:p>
        </p:txBody>
      </p:sp>
      <p:sp>
        <p:nvSpPr>
          <p:cNvPr id="9" name="shape_366"/>
          <p:cNvSpPr/>
          <p:nvPr/>
        </p:nvSpPr>
        <p:spPr>
          <a:xfrm>
            <a:off x="7680960" y="5074920"/>
            <a:ext cx="4069080" cy="822960"/>
          </a:xfrm>
          <a:prstGeom prst="roundRect">
            <a:avLst>
              <a:gd name="adj" fmla="val 8889"/>
            </a:avLst>
          </a:prstGeom>
          <a:solidFill>
            <a:srgbClr val="F2F6F8"/>
          </a:solidFill>
          <a:ln w="12700">
            <a:solidFill>
              <a:srgbClr val="F2F6F8"/>
            </a:solidFill>
            <a:prstDash val="solid"/>
          </a:ln>
        </p:spPr>
        <p:txBody>
          <a:bodyPr/>
          <a:lstStyle/>
          <a:p>
            <a:endParaRPr lang="en-GB"/>
          </a:p>
        </p:txBody>
      </p:sp>
      <p:sp>
        <p:nvSpPr>
          <p:cNvPr id="10" name="text_367"/>
          <p:cNvSpPr txBox="1"/>
          <p:nvPr/>
        </p:nvSpPr>
        <p:spPr>
          <a:xfrm>
            <a:off x="7863840" y="5074920"/>
            <a:ext cx="3749040" cy="822960"/>
          </a:xfrm>
          <a:prstGeom prst="rect">
            <a:avLst/>
          </a:prstGeom>
          <a:noFill/>
          <a:ln/>
        </p:spPr>
        <p:txBody>
          <a:bodyPr wrap="square" lIns="0" tIns="0" rIns="0" bIns="0" rtlCol="0" anchor="ctr"/>
          <a:lstStyle/>
          <a:p>
            <a:pPr marL="0" indent="0">
              <a:buNone/>
            </a:pPr>
            <a:r>
              <a:rPr lang="en-US" sz="2000" b="1" dirty="0">
                <a:solidFill>
                  <a:srgbClr val="0D1B2A"/>
                </a:solidFill>
                <a:latin typeface="Calibri" pitchFamily="34" charset="0"/>
                <a:ea typeface="Calibri" pitchFamily="34" charset="-122"/>
                <a:cs typeface="Calibri" pitchFamily="34" charset="-120"/>
              </a:rPr>
              <a:t>Every new table: RLS on</a:t>
            </a:r>
            <a:endParaRPr lang="en-US" sz="20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20</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Use-case diagrams</a:t>
            </a:r>
            <a:endParaRPr lang="en-US" sz="3200" dirty="0"/>
          </a:p>
        </p:txBody>
      </p:sp>
      <p:sp>
        <p:nvSpPr>
          <p:cNvPr id="3" name="kicker_368"/>
          <p:cNvSpPr txBox="1"/>
          <p:nvPr/>
        </p:nvSpPr>
        <p:spPr>
          <a:xfrm>
            <a:off x="10479024" y="475488"/>
            <a:ext cx="125272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BACKUP</a:t>
            </a:r>
            <a:endParaRPr lang="en-US" sz="1600" dirty="0"/>
          </a:p>
        </p:txBody>
      </p:sp>
      <p:pic>
        <p:nvPicPr>
          <p:cNvPr id="4" name="img_uc_tlm.png_369" descr="/tmp/claude-0/-home-claude/31143541-0ec7-5398-affd-e5fcdd8964de/scratchpad/build/img/uc_tlm.png"/>
          <p:cNvPicPr>
            <a:picLocks noChangeAspect="1"/>
          </p:cNvPicPr>
          <p:nvPr/>
        </p:nvPicPr>
        <p:blipFill>
          <a:blip r:embed="rId3"/>
          <a:stretch>
            <a:fillRect/>
          </a:stretch>
        </p:blipFill>
        <p:spPr>
          <a:xfrm>
            <a:off x="891540" y="1600200"/>
            <a:ext cx="4526280" cy="4526280"/>
          </a:xfrm>
          <a:prstGeom prst="rect">
            <a:avLst/>
          </a:prstGeom>
        </p:spPr>
      </p:pic>
      <p:pic>
        <p:nvPicPr>
          <p:cNvPr id="5" name="img_uc_cc.png_370" descr="/tmp/claude-0/-home-claude/31143541-0ec7-5398-affd-e5fcdd8964de/scratchpad/build/img/uc_cc.png"/>
          <p:cNvPicPr>
            <a:picLocks noChangeAspect="1"/>
          </p:cNvPicPr>
          <p:nvPr/>
        </p:nvPicPr>
        <p:blipFill>
          <a:blip r:embed="rId4"/>
          <a:stretch>
            <a:fillRect/>
          </a:stretch>
        </p:blipFill>
        <p:spPr>
          <a:xfrm>
            <a:off x="6903565" y="1600200"/>
            <a:ext cx="4297990" cy="4526280"/>
          </a:xfrm>
          <a:prstGeom prst="rect">
            <a:avLst/>
          </a:prstGeom>
        </p:spPr>
      </p:pic>
      <p:sp>
        <p:nvSpPr>
          <p:cNvPr id="6" name="text_371"/>
          <p:cNvSpPr txBox="1"/>
          <p:nvPr/>
        </p:nvSpPr>
        <p:spPr>
          <a:xfrm>
            <a:off x="457200" y="1143000"/>
            <a:ext cx="5394960" cy="411480"/>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Trip Lifecycle Management</a:t>
            </a:r>
            <a:endParaRPr lang="en-US" sz="1800" dirty="0"/>
          </a:p>
        </p:txBody>
      </p:sp>
      <p:sp>
        <p:nvSpPr>
          <p:cNvPr id="7" name="text_372"/>
          <p:cNvSpPr txBox="1"/>
          <p:nvPr/>
        </p:nvSpPr>
        <p:spPr>
          <a:xfrm>
            <a:off x="6355080" y="1143000"/>
            <a:ext cx="5394960" cy="411480"/>
          </a:xfrm>
          <a:prstGeom prst="rect">
            <a:avLst/>
          </a:prstGeom>
          <a:noFill/>
          <a:ln/>
        </p:spPr>
        <p:txBody>
          <a:bodyPr wrap="square" lIns="0" tIns="0" rIns="0" bIns="0" rtlCol="0" anchor="ctr"/>
          <a:lstStyle/>
          <a:p>
            <a:pPr marL="0" indent="0" algn="ctr">
              <a:buNone/>
            </a:pPr>
            <a:r>
              <a:rPr lang="en-US" sz="1800" b="1" dirty="0">
                <a:solidFill>
                  <a:srgbClr val="0D1B2A"/>
                </a:solidFill>
                <a:latin typeface="Calibri" pitchFamily="34" charset="0"/>
                <a:ea typeface="Calibri" pitchFamily="34" charset="-122"/>
                <a:cs typeface="Calibri" pitchFamily="34" charset="-120"/>
              </a:rPr>
              <a:t>Custody Chain Capture</a:t>
            </a:r>
            <a:endParaRPr lang="en-US" sz="1800" dirty="0"/>
          </a:p>
        </p:txBody>
      </p:sp>
      <p:sp>
        <p:nvSpPr>
          <p:cNvPr id="8" name="text_373"/>
          <p:cNvSpPr txBox="1"/>
          <p:nvPr/>
        </p:nvSpPr>
        <p:spPr>
          <a:xfrm>
            <a:off x="457200" y="6053328"/>
            <a:ext cx="11292840" cy="365760"/>
          </a:xfrm>
          <a:prstGeom prst="rect">
            <a:avLst/>
          </a:prstGeom>
          <a:noFill/>
          <a:ln/>
        </p:spPr>
        <p:txBody>
          <a:bodyPr wrap="square" lIns="0" tIns="0" rIns="0" bIns="0" rtlCol="0" anchor="ctr"/>
          <a:lstStyle/>
          <a:p>
            <a:pPr marL="0" indent="0" algn="ctr">
              <a:buNone/>
            </a:pPr>
            <a:r>
              <a:rPr lang="en-US" sz="1800" dirty="0">
                <a:solidFill>
                  <a:srgbClr val="4A6274"/>
                </a:solidFill>
                <a:latin typeface="Calibri" pitchFamily="34" charset="0"/>
                <a:ea typeface="Calibri" pitchFamily="34" charset="-122"/>
                <a:cs typeface="Calibri" pitchFamily="34" charset="-120"/>
              </a:rPr>
              <a:t>Unchanged since Iteration 3; new use cases on slide 12</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21</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Configured values</a:t>
            </a:r>
            <a:endParaRPr lang="en-US" sz="3200" dirty="0"/>
          </a:p>
        </p:txBody>
      </p:sp>
      <p:sp>
        <p:nvSpPr>
          <p:cNvPr id="3" name="kicker_374"/>
          <p:cNvSpPr txBox="1"/>
          <p:nvPr/>
        </p:nvSpPr>
        <p:spPr>
          <a:xfrm>
            <a:off x="10479024" y="475488"/>
            <a:ext cx="125272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BACKUP</a:t>
            </a:r>
            <a:endParaRPr lang="en-US" sz="1600" dirty="0"/>
          </a:p>
        </p:txBody>
      </p:sp>
      <p:sp>
        <p:nvSpPr>
          <p:cNvPr id="4" name="shape_375"/>
          <p:cNvSpPr/>
          <p:nvPr/>
        </p:nvSpPr>
        <p:spPr>
          <a:xfrm>
            <a:off x="457200" y="132588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5" name="text_376"/>
          <p:cNvSpPr txBox="1"/>
          <p:nvPr/>
        </p:nvSpPr>
        <p:spPr>
          <a:xfrm>
            <a:off x="685800" y="137160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20 s</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QR rotation</a:t>
            </a:r>
            <a:endParaRPr lang="en-US" sz="1800" dirty="0"/>
          </a:p>
        </p:txBody>
      </p:sp>
      <p:sp>
        <p:nvSpPr>
          <p:cNvPr id="6" name="shape_377"/>
          <p:cNvSpPr/>
          <p:nvPr/>
        </p:nvSpPr>
        <p:spPr>
          <a:xfrm>
            <a:off x="4251960" y="132588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7" name="text_378"/>
          <p:cNvSpPr txBox="1"/>
          <p:nvPr/>
        </p:nvSpPr>
        <p:spPr>
          <a:xfrm>
            <a:off x="4480560" y="137160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10 min</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Handover link</a:t>
            </a:r>
            <a:endParaRPr lang="en-US" sz="1800" dirty="0"/>
          </a:p>
        </p:txBody>
      </p:sp>
      <p:sp>
        <p:nvSpPr>
          <p:cNvPr id="8" name="shape_379"/>
          <p:cNvSpPr/>
          <p:nvPr/>
        </p:nvSpPr>
        <p:spPr>
          <a:xfrm>
            <a:off x="8046720" y="132588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9" name="text_380"/>
          <p:cNvSpPr txBox="1"/>
          <p:nvPr/>
        </p:nvSpPr>
        <p:spPr>
          <a:xfrm>
            <a:off x="8275320" y="137160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200 m</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Default radius (50 m tolerance)</a:t>
            </a:r>
            <a:endParaRPr lang="en-US" sz="1800" dirty="0"/>
          </a:p>
        </p:txBody>
      </p:sp>
      <p:sp>
        <p:nvSpPr>
          <p:cNvPr id="10" name="shape_381"/>
          <p:cNvSpPr/>
          <p:nvPr/>
        </p:nvSpPr>
        <p:spPr>
          <a:xfrm>
            <a:off x="457200" y="297180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11" name="text_382"/>
          <p:cNvSpPr txBox="1"/>
          <p:nvPr/>
        </p:nvSpPr>
        <p:spPr>
          <a:xfrm>
            <a:off x="685800" y="301752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100 m</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Driver to truck</a:t>
            </a:r>
            <a:endParaRPr lang="en-US" sz="1800" dirty="0"/>
          </a:p>
        </p:txBody>
      </p:sp>
      <p:sp>
        <p:nvSpPr>
          <p:cNvPr id="12" name="shape_383"/>
          <p:cNvSpPr/>
          <p:nvPr/>
        </p:nvSpPr>
        <p:spPr>
          <a:xfrm>
            <a:off x="4251960" y="297180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13" name="text_384"/>
          <p:cNvSpPr txBox="1"/>
          <p:nvPr/>
        </p:nvSpPr>
        <p:spPr>
          <a:xfrm>
            <a:off x="4480560" y="301752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500 m</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Trailer to horse</a:t>
            </a:r>
            <a:endParaRPr lang="en-US" sz="1800" dirty="0"/>
          </a:p>
        </p:txBody>
      </p:sp>
      <p:sp>
        <p:nvSpPr>
          <p:cNvPr id="14" name="shape_385"/>
          <p:cNvSpPr/>
          <p:nvPr/>
        </p:nvSpPr>
        <p:spPr>
          <a:xfrm>
            <a:off x="8046720" y="297180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15" name="text_386"/>
          <p:cNvSpPr txBox="1"/>
          <p:nvPr/>
        </p:nvSpPr>
        <p:spPr>
          <a:xfrm>
            <a:off x="8275320" y="301752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60 s / 300 s</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Position age: phone / trackers</a:t>
            </a:r>
            <a:endParaRPr lang="en-US" sz="1800" dirty="0"/>
          </a:p>
        </p:txBody>
      </p:sp>
      <p:sp>
        <p:nvSpPr>
          <p:cNvPr id="16" name="shape_387"/>
          <p:cNvSpPr/>
          <p:nvPr/>
        </p:nvSpPr>
        <p:spPr>
          <a:xfrm>
            <a:off x="457200" y="461772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17" name="text_388"/>
          <p:cNvSpPr txBox="1"/>
          <p:nvPr/>
        </p:nvSpPr>
        <p:spPr>
          <a:xfrm>
            <a:off x="685800" y="466344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60 s</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Receipt target</a:t>
            </a:r>
            <a:endParaRPr lang="en-US" sz="1800" dirty="0"/>
          </a:p>
        </p:txBody>
      </p:sp>
      <p:sp>
        <p:nvSpPr>
          <p:cNvPr id="18" name="shape_389"/>
          <p:cNvSpPr/>
          <p:nvPr/>
        </p:nvSpPr>
        <p:spPr>
          <a:xfrm>
            <a:off x="4251960" y="461772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19" name="text_390"/>
          <p:cNvSpPr txBox="1"/>
          <p:nvPr/>
        </p:nvSpPr>
        <p:spPr>
          <a:xfrm>
            <a:off x="4480560" y="466344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60 s</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Manifest refresh</a:t>
            </a:r>
            <a:endParaRPr lang="en-US" sz="1800" dirty="0"/>
          </a:p>
        </p:txBody>
      </p:sp>
      <p:sp>
        <p:nvSpPr>
          <p:cNvPr id="20" name="shape_391"/>
          <p:cNvSpPr/>
          <p:nvPr/>
        </p:nvSpPr>
        <p:spPr>
          <a:xfrm>
            <a:off x="8046720" y="4617720"/>
            <a:ext cx="3611880" cy="1481328"/>
          </a:xfrm>
          <a:prstGeom prst="roundRect">
            <a:avLst>
              <a:gd name="adj" fmla="val 6173"/>
            </a:avLst>
          </a:prstGeom>
          <a:solidFill>
            <a:srgbClr val="F2F6F8"/>
          </a:solidFill>
          <a:ln w="12700">
            <a:solidFill>
              <a:srgbClr val="F2F6F8"/>
            </a:solidFill>
            <a:prstDash val="solid"/>
          </a:ln>
        </p:spPr>
        <p:txBody>
          <a:bodyPr/>
          <a:lstStyle/>
          <a:p>
            <a:endParaRPr lang="en-GB"/>
          </a:p>
        </p:txBody>
      </p:sp>
      <p:sp>
        <p:nvSpPr>
          <p:cNvPr id="21" name="text_392"/>
          <p:cNvSpPr txBox="1"/>
          <p:nvPr/>
        </p:nvSpPr>
        <p:spPr>
          <a:xfrm>
            <a:off x="8275320" y="4663440"/>
            <a:ext cx="3200400" cy="1389888"/>
          </a:xfrm>
          <a:prstGeom prst="rect">
            <a:avLst/>
          </a:prstGeom>
          <a:noFill/>
          <a:ln/>
        </p:spPr>
        <p:txBody>
          <a:bodyPr wrap="square" lIns="0" tIns="0" rIns="0" bIns="0" rtlCol="0" anchor="ctr"/>
          <a:lstStyle/>
          <a:p>
            <a:pPr marL="0" indent="0">
              <a:buNone/>
            </a:pPr>
            <a:r>
              <a:rPr lang="en-US" sz="3400" b="1" dirty="0">
                <a:solidFill>
                  <a:srgbClr val="0D1B2A"/>
                </a:solidFill>
                <a:latin typeface="Calibri" pitchFamily="34" charset="0"/>
                <a:ea typeface="Calibri" pitchFamily="34" charset="-122"/>
                <a:cs typeface="Calibri" pitchFamily="34" charset="-120"/>
              </a:rPr>
              <a:t>60 min</a:t>
            </a:r>
            <a:endParaRPr lang="en-US" sz="1800" dirty="0"/>
          </a:p>
          <a:p>
            <a:pPr marL="0" indent="0">
              <a:buNone/>
            </a:pPr>
            <a:r>
              <a:rPr lang="en-US" sz="1800" dirty="0">
                <a:solidFill>
                  <a:srgbClr val="0D1B2A"/>
                </a:solidFill>
                <a:latin typeface="Calibri" pitchFamily="34" charset="0"/>
                <a:ea typeface="Calibri" pitchFamily="34" charset="-122"/>
                <a:cs typeface="Calibri" pitchFamily="34" charset="-120"/>
              </a:rPr>
              <a:t>Idle sign-out</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22</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Receiver confirmation under ECTA</a:t>
            </a:r>
            <a:endParaRPr lang="en-US" sz="3200" dirty="0"/>
          </a:p>
        </p:txBody>
      </p:sp>
      <p:sp>
        <p:nvSpPr>
          <p:cNvPr id="3" name="kicker_393"/>
          <p:cNvSpPr txBox="1"/>
          <p:nvPr/>
        </p:nvSpPr>
        <p:spPr>
          <a:xfrm>
            <a:off x="10479024" y="475488"/>
            <a:ext cx="125272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BACKUP</a:t>
            </a:r>
            <a:endParaRPr lang="en-US" sz="1600" dirty="0"/>
          </a:p>
        </p:txBody>
      </p:sp>
      <p:sp>
        <p:nvSpPr>
          <p:cNvPr id="4" name="ecta_394"/>
          <p:cNvSpPr txBox="1"/>
          <p:nvPr/>
        </p:nvSpPr>
        <p:spPr>
          <a:xfrm>
            <a:off x="457200" y="1463040"/>
            <a:ext cx="2880360" cy="1005840"/>
          </a:xfrm>
          <a:prstGeom prst="homePlate">
            <a:avLst/>
          </a:prstGeom>
          <a:solidFill>
            <a:srgbClr val="1B7C8A"/>
          </a:solidFill>
          <a:ln w="12700">
            <a:solidFill>
              <a:srgbClr val="FFFFFF"/>
            </a:solidFill>
          </a:ln>
        </p:spPr>
        <p:txBody>
          <a:bodyPr wrap="square" lIns="0" tIns="76200" rIns="5080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Typed name and ID</a:t>
            </a:r>
            <a:endParaRPr lang="en-US" sz="2000" dirty="0"/>
          </a:p>
        </p:txBody>
      </p:sp>
      <p:sp>
        <p:nvSpPr>
          <p:cNvPr id="5" name="ecta_395"/>
          <p:cNvSpPr txBox="1"/>
          <p:nvPr/>
        </p:nvSpPr>
        <p:spPr>
          <a:xfrm>
            <a:off x="3246120" y="1463040"/>
            <a:ext cx="2880360" cy="1005840"/>
          </a:xfrm>
          <a:prstGeom prst="chevron">
            <a:avLst/>
          </a:prstGeom>
          <a:solidFill>
            <a:srgbClr val="1B7C8A"/>
          </a:solidFill>
          <a:ln w="12700">
            <a:solidFill>
              <a:srgbClr val="FFFFFF"/>
            </a:solidFill>
          </a:ln>
        </p:spPr>
        <p:txBody>
          <a:bodyPr wrap="square" lIns="0" tIns="304800" rIns="5080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Swipe</a:t>
            </a:r>
            <a:endParaRPr lang="en-US" sz="2000" dirty="0"/>
          </a:p>
        </p:txBody>
      </p:sp>
      <p:sp>
        <p:nvSpPr>
          <p:cNvPr id="6" name="ecta_396"/>
          <p:cNvSpPr txBox="1"/>
          <p:nvPr/>
        </p:nvSpPr>
        <p:spPr>
          <a:xfrm>
            <a:off x="6035040" y="1463040"/>
            <a:ext cx="2880360" cy="1005840"/>
          </a:xfrm>
          <a:prstGeom prst="chevron">
            <a:avLst/>
          </a:prstGeom>
          <a:solidFill>
            <a:srgbClr val="1B7C8A"/>
          </a:solidFill>
          <a:ln w="12700">
            <a:solidFill>
              <a:srgbClr val="FFFFFF"/>
            </a:solidFill>
          </a:ln>
        </p:spPr>
        <p:txBody>
          <a:bodyPr wrap="square" lIns="0" tIns="304800" rIns="5080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Time and position</a:t>
            </a:r>
            <a:endParaRPr lang="en-US" sz="2000" dirty="0"/>
          </a:p>
        </p:txBody>
      </p:sp>
      <p:sp>
        <p:nvSpPr>
          <p:cNvPr id="7" name="ecta_397"/>
          <p:cNvSpPr txBox="1"/>
          <p:nvPr/>
        </p:nvSpPr>
        <p:spPr>
          <a:xfrm>
            <a:off x="8823960" y="1463040"/>
            <a:ext cx="2880360" cy="1005840"/>
          </a:xfrm>
          <a:prstGeom prst="chevron">
            <a:avLst/>
          </a:prstGeom>
          <a:solidFill>
            <a:srgbClr val="0D1B2A"/>
          </a:solidFill>
          <a:ln w="12700">
            <a:solidFill>
              <a:srgbClr val="FFFFFF"/>
            </a:solidFill>
          </a:ln>
        </p:spPr>
        <p:txBody>
          <a:bodyPr wrap="square" lIns="0" tIns="304800" rIns="5080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Anchored fingerprint</a:t>
            </a:r>
            <a:endParaRPr lang="en-US" sz="2000" dirty="0"/>
          </a:p>
        </p:txBody>
      </p:sp>
      <p:sp>
        <p:nvSpPr>
          <p:cNvPr id="8" name="shape_398"/>
          <p:cNvSpPr/>
          <p:nvPr/>
        </p:nvSpPr>
        <p:spPr>
          <a:xfrm>
            <a:off x="457200" y="2926080"/>
            <a:ext cx="11292840" cy="868680"/>
          </a:xfrm>
          <a:prstGeom prst="roundRect">
            <a:avLst>
              <a:gd name="adj" fmla="val 8421"/>
            </a:avLst>
          </a:prstGeom>
          <a:solidFill>
            <a:srgbClr val="F2F6F8"/>
          </a:solidFill>
          <a:ln w="12700">
            <a:solidFill>
              <a:srgbClr val="F2F6F8"/>
            </a:solidFill>
            <a:prstDash val="solid"/>
          </a:ln>
        </p:spPr>
        <p:txBody>
          <a:bodyPr/>
          <a:lstStyle/>
          <a:p>
            <a:endParaRPr lang="en-GB"/>
          </a:p>
        </p:txBody>
      </p:sp>
      <p:sp>
        <p:nvSpPr>
          <p:cNvPr id="9" name="text_399"/>
          <p:cNvSpPr txBox="1"/>
          <p:nvPr/>
        </p:nvSpPr>
        <p:spPr>
          <a:xfrm>
            <a:off x="731520" y="2926080"/>
            <a:ext cx="8229600" cy="86868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Ordinary electronic signature</a:t>
            </a:r>
            <a:endParaRPr lang="en-US" sz="2400" dirty="0"/>
          </a:p>
        </p:txBody>
      </p:sp>
      <p:sp>
        <p:nvSpPr>
          <p:cNvPr id="10" name="text_400"/>
          <p:cNvSpPr txBox="1"/>
          <p:nvPr/>
        </p:nvSpPr>
        <p:spPr>
          <a:xfrm>
            <a:off x="9418320" y="2926080"/>
            <a:ext cx="2103120" cy="868680"/>
          </a:xfrm>
          <a:prstGeom prst="rect">
            <a:avLst/>
          </a:prstGeom>
          <a:noFill/>
          <a:ln/>
        </p:spPr>
        <p:txBody>
          <a:bodyPr wrap="square" lIns="0" tIns="0" rIns="0" bIns="0" rtlCol="0" anchor="ctr"/>
          <a:lstStyle/>
          <a:p>
            <a:pPr marL="0" indent="0" algn="r">
              <a:buNone/>
            </a:pPr>
            <a:r>
              <a:rPr lang="en-US" sz="2000" dirty="0">
                <a:solidFill>
                  <a:srgbClr val="4A6274"/>
                </a:solidFill>
                <a:latin typeface="Calibri" pitchFamily="34" charset="0"/>
                <a:ea typeface="Calibri" pitchFamily="34" charset="-122"/>
                <a:cs typeface="Calibri" pitchFamily="34" charset="-120"/>
              </a:rPr>
              <a:t>s. 13(3)</a:t>
            </a:r>
            <a:endParaRPr lang="en-US" sz="2000" dirty="0"/>
          </a:p>
        </p:txBody>
      </p:sp>
      <p:sp>
        <p:nvSpPr>
          <p:cNvPr id="11" name="shape_401"/>
          <p:cNvSpPr/>
          <p:nvPr/>
        </p:nvSpPr>
        <p:spPr>
          <a:xfrm>
            <a:off x="457200" y="3950208"/>
            <a:ext cx="11292840" cy="868680"/>
          </a:xfrm>
          <a:prstGeom prst="roundRect">
            <a:avLst>
              <a:gd name="adj" fmla="val 8421"/>
            </a:avLst>
          </a:prstGeom>
          <a:solidFill>
            <a:srgbClr val="F2F6F8"/>
          </a:solidFill>
          <a:ln w="12700">
            <a:solidFill>
              <a:srgbClr val="F2F6F8"/>
            </a:solidFill>
            <a:prstDash val="solid"/>
          </a:ln>
        </p:spPr>
        <p:txBody>
          <a:bodyPr/>
          <a:lstStyle/>
          <a:p>
            <a:endParaRPr lang="en-GB"/>
          </a:p>
        </p:txBody>
      </p:sp>
      <p:sp>
        <p:nvSpPr>
          <p:cNvPr id="12" name="text_402"/>
          <p:cNvSpPr txBox="1"/>
          <p:nvPr/>
        </p:nvSpPr>
        <p:spPr>
          <a:xfrm>
            <a:off x="731520" y="3950208"/>
            <a:ext cx="8229600" cy="86868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Advanced signature not required</a:t>
            </a:r>
            <a:endParaRPr lang="en-US" sz="2400" dirty="0"/>
          </a:p>
        </p:txBody>
      </p:sp>
      <p:sp>
        <p:nvSpPr>
          <p:cNvPr id="13" name="text_403"/>
          <p:cNvSpPr txBox="1"/>
          <p:nvPr/>
        </p:nvSpPr>
        <p:spPr>
          <a:xfrm>
            <a:off x="9418320" y="3950208"/>
            <a:ext cx="2103120" cy="868680"/>
          </a:xfrm>
          <a:prstGeom prst="rect">
            <a:avLst/>
          </a:prstGeom>
          <a:noFill/>
          <a:ln/>
        </p:spPr>
        <p:txBody>
          <a:bodyPr wrap="square" lIns="0" tIns="0" rIns="0" bIns="0" rtlCol="0" anchor="ctr"/>
          <a:lstStyle/>
          <a:p>
            <a:pPr marL="0" indent="0" algn="r">
              <a:buNone/>
            </a:pPr>
            <a:r>
              <a:rPr lang="en-US" sz="2000" dirty="0">
                <a:solidFill>
                  <a:srgbClr val="4A6274"/>
                </a:solidFill>
                <a:latin typeface="Calibri" pitchFamily="34" charset="0"/>
                <a:ea typeface="Calibri" pitchFamily="34" charset="-122"/>
                <a:cs typeface="Calibri" pitchFamily="34" charset="-120"/>
              </a:rPr>
              <a:t>s. 13(1)</a:t>
            </a:r>
            <a:endParaRPr lang="en-US" sz="2000" dirty="0"/>
          </a:p>
        </p:txBody>
      </p:sp>
      <p:sp>
        <p:nvSpPr>
          <p:cNvPr id="14" name="shape_404"/>
          <p:cNvSpPr/>
          <p:nvPr/>
        </p:nvSpPr>
        <p:spPr>
          <a:xfrm>
            <a:off x="457200" y="4974336"/>
            <a:ext cx="11292840" cy="868680"/>
          </a:xfrm>
          <a:prstGeom prst="roundRect">
            <a:avLst>
              <a:gd name="adj" fmla="val 8421"/>
            </a:avLst>
          </a:prstGeom>
          <a:solidFill>
            <a:srgbClr val="F2F6F8"/>
          </a:solidFill>
          <a:ln w="12700">
            <a:solidFill>
              <a:srgbClr val="F2F6F8"/>
            </a:solidFill>
            <a:prstDash val="solid"/>
          </a:ln>
        </p:spPr>
        <p:txBody>
          <a:bodyPr/>
          <a:lstStyle/>
          <a:p>
            <a:endParaRPr lang="en-GB"/>
          </a:p>
        </p:txBody>
      </p:sp>
      <p:sp>
        <p:nvSpPr>
          <p:cNvPr id="15" name="text_405"/>
          <p:cNvSpPr txBox="1"/>
          <p:nvPr/>
        </p:nvSpPr>
        <p:spPr>
          <a:xfrm>
            <a:off x="731520" y="4974336"/>
            <a:ext cx="8229600" cy="868680"/>
          </a:xfrm>
          <a:prstGeom prst="rect">
            <a:avLst/>
          </a:prstGeom>
          <a:noFill/>
          <a:ln/>
        </p:spPr>
        <p:txBody>
          <a:bodyPr wrap="square" lIns="0" tIns="0" rIns="0" bIns="0" rtlCol="0" anchor="ctr"/>
          <a:lstStyle/>
          <a:p>
            <a:pPr marL="0" indent="0">
              <a:buNone/>
            </a:pPr>
            <a:r>
              <a:rPr lang="en-US" sz="2400" dirty="0">
                <a:solidFill>
                  <a:srgbClr val="0D1B2A"/>
                </a:solidFill>
                <a:latin typeface="Calibri" pitchFamily="34" charset="0"/>
                <a:ea typeface="Calibri" pitchFamily="34" charset="-122"/>
                <a:cs typeface="Calibri" pitchFamily="34" charset="-120"/>
              </a:rPr>
              <a:t>Our reading, not legal advice</a:t>
            </a:r>
            <a:endParaRPr lang="en-US" sz="2400" dirty="0"/>
          </a:p>
        </p:txBody>
      </p:sp>
      <p:sp>
        <p:nvSpPr>
          <p:cNvPr id="16" name="text_406"/>
          <p:cNvSpPr txBox="1"/>
          <p:nvPr/>
        </p:nvSpPr>
        <p:spPr>
          <a:xfrm>
            <a:off x="9418320" y="4974336"/>
            <a:ext cx="2103120" cy="868680"/>
          </a:xfrm>
          <a:prstGeom prst="rect">
            <a:avLst/>
          </a:prstGeom>
          <a:noFill/>
          <a:ln/>
        </p:spPr>
        <p:txBody>
          <a:bodyPr wrap="square" lIns="0" tIns="0" rIns="0" bIns="0" rtlCol="0" anchor="ctr"/>
          <a:lstStyle/>
          <a:p>
            <a:pPr marL="0" indent="0" algn="r">
              <a:buNone/>
            </a:pPr>
            <a:r>
              <a:rPr lang="en-US" sz="2000" dirty="0">
                <a:solidFill>
                  <a:srgbClr val="4A6274"/>
                </a:solidFill>
                <a:latin typeface="Calibri" pitchFamily="34" charset="0"/>
                <a:ea typeface="Calibri" pitchFamily="34" charset="-122"/>
                <a:cs typeface="Calibri" pitchFamily="34" charset="-120"/>
              </a:rPr>
              <a:t>§7.4</a:t>
            </a:r>
            <a:endParaRPr lang="en-US" sz="20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23</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Receiver identity options</a:t>
            </a:r>
            <a:endParaRPr lang="en-US" sz="3200" dirty="0"/>
          </a:p>
        </p:txBody>
      </p:sp>
      <p:sp>
        <p:nvSpPr>
          <p:cNvPr id="3" name="kicker_407"/>
          <p:cNvSpPr txBox="1"/>
          <p:nvPr/>
        </p:nvSpPr>
        <p:spPr>
          <a:xfrm>
            <a:off x="10479024" y="475488"/>
            <a:ext cx="125272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BACKUP</a:t>
            </a:r>
            <a:endParaRPr lang="en-US" sz="1600" dirty="0"/>
          </a:p>
        </p:txBody>
      </p:sp>
      <p:sp>
        <p:nvSpPr>
          <p:cNvPr id="4" name="shape_408"/>
          <p:cNvSpPr/>
          <p:nvPr/>
        </p:nvSpPr>
        <p:spPr>
          <a:xfrm>
            <a:off x="457200" y="1371600"/>
            <a:ext cx="11292840" cy="1005840"/>
          </a:xfrm>
          <a:prstGeom prst="roundRect">
            <a:avLst>
              <a:gd name="adj" fmla="val 7273"/>
            </a:avLst>
          </a:prstGeom>
          <a:solidFill>
            <a:srgbClr val="F2F6F8"/>
          </a:solidFill>
          <a:ln w="19050">
            <a:solidFill>
              <a:srgbClr val="F2F6F8"/>
            </a:solidFill>
            <a:prstDash val="solid"/>
          </a:ln>
        </p:spPr>
        <p:txBody>
          <a:bodyPr/>
          <a:lstStyle/>
          <a:p>
            <a:endParaRPr lang="en-GB"/>
          </a:p>
        </p:txBody>
      </p:sp>
      <p:sp>
        <p:nvSpPr>
          <p:cNvPr id="5" name="text_409"/>
          <p:cNvSpPr txBox="1"/>
          <p:nvPr/>
        </p:nvSpPr>
        <p:spPr>
          <a:xfrm>
            <a:off x="731520" y="1371600"/>
            <a:ext cx="4754880" cy="10058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Typed name and ID</a:t>
            </a:r>
            <a:endParaRPr lang="en-US" sz="2400" dirty="0"/>
          </a:p>
        </p:txBody>
      </p:sp>
      <p:sp>
        <p:nvSpPr>
          <p:cNvPr id="6" name="chip_Built_410"/>
          <p:cNvSpPr txBox="1"/>
          <p:nvPr/>
        </p:nvSpPr>
        <p:spPr>
          <a:xfrm>
            <a:off x="5577840" y="1682496"/>
            <a:ext cx="960120" cy="384048"/>
          </a:xfrm>
          <a:prstGeom prst="roundRect">
            <a:avLst>
              <a:gd name="adj" fmla="val 50000"/>
            </a:avLst>
          </a:prstGeom>
          <a:solidFill>
            <a:srgbClr val="DDF3E6"/>
          </a:solidFill>
          <a:ln w="15875">
            <a:solidFill>
              <a:srgbClr val="1FAD6E"/>
            </a:solidFill>
            <a:prstDash val="solid"/>
          </a:ln>
        </p:spPr>
        <p:txBody>
          <a:bodyPr wrap="square" lIns="0" tIns="0" rIns="0" bIns="0" rtlCol="0" anchor="ctr"/>
          <a:lstStyle/>
          <a:p>
            <a:pPr marL="0" indent="0" algn="ctr">
              <a:buNone/>
            </a:pPr>
            <a:r>
              <a:rPr lang="en-US" sz="1800" b="1" dirty="0">
                <a:solidFill>
                  <a:srgbClr val="0F6B3E"/>
                </a:solidFill>
                <a:latin typeface="Calibri" pitchFamily="34" charset="0"/>
                <a:ea typeface="Calibri" pitchFamily="34" charset="-122"/>
                <a:cs typeface="Calibri" pitchFamily="34" charset="-120"/>
              </a:rPr>
              <a:t>Built</a:t>
            </a:r>
            <a:endParaRPr lang="en-US" sz="1800" dirty="0"/>
          </a:p>
        </p:txBody>
      </p:sp>
      <p:sp>
        <p:nvSpPr>
          <p:cNvPr id="7" name="text_411"/>
          <p:cNvSpPr txBox="1"/>
          <p:nvPr/>
        </p:nvSpPr>
        <p:spPr>
          <a:xfrm>
            <a:off x="7132320" y="1371600"/>
            <a:ext cx="4389120" cy="1005840"/>
          </a:xfrm>
          <a:prstGeom prst="rect">
            <a:avLst/>
          </a:prstGeom>
          <a:noFill/>
          <a:ln/>
        </p:spPr>
        <p:txBody>
          <a:bodyPr wrap="square" lIns="0" tIns="0" rIns="0" bIns="0" rtlCol="0" anchor="ctr"/>
          <a:lstStyle/>
          <a:p>
            <a:pPr marL="0" indent="0">
              <a:buNone/>
            </a:pPr>
            <a:r>
              <a:rPr lang="en-US" sz="2200" dirty="0">
                <a:solidFill>
                  <a:srgbClr val="0D1B2A"/>
                </a:solidFill>
                <a:latin typeface="Calibri" pitchFamily="34" charset="0"/>
                <a:ea typeface="Calibri" pitchFamily="34" charset="-122"/>
                <a:cs typeface="Calibri" pitchFamily="34" charset="-120"/>
              </a:rPr>
              <a:t>every receiver</a:t>
            </a:r>
            <a:endParaRPr lang="en-US" sz="2200" dirty="0"/>
          </a:p>
        </p:txBody>
      </p:sp>
      <p:sp>
        <p:nvSpPr>
          <p:cNvPr id="8" name="shape_412"/>
          <p:cNvSpPr/>
          <p:nvPr/>
        </p:nvSpPr>
        <p:spPr>
          <a:xfrm>
            <a:off x="457200" y="2560320"/>
            <a:ext cx="11292840" cy="1005840"/>
          </a:xfrm>
          <a:prstGeom prst="roundRect">
            <a:avLst>
              <a:gd name="adj" fmla="val 7273"/>
            </a:avLst>
          </a:prstGeom>
          <a:solidFill>
            <a:srgbClr val="F2F6F8"/>
          </a:solidFill>
          <a:ln w="19050">
            <a:solidFill>
              <a:srgbClr val="F2F6F8"/>
            </a:solidFill>
            <a:prstDash val="solid"/>
          </a:ln>
        </p:spPr>
        <p:txBody>
          <a:bodyPr/>
          <a:lstStyle/>
          <a:p>
            <a:endParaRPr lang="en-GB"/>
          </a:p>
        </p:txBody>
      </p:sp>
      <p:sp>
        <p:nvSpPr>
          <p:cNvPr id="9" name="text_413"/>
          <p:cNvSpPr txBox="1"/>
          <p:nvPr/>
        </p:nvSpPr>
        <p:spPr>
          <a:xfrm>
            <a:off x="731520" y="2560320"/>
            <a:ext cx="4754880" cy="10058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Didit check</a:t>
            </a:r>
            <a:endParaRPr lang="en-US" sz="2400" dirty="0"/>
          </a:p>
        </p:txBody>
      </p:sp>
      <p:sp>
        <p:nvSpPr>
          <p:cNvPr id="10" name="chip_Built_414"/>
          <p:cNvSpPr txBox="1"/>
          <p:nvPr/>
        </p:nvSpPr>
        <p:spPr>
          <a:xfrm>
            <a:off x="5577840" y="2871216"/>
            <a:ext cx="960120" cy="384048"/>
          </a:xfrm>
          <a:prstGeom prst="roundRect">
            <a:avLst>
              <a:gd name="adj" fmla="val 50000"/>
            </a:avLst>
          </a:prstGeom>
          <a:solidFill>
            <a:srgbClr val="DDF3E6"/>
          </a:solidFill>
          <a:ln w="15875">
            <a:solidFill>
              <a:srgbClr val="1FAD6E"/>
            </a:solidFill>
            <a:prstDash val="solid"/>
          </a:ln>
        </p:spPr>
        <p:txBody>
          <a:bodyPr wrap="square" lIns="0" tIns="0" rIns="0" bIns="0" rtlCol="0" anchor="ctr"/>
          <a:lstStyle/>
          <a:p>
            <a:pPr marL="0" indent="0" algn="ctr">
              <a:buNone/>
            </a:pPr>
            <a:r>
              <a:rPr lang="en-US" sz="1800" b="1" dirty="0">
                <a:solidFill>
                  <a:srgbClr val="0F6B3E"/>
                </a:solidFill>
                <a:latin typeface="Calibri" pitchFamily="34" charset="0"/>
                <a:ea typeface="Calibri" pitchFamily="34" charset="-122"/>
                <a:cs typeface="Calibri" pitchFamily="34" charset="-120"/>
              </a:rPr>
              <a:t>Built</a:t>
            </a:r>
            <a:endParaRPr lang="en-US" sz="1800" dirty="0"/>
          </a:p>
        </p:txBody>
      </p:sp>
      <p:sp>
        <p:nvSpPr>
          <p:cNvPr id="11" name="text_415"/>
          <p:cNvSpPr txBox="1"/>
          <p:nvPr/>
        </p:nvSpPr>
        <p:spPr>
          <a:xfrm>
            <a:off x="7132320" y="2560320"/>
            <a:ext cx="4389120" cy="1005840"/>
          </a:xfrm>
          <a:prstGeom prst="rect">
            <a:avLst/>
          </a:prstGeom>
          <a:noFill/>
          <a:ln/>
        </p:spPr>
        <p:txBody>
          <a:bodyPr wrap="square" lIns="0" tIns="0" rIns="0" bIns="0" rtlCol="0" anchor="ctr"/>
          <a:lstStyle/>
          <a:p>
            <a:pPr marL="0" indent="0">
              <a:buNone/>
            </a:pPr>
            <a:r>
              <a:rPr lang="en-US" sz="2200" dirty="0">
                <a:solidFill>
                  <a:srgbClr val="0D1B2A"/>
                </a:solidFill>
                <a:latin typeface="Calibri" pitchFamily="34" charset="0"/>
                <a:ea typeface="Calibri" pitchFamily="34" charset="-122"/>
                <a:cs typeface="Calibri" pitchFamily="34" charset="-120"/>
              </a:rPr>
              <a:t>optional, never blocks</a:t>
            </a:r>
            <a:endParaRPr lang="en-US" sz="2200" dirty="0"/>
          </a:p>
        </p:txBody>
      </p:sp>
      <p:sp>
        <p:nvSpPr>
          <p:cNvPr id="12" name="shape_416"/>
          <p:cNvSpPr/>
          <p:nvPr/>
        </p:nvSpPr>
        <p:spPr>
          <a:xfrm>
            <a:off x="457200" y="3749040"/>
            <a:ext cx="11292840" cy="1005840"/>
          </a:xfrm>
          <a:prstGeom prst="roundRect">
            <a:avLst>
              <a:gd name="adj" fmla="val 7273"/>
            </a:avLst>
          </a:prstGeom>
          <a:solidFill>
            <a:srgbClr val="F2F6F8"/>
          </a:solidFill>
          <a:ln w="19050">
            <a:solidFill>
              <a:srgbClr val="F2F6F8"/>
            </a:solidFill>
            <a:prstDash val="solid"/>
          </a:ln>
        </p:spPr>
        <p:txBody>
          <a:bodyPr/>
          <a:lstStyle/>
          <a:p>
            <a:endParaRPr lang="en-GB"/>
          </a:p>
        </p:txBody>
      </p:sp>
      <p:sp>
        <p:nvSpPr>
          <p:cNvPr id="13" name="text_417"/>
          <p:cNvSpPr txBox="1"/>
          <p:nvPr/>
        </p:nvSpPr>
        <p:spPr>
          <a:xfrm>
            <a:off x="731520" y="3749040"/>
            <a:ext cx="4754880" cy="10058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Per-consignment check</a:t>
            </a:r>
            <a:endParaRPr lang="en-US" sz="2400" dirty="0"/>
          </a:p>
        </p:txBody>
      </p:sp>
      <p:sp>
        <p:nvSpPr>
          <p:cNvPr id="14" name="chip_Notbuilt_418"/>
          <p:cNvSpPr txBox="1"/>
          <p:nvPr/>
        </p:nvSpPr>
        <p:spPr>
          <a:xfrm>
            <a:off x="5577840" y="4059936"/>
            <a:ext cx="1325880" cy="384048"/>
          </a:xfrm>
          <a:prstGeom prst="roundRect">
            <a:avLst>
              <a:gd name="adj" fmla="val 50000"/>
            </a:avLst>
          </a:prstGeom>
          <a:solidFill>
            <a:srgbClr val="FBE4E1"/>
          </a:solidFill>
          <a:ln w="15875">
            <a:solidFill>
              <a:srgbClr val="C0483A"/>
            </a:solidFill>
            <a:prstDash val="solid"/>
          </a:ln>
        </p:spPr>
        <p:txBody>
          <a:bodyPr wrap="square" lIns="0" tIns="0" rIns="0" bIns="0" rtlCol="0" anchor="ctr"/>
          <a:lstStyle/>
          <a:p>
            <a:pPr marL="0" indent="0" algn="ctr">
              <a:buNone/>
            </a:pPr>
            <a:r>
              <a:rPr lang="en-US" sz="1800" b="1" dirty="0">
                <a:solidFill>
                  <a:srgbClr val="9B2C22"/>
                </a:solidFill>
                <a:latin typeface="Calibri" pitchFamily="34" charset="0"/>
                <a:ea typeface="Calibri" pitchFamily="34" charset="-122"/>
                <a:cs typeface="Calibri" pitchFamily="34" charset="-120"/>
              </a:rPr>
              <a:t>Not built</a:t>
            </a:r>
            <a:endParaRPr lang="en-US" sz="1800" dirty="0"/>
          </a:p>
        </p:txBody>
      </p:sp>
      <p:sp>
        <p:nvSpPr>
          <p:cNvPr id="15" name="text_419"/>
          <p:cNvSpPr txBox="1"/>
          <p:nvPr/>
        </p:nvSpPr>
        <p:spPr>
          <a:xfrm>
            <a:off x="7132320" y="3749040"/>
            <a:ext cx="4389120" cy="1005840"/>
          </a:xfrm>
          <a:prstGeom prst="rect">
            <a:avLst/>
          </a:prstGeom>
          <a:noFill/>
          <a:ln/>
        </p:spPr>
        <p:txBody>
          <a:bodyPr wrap="square" lIns="0" tIns="0" rIns="0" bIns="0" rtlCol="0" anchor="ctr"/>
          <a:lstStyle/>
          <a:p>
            <a:pPr marL="0" indent="0">
              <a:buNone/>
            </a:pPr>
            <a:r>
              <a:rPr lang="en-US" sz="2200" dirty="0">
                <a:solidFill>
                  <a:srgbClr val="0D1B2A"/>
                </a:solidFill>
                <a:latin typeface="Calibri" pitchFamily="34" charset="0"/>
                <a:ea typeface="Calibri" pitchFamily="34" charset="-122"/>
                <a:cs typeface="Calibri" pitchFamily="34" charset="-120"/>
              </a:rPr>
              <a:t>FP-293 designed</a:t>
            </a:r>
            <a:endParaRPr lang="en-US" sz="2200" dirty="0"/>
          </a:p>
        </p:txBody>
      </p:sp>
      <p:sp>
        <p:nvSpPr>
          <p:cNvPr id="16" name="shape_420"/>
          <p:cNvSpPr/>
          <p:nvPr/>
        </p:nvSpPr>
        <p:spPr>
          <a:xfrm>
            <a:off x="457200" y="4937760"/>
            <a:ext cx="11292840" cy="1005840"/>
          </a:xfrm>
          <a:prstGeom prst="roundRect">
            <a:avLst>
              <a:gd name="adj" fmla="val 7273"/>
            </a:avLst>
          </a:prstGeom>
          <a:solidFill>
            <a:srgbClr val="FCE6BE"/>
          </a:solidFill>
          <a:ln w="19050">
            <a:solidFill>
              <a:srgbClr val="E8A020"/>
            </a:solidFill>
            <a:prstDash val="solid"/>
          </a:ln>
        </p:spPr>
        <p:txBody>
          <a:bodyPr/>
          <a:lstStyle/>
          <a:p>
            <a:endParaRPr lang="en-GB"/>
          </a:p>
        </p:txBody>
      </p:sp>
      <p:sp>
        <p:nvSpPr>
          <p:cNvPr id="17" name="text_421"/>
          <p:cNvSpPr txBox="1"/>
          <p:nvPr/>
        </p:nvSpPr>
        <p:spPr>
          <a:xfrm>
            <a:off x="731520" y="4937760"/>
            <a:ext cx="4754880" cy="1005840"/>
          </a:xfrm>
          <a:prstGeom prst="rect">
            <a:avLst/>
          </a:prstGeom>
          <a:noFill/>
          <a:ln/>
        </p:spPr>
        <p:txBody>
          <a:bodyPr wrap="square" lIns="0" tIns="0" rIns="0" bIns="0" rtlCol="0" anchor="ctr"/>
          <a:lstStyle/>
          <a:p>
            <a:pPr marL="0" indent="0">
              <a:buNone/>
            </a:pPr>
            <a:r>
              <a:rPr lang="en-US" sz="2400" b="1" dirty="0">
                <a:solidFill>
                  <a:srgbClr val="0D1B2A"/>
                </a:solidFill>
                <a:latin typeface="Calibri" pitchFamily="34" charset="0"/>
                <a:ea typeface="Calibri" pitchFamily="34" charset="-122"/>
                <a:cs typeface="Calibri" pitchFamily="34" charset="-120"/>
              </a:rPr>
              <a:t>Authorised receivers</a:t>
            </a:r>
            <a:endParaRPr lang="en-US" sz="2400" dirty="0"/>
          </a:p>
        </p:txBody>
      </p:sp>
      <p:sp>
        <p:nvSpPr>
          <p:cNvPr id="18" name="text_422"/>
          <p:cNvSpPr txBox="1"/>
          <p:nvPr/>
        </p:nvSpPr>
        <p:spPr>
          <a:xfrm>
            <a:off x="7132320" y="4937760"/>
            <a:ext cx="4389120" cy="1005840"/>
          </a:xfrm>
          <a:prstGeom prst="rect">
            <a:avLst/>
          </a:prstGeom>
          <a:noFill/>
          <a:ln/>
        </p:spPr>
        <p:txBody>
          <a:bodyPr wrap="square" lIns="0" tIns="0" rIns="0" bIns="0" rtlCol="0" anchor="ctr"/>
          <a:lstStyle/>
          <a:p>
            <a:pPr marL="0" indent="0">
              <a:buNone/>
            </a:pPr>
            <a:r>
              <a:rPr lang="en-US" sz="2200" dirty="0">
                <a:solidFill>
                  <a:srgbClr val="0D1B2A"/>
                </a:solidFill>
                <a:latin typeface="Calibri" pitchFamily="34" charset="0"/>
                <a:ea typeface="Calibri" pitchFamily="34" charset="-122"/>
                <a:cs typeface="Calibri" pitchFamily="34" charset="-120"/>
              </a:rPr>
              <a:t>recommended for pilot</a:t>
            </a:r>
            <a:endParaRPr lang="en-US" sz="2200" dirty="0"/>
          </a:p>
        </p:txBody>
      </p:sp>
      <p:sp>
        <p:nvSpPr>
          <p:cNvPr id="19" name="text_423"/>
          <p:cNvSpPr txBox="1"/>
          <p:nvPr/>
        </p:nvSpPr>
        <p:spPr>
          <a:xfrm>
            <a:off x="457200" y="5897880"/>
            <a:ext cx="11292840" cy="411480"/>
          </a:xfrm>
          <a:prstGeom prst="rect">
            <a:avLst/>
          </a:prstGeom>
          <a:noFill/>
          <a:ln/>
        </p:spPr>
        <p:txBody>
          <a:bodyPr wrap="square" lIns="0" tIns="0" rIns="0" bIns="0" rtlCol="0" anchor="ctr"/>
          <a:lstStyle/>
          <a:p>
            <a:pPr marL="0" indent="0">
              <a:buNone/>
            </a:pPr>
            <a:r>
              <a:rPr lang="en-US" sz="1800" dirty="0">
                <a:solidFill>
                  <a:srgbClr val="4A6274"/>
                </a:solidFill>
                <a:latin typeface="Calibri" pitchFamily="34" charset="0"/>
                <a:ea typeface="Calibri" pitchFamily="34" charset="-122"/>
                <a:cs typeface="Calibri" pitchFamily="34" charset="-120"/>
              </a:rPr>
              <a:t>ID numbers are never anchored and stay in our database</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24</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a:spLocks noGrp="1"/>
          </p:cNvSpPr>
          <p:nvPr>
            <p:ph type="title" idx="102" hasCustomPrompt="1"/>
          </p:nvPr>
        </p:nvSpPr>
        <p:spPr>
          <a:xfrm>
            <a:off x="457200" y="292608"/>
            <a:ext cx="8595360" cy="731520"/>
          </a:xfrm>
          <a:prstGeom prst="rect">
            <a:avLst/>
          </a:prstGeom>
          <a:noFill/>
          <a:ln/>
        </p:spPr>
        <p:txBody>
          <a:bodyPr wrap="square" lIns="0" tIns="0" rIns="0" bIns="0" rtlCol="0" anchor="ctr"/>
          <a:lstStyle/>
          <a:p>
            <a:pPr marL="0" indent="0" algn="l">
              <a:buNone/>
            </a:pPr>
            <a:r>
              <a:rPr lang="en-US" sz="3200" b="1" dirty="0">
                <a:solidFill>
                  <a:srgbClr val="0D1B2A"/>
                </a:solidFill>
                <a:latin typeface="Calibri" pitchFamily="34" charset="0"/>
                <a:ea typeface="Calibri" pitchFamily="34" charset="-122"/>
                <a:cs typeface="Calibri" pitchFamily="34" charset="-120"/>
              </a:rPr>
              <a:t>Sample test cases</a:t>
            </a:r>
            <a:endParaRPr lang="en-US" sz="3200" dirty="0"/>
          </a:p>
        </p:txBody>
      </p:sp>
      <p:sp>
        <p:nvSpPr>
          <p:cNvPr id="3" name="kicker_424"/>
          <p:cNvSpPr txBox="1"/>
          <p:nvPr/>
        </p:nvSpPr>
        <p:spPr>
          <a:xfrm>
            <a:off x="10479024" y="475488"/>
            <a:ext cx="1252728" cy="329184"/>
          </a:xfrm>
          <a:prstGeom prst="roundRect">
            <a:avLst>
              <a:gd name="adj" fmla="val 44444"/>
            </a:avLst>
          </a:prstGeom>
          <a:solidFill>
            <a:srgbClr val="E3F1F3"/>
          </a:solidFill>
          <a:ln>
            <a:solidFill>
              <a:srgbClr val="E3F1F3"/>
            </a:solidFill>
          </a:ln>
        </p:spPr>
        <p:txBody>
          <a:bodyPr wrap="square" lIns="0" tIns="0" rIns="0" bIns="0" rtlCol="0" anchor="ctr"/>
          <a:lstStyle/>
          <a:p>
            <a:pPr marL="0" indent="0" algn="ctr">
              <a:buNone/>
            </a:pPr>
            <a:r>
              <a:rPr lang="en-US" sz="1600" b="1" kern="0" spc="100" dirty="0">
                <a:solidFill>
                  <a:srgbClr val="1B7C8A"/>
                </a:solidFill>
                <a:latin typeface="Calibri" pitchFamily="34" charset="0"/>
                <a:ea typeface="Calibri" pitchFamily="34" charset="-122"/>
                <a:cs typeface="Calibri" pitchFamily="34" charset="-120"/>
              </a:rPr>
              <a:t>BACKUP</a:t>
            </a:r>
            <a:endParaRPr lang="en-US" sz="1600" dirty="0"/>
          </a:p>
        </p:txBody>
      </p:sp>
      <p:sp>
        <p:nvSpPr>
          <p:cNvPr id="4" name="shape_425"/>
          <p:cNvSpPr/>
          <p:nvPr/>
        </p:nvSpPr>
        <p:spPr>
          <a:xfrm>
            <a:off x="457200" y="1371600"/>
            <a:ext cx="5577840" cy="1188720"/>
          </a:xfrm>
          <a:prstGeom prst="roundRect">
            <a:avLst>
              <a:gd name="adj" fmla="val 6154"/>
            </a:avLst>
          </a:prstGeom>
          <a:solidFill>
            <a:srgbClr val="F2F6F8"/>
          </a:solidFill>
          <a:ln w="12700">
            <a:solidFill>
              <a:srgbClr val="F2F6F8"/>
            </a:solidFill>
            <a:prstDash val="solid"/>
          </a:ln>
        </p:spPr>
        <p:txBody>
          <a:bodyPr/>
          <a:lstStyle/>
          <a:p>
            <a:endParaRPr lang="en-GB"/>
          </a:p>
        </p:txBody>
      </p:sp>
      <p:sp>
        <p:nvSpPr>
          <p:cNvPr id="5" name="text_426"/>
          <p:cNvSpPr txBox="1"/>
          <p:nvPr/>
        </p:nvSpPr>
        <p:spPr>
          <a:xfrm>
            <a:off x="685800" y="1371600"/>
            <a:ext cx="4480560" cy="1188720"/>
          </a:xfrm>
          <a:prstGeom prst="rect">
            <a:avLst/>
          </a:prstGeom>
          <a:noFill/>
          <a:ln/>
        </p:spPr>
        <p:txBody>
          <a:bodyPr wrap="square" lIns="0" tIns="0" rIns="0" bIns="0" rtlCol="0" anchor="ctr"/>
          <a:lstStyle/>
          <a:p>
            <a:pPr marL="0" indent="0">
              <a:buNone/>
            </a:pPr>
            <a:r>
              <a:rPr lang="en-US" sz="2200" b="1" dirty="0">
                <a:solidFill>
                  <a:srgbClr val="1B7C8A"/>
                </a:solidFill>
                <a:latin typeface="Calibri" pitchFamily="34" charset="0"/>
                <a:ea typeface="Calibri" pitchFamily="34" charset="-122"/>
                <a:cs typeface="Calibri" pitchFamily="34" charset="-120"/>
              </a:rPr>
              <a:t>TC-02  </a:t>
            </a:r>
            <a:r>
              <a:rPr lang="en-US" sz="2200" dirty="0">
                <a:solidFill>
                  <a:srgbClr val="0D1B2A"/>
                </a:solidFill>
                <a:latin typeface="Calibri" pitchFamily="34" charset="0"/>
                <a:ea typeface="Calibri" pitchFamily="34" charset="-122"/>
                <a:cs typeface="Calibri" pitchFamily="34" charset="-120"/>
              </a:rPr>
              <a:t>Same manifest twice: one trip</a:t>
            </a:r>
            <a:endParaRPr lang="en-US" sz="2200" dirty="0"/>
          </a:p>
        </p:txBody>
      </p:sp>
      <p:sp>
        <p:nvSpPr>
          <p:cNvPr id="6" name="text_427"/>
          <p:cNvSpPr txBox="1"/>
          <p:nvPr/>
        </p:nvSpPr>
        <p:spPr>
          <a:xfrm>
            <a:off x="5029200" y="1371600"/>
            <a:ext cx="822960" cy="1188720"/>
          </a:xfrm>
          <a:prstGeom prst="rect">
            <a:avLst/>
          </a:prstGeom>
          <a:noFill/>
          <a:ln/>
        </p:spPr>
        <p:txBody>
          <a:bodyPr wrap="square" lIns="0" tIns="0" rIns="0" bIns="0" rtlCol="0" anchor="ctr"/>
          <a:lstStyle/>
          <a:p>
            <a:pPr marL="0" indent="0" algn="r">
              <a:buNone/>
            </a:pPr>
            <a:r>
              <a:rPr lang="en-US" sz="2000" b="1" dirty="0">
                <a:solidFill>
                  <a:srgbClr val="0F6B3E"/>
                </a:solidFill>
                <a:latin typeface="Calibri" pitchFamily="34" charset="0"/>
                <a:ea typeface="Calibri" pitchFamily="34" charset="-122"/>
                <a:cs typeface="Calibri" pitchFamily="34" charset="-120"/>
              </a:rPr>
              <a:t>Pass</a:t>
            </a:r>
            <a:endParaRPr lang="en-US" sz="2000" dirty="0"/>
          </a:p>
        </p:txBody>
      </p:sp>
      <p:sp>
        <p:nvSpPr>
          <p:cNvPr id="7" name="shape_428"/>
          <p:cNvSpPr/>
          <p:nvPr/>
        </p:nvSpPr>
        <p:spPr>
          <a:xfrm>
            <a:off x="6172200" y="1371600"/>
            <a:ext cx="5577840" cy="1188720"/>
          </a:xfrm>
          <a:prstGeom prst="roundRect">
            <a:avLst>
              <a:gd name="adj" fmla="val 6154"/>
            </a:avLst>
          </a:prstGeom>
          <a:solidFill>
            <a:srgbClr val="F2F6F8"/>
          </a:solidFill>
          <a:ln w="12700">
            <a:solidFill>
              <a:srgbClr val="F2F6F8"/>
            </a:solidFill>
            <a:prstDash val="solid"/>
          </a:ln>
        </p:spPr>
        <p:txBody>
          <a:bodyPr/>
          <a:lstStyle/>
          <a:p>
            <a:endParaRPr lang="en-GB"/>
          </a:p>
        </p:txBody>
      </p:sp>
      <p:sp>
        <p:nvSpPr>
          <p:cNvPr id="8" name="text_429"/>
          <p:cNvSpPr txBox="1"/>
          <p:nvPr/>
        </p:nvSpPr>
        <p:spPr>
          <a:xfrm>
            <a:off x="6400800" y="1371600"/>
            <a:ext cx="4480560" cy="1188720"/>
          </a:xfrm>
          <a:prstGeom prst="rect">
            <a:avLst/>
          </a:prstGeom>
          <a:noFill/>
          <a:ln/>
        </p:spPr>
        <p:txBody>
          <a:bodyPr wrap="square" lIns="0" tIns="0" rIns="0" bIns="0" rtlCol="0" anchor="ctr"/>
          <a:lstStyle/>
          <a:p>
            <a:pPr marL="0" indent="0">
              <a:buNone/>
            </a:pPr>
            <a:r>
              <a:rPr lang="en-US" sz="2200" b="1" dirty="0">
                <a:solidFill>
                  <a:srgbClr val="1B7C8A"/>
                </a:solidFill>
                <a:latin typeface="Calibri" pitchFamily="34" charset="0"/>
                <a:ea typeface="Calibri" pitchFamily="34" charset="-122"/>
                <a:cs typeface="Calibri" pitchFamily="34" charset="-120"/>
              </a:rPr>
              <a:t>TC-04  </a:t>
            </a:r>
            <a:r>
              <a:rPr lang="en-US" sz="2200" dirty="0">
                <a:solidFill>
                  <a:srgbClr val="0D1B2A"/>
                </a:solidFill>
                <a:latin typeface="Calibri" pitchFamily="34" charset="0"/>
                <a:ea typeface="Calibri" pitchFamily="34" charset="-122"/>
                <a:cs typeface="Calibri" pitchFamily="34" charset="-120"/>
              </a:rPr>
              <a:t>Each action: own receipt</a:t>
            </a:r>
            <a:endParaRPr lang="en-US" sz="2200" dirty="0"/>
          </a:p>
        </p:txBody>
      </p:sp>
      <p:sp>
        <p:nvSpPr>
          <p:cNvPr id="9" name="text_430"/>
          <p:cNvSpPr txBox="1"/>
          <p:nvPr/>
        </p:nvSpPr>
        <p:spPr>
          <a:xfrm>
            <a:off x="10744200" y="1371600"/>
            <a:ext cx="822960" cy="1188720"/>
          </a:xfrm>
          <a:prstGeom prst="rect">
            <a:avLst/>
          </a:prstGeom>
          <a:noFill/>
          <a:ln/>
        </p:spPr>
        <p:txBody>
          <a:bodyPr wrap="square" lIns="0" tIns="0" rIns="0" bIns="0" rtlCol="0" anchor="ctr"/>
          <a:lstStyle/>
          <a:p>
            <a:pPr marL="0" indent="0" algn="r">
              <a:buNone/>
            </a:pPr>
            <a:r>
              <a:rPr lang="en-US" sz="2000" b="1" dirty="0">
                <a:solidFill>
                  <a:srgbClr val="0F6B3E"/>
                </a:solidFill>
                <a:latin typeface="Calibri" pitchFamily="34" charset="0"/>
                <a:ea typeface="Calibri" pitchFamily="34" charset="-122"/>
                <a:cs typeface="Calibri" pitchFamily="34" charset="-120"/>
              </a:rPr>
              <a:t>Pass</a:t>
            </a:r>
            <a:endParaRPr lang="en-US" sz="2000" dirty="0"/>
          </a:p>
        </p:txBody>
      </p:sp>
      <p:sp>
        <p:nvSpPr>
          <p:cNvPr id="10" name="shape_431"/>
          <p:cNvSpPr/>
          <p:nvPr/>
        </p:nvSpPr>
        <p:spPr>
          <a:xfrm>
            <a:off x="457200" y="2788920"/>
            <a:ext cx="5577840" cy="1188720"/>
          </a:xfrm>
          <a:prstGeom prst="roundRect">
            <a:avLst>
              <a:gd name="adj" fmla="val 6154"/>
            </a:avLst>
          </a:prstGeom>
          <a:solidFill>
            <a:srgbClr val="F2F6F8"/>
          </a:solidFill>
          <a:ln w="12700">
            <a:solidFill>
              <a:srgbClr val="F2F6F8"/>
            </a:solidFill>
            <a:prstDash val="solid"/>
          </a:ln>
        </p:spPr>
        <p:txBody>
          <a:bodyPr/>
          <a:lstStyle/>
          <a:p>
            <a:endParaRPr lang="en-GB"/>
          </a:p>
        </p:txBody>
      </p:sp>
      <p:sp>
        <p:nvSpPr>
          <p:cNvPr id="11" name="text_432"/>
          <p:cNvSpPr txBox="1"/>
          <p:nvPr/>
        </p:nvSpPr>
        <p:spPr>
          <a:xfrm>
            <a:off x="685800" y="2788920"/>
            <a:ext cx="4480560" cy="1188720"/>
          </a:xfrm>
          <a:prstGeom prst="rect">
            <a:avLst/>
          </a:prstGeom>
          <a:noFill/>
          <a:ln/>
        </p:spPr>
        <p:txBody>
          <a:bodyPr wrap="square" lIns="0" tIns="0" rIns="0" bIns="0" rtlCol="0" anchor="ctr"/>
          <a:lstStyle/>
          <a:p>
            <a:pPr marL="0" indent="0">
              <a:buNone/>
            </a:pPr>
            <a:r>
              <a:rPr lang="en-US" sz="2200" b="1" dirty="0">
                <a:solidFill>
                  <a:srgbClr val="1B7C8A"/>
                </a:solidFill>
                <a:latin typeface="Calibri" pitchFamily="34" charset="0"/>
                <a:ea typeface="Calibri" pitchFamily="34" charset="-122"/>
                <a:cs typeface="Calibri" pitchFamily="34" charset="-120"/>
              </a:rPr>
              <a:t>TC-06  </a:t>
            </a:r>
            <a:r>
              <a:rPr lang="en-US" sz="2200" dirty="0">
                <a:solidFill>
                  <a:srgbClr val="0D1B2A"/>
                </a:solidFill>
                <a:latin typeface="Calibri" pitchFamily="34" charset="0"/>
                <a:ea typeface="Calibri" pitchFamily="34" charset="-122"/>
                <a:cs typeface="Calibri" pitchFamily="34" charset="-120"/>
              </a:rPr>
              <a:t>Seal mismatch: one critical</a:t>
            </a:r>
            <a:endParaRPr lang="en-US" sz="2200" dirty="0"/>
          </a:p>
        </p:txBody>
      </p:sp>
      <p:sp>
        <p:nvSpPr>
          <p:cNvPr id="12" name="text_433"/>
          <p:cNvSpPr txBox="1"/>
          <p:nvPr/>
        </p:nvSpPr>
        <p:spPr>
          <a:xfrm>
            <a:off x="5029200" y="2788920"/>
            <a:ext cx="822960" cy="1188720"/>
          </a:xfrm>
          <a:prstGeom prst="rect">
            <a:avLst/>
          </a:prstGeom>
          <a:noFill/>
          <a:ln/>
        </p:spPr>
        <p:txBody>
          <a:bodyPr wrap="square" lIns="0" tIns="0" rIns="0" bIns="0" rtlCol="0" anchor="ctr"/>
          <a:lstStyle/>
          <a:p>
            <a:pPr marL="0" indent="0" algn="r">
              <a:buNone/>
            </a:pPr>
            <a:r>
              <a:rPr lang="en-US" sz="2000" b="1" dirty="0">
                <a:solidFill>
                  <a:srgbClr val="0F6B3E"/>
                </a:solidFill>
                <a:latin typeface="Calibri" pitchFamily="34" charset="0"/>
                <a:ea typeface="Calibri" pitchFamily="34" charset="-122"/>
                <a:cs typeface="Calibri" pitchFamily="34" charset="-120"/>
              </a:rPr>
              <a:t>Pass</a:t>
            </a:r>
            <a:endParaRPr lang="en-US" sz="2000" dirty="0"/>
          </a:p>
        </p:txBody>
      </p:sp>
      <p:sp>
        <p:nvSpPr>
          <p:cNvPr id="13" name="shape_434"/>
          <p:cNvSpPr/>
          <p:nvPr/>
        </p:nvSpPr>
        <p:spPr>
          <a:xfrm>
            <a:off x="6172200" y="2788920"/>
            <a:ext cx="5577840" cy="1188720"/>
          </a:xfrm>
          <a:prstGeom prst="roundRect">
            <a:avLst>
              <a:gd name="adj" fmla="val 6154"/>
            </a:avLst>
          </a:prstGeom>
          <a:solidFill>
            <a:srgbClr val="F2F6F8"/>
          </a:solidFill>
          <a:ln w="12700">
            <a:solidFill>
              <a:srgbClr val="F2F6F8"/>
            </a:solidFill>
            <a:prstDash val="solid"/>
          </a:ln>
        </p:spPr>
        <p:txBody>
          <a:bodyPr/>
          <a:lstStyle/>
          <a:p>
            <a:endParaRPr lang="en-GB"/>
          </a:p>
        </p:txBody>
      </p:sp>
      <p:sp>
        <p:nvSpPr>
          <p:cNvPr id="14" name="text_435"/>
          <p:cNvSpPr txBox="1"/>
          <p:nvPr/>
        </p:nvSpPr>
        <p:spPr>
          <a:xfrm>
            <a:off x="6400800" y="2788920"/>
            <a:ext cx="4480560" cy="1188720"/>
          </a:xfrm>
          <a:prstGeom prst="rect">
            <a:avLst/>
          </a:prstGeom>
          <a:noFill/>
          <a:ln/>
        </p:spPr>
        <p:txBody>
          <a:bodyPr wrap="square" lIns="0" tIns="0" rIns="0" bIns="0" rtlCol="0" anchor="ctr"/>
          <a:lstStyle/>
          <a:p>
            <a:pPr marL="0" indent="0">
              <a:buNone/>
            </a:pPr>
            <a:r>
              <a:rPr lang="en-US" sz="2200" b="1" dirty="0">
                <a:solidFill>
                  <a:srgbClr val="1B7C8A"/>
                </a:solidFill>
                <a:latin typeface="Calibri" pitchFamily="34" charset="0"/>
                <a:ea typeface="Calibri" pitchFamily="34" charset="-122"/>
                <a:cs typeface="Calibri" pitchFamily="34" charset="-120"/>
              </a:rPr>
              <a:t>TC-07  </a:t>
            </a:r>
            <a:r>
              <a:rPr lang="en-US" sz="2200" dirty="0">
                <a:solidFill>
                  <a:srgbClr val="0D1B2A"/>
                </a:solidFill>
                <a:latin typeface="Calibri" pitchFamily="34" charset="0"/>
                <a:ea typeface="Calibri" pitchFamily="34" charset="-122"/>
                <a:cs typeface="Calibri" pitchFamily="34" charset="-120"/>
              </a:rPr>
              <a:t>Two reviews: one recorded</a:t>
            </a:r>
            <a:endParaRPr lang="en-US" sz="2200" dirty="0"/>
          </a:p>
        </p:txBody>
      </p:sp>
      <p:sp>
        <p:nvSpPr>
          <p:cNvPr id="15" name="text_436"/>
          <p:cNvSpPr txBox="1"/>
          <p:nvPr/>
        </p:nvSpPr>
        <p:spPr>
          <a:xfrm>
            <a:off x="10744200" y="2788920"/>
            <a:ext cx="822960" cy="1188720"/>
          </a:xfrm>
          <a:prstGeom prst="rect">
            <a:avLst/>
          </a:prstGeom>
          <a:noFill/>
          <a:ln/>
        </p:spPr>
        <p:txBody>
          <a:bodyPr wrap="square" lIns="0" tIns="0" rIns="0" bIns="0" rtlCol="0" anchor="ctr"/>
          <a:lstStyle/>
          <a:p>
            <a:pPr marL="0" indent="0" algn="r">
              <a:buNone/>
            </a:pPr>
            <a:r>
              <a:rPr lang="en-US" sz="2000" b="1" dirty="0">
                <a:solidFill>
                  <a:srgbClr val="0F6B3E"/>
                </a:solidFill>
                <a:latin typeface="Calibri" pitchFamily="34" charset="0"/>
                <a:ea typeface="Calibri" pitchFamily="34" charset="-122"/>
                <a:cs typeface="Calibri" pitchFamily="34" charset="-120"/>
              </a:rPr>
              <a:t>Pass</a:t>
            </a:r>
            <a:endParaRPr lang="en-US" sz="2000" dirty="0"/>
          </a:p>
        </p:txBody>
      </p:sp>
      <p:sp>
        <p:nvSpPr>
          <p:cNvPr id="16" name="shape_437"/>
          <p:cNvSpPr/>
          <p:nvPr/>
        </p:nvSpPr>
        <p:spPr>
          <a:xfrm>
            <a:off x="457200" y="4206240"/>
            <a:ext cx="5577840" cy="1188720"/>
          </a:xfrm>
          <a:prstGeom prst="roundRect">
            <a:avLst>
              <a:gd name="adj" fmla="val 6154"/>
            </a:avLst>
          </a:prstGeom>
          <a:solidFill>
            <a:srgbClr val="F2F6F8"/>
          </a:solidFill>
          <a:ln w="12700">
            <a:solidFill>
              <a:srgbClr val="F2F6F8"/>
            </a:solidFill>
            <a:prstDash val="solid"/>
          </a:ln>
        </p:spPr>
        <p:txBody>
          <a:bodyPr/>
          <a:lstStyle/>
          <a:p>
            <a:endParaRPr lang="en-GB"/>
          </a:p>
        </p:txBody>
      </p:sp>
      <p:sp>
        <p:nvSpPr>
          <p:cNvPr id="17" name="text_438"/>
          <p:cNvSpPr txBox="1"/>
          <p:nvPr/>
        </p:nvSpPr>
        <p:spPr>
          <a:xfrm>
            <a:off x="685800" y="4206240"/>
            <a:ext cx="4480560" cy="1188720"/>
          </a:xfrm>
          <a:prstGeom prst="rect">
            <a:avLst/>
          </a:prstGeom>
          <a:noFill/>
          <a:ln/>
        </p:spPr>
        <p:txBody>
          <a:bodyPr wrap="square" lIns="0" tIns="0" rIns="0" bIns="0" rtlCol="0" anchor="ctr"/>
          <a:lstStyle/>
          <a:p>
            <a:pPr marL="0" indent="0">
              <a:buNone/>
            </a:pPr>
            <a:r>
              <a:rPr lang="en-US" sz="2200" b="1" dirty="0">
                <a:solidFill>
                  <a:srgbClr val="1B7C8A"/>
                </a:solidFill>
                <a:latin typeface="Calibri" pitchFamily="34" charset="0"/>
                <a:ea typeface="Calibri" pitchFamily="34" charset="-122"/>
                <a:cs typeface="Calibri" pitchFamily="34" charset="-120"/>
              </a:rPr>
              <a:t>TC-08  </a:t>
            </a:r>
            <a:r>
              <a:rPr lang="en-US" sz="2200" dirty="0">
                <a:solidFill>
                  <a:srgbClr val="0D1B2A"/>
                </a:solidFill>
                <a:latin typeface="Calibri" pitchFamily="34" charset="0"/>
                <a:ea typeface="Calibri" pitchFamily="34" charset="-122"/>
                <a:cs typeface="Calibri" pitchFamily="34" charset="-120"/>
              </a:rPr>
              <a:t>One QR, two phones: one confirms</a:t>
            </a:r>
            <a:endParaRPr lang="en-US" sz="2200" dirty="0"/>
          </a:p>
        </p:txBody>
      </p:sp>
      <p:sp>
        <p:nvSpPr>
          <p:cNvPr id="18" name="text_439"/>
          <p:cNvSpPr txBox="1"/>
          <p:nvPr/>
        </p:nvSpPr>
        <p:spPr>
          <a:xfrm>
            <a:off x="5029200" y="4206240"/>
            <a:ext cx="822960" cy="1188720"/>
          </a:xfrm>
          <a:prstGeom prst="rect">
            <a:avLst/>
          </a:prstGeom>
          <a:noFill/>
          <a:ln/>
        </p:spPr>
        <p:txBody>
          <a:bodyPr wrap="square" lIns="0" tIns="0" rIns="0" bIns="0" rtlCol="0" anchor="ctr"/>
          <a:lstStyle/>
          <a:p>
            <a:pPr marL="0" indent="0" algn="r">
              <a:buNone/>
            </a:pPr>
            <a:r>
              <a:rPr lang="en-US" sz="2000" b="1" dirty="0">
                <a:solidFill>
                  <a:srgbClr val="0F6B3E"/>
                </a:solidFill>
                <a:latin typeface="Calibri" pitchFamily="34" charset="0"/>
                <a:ea typeface="Calibri" pitchFamily="34" charset="-122"/>
                <a:cs typeface="Calibri" pitchFamily="34" charset="-120"/>
              </a:rPr>
              <a:t>Pass</a:t>
            </a:r>
            <a:endParaRPr lang="en-US" sz="2000" dirty="0"/>
          </a:p>
        </p:txBody>
      </p:sp>
      <p:sp>
        <p:nvSpPr>
          <p:cNvPr id="19" name="shape_440"/>
          <p:cNvSpPr/>
          <p:nvPr/>
        </p:nvSpPr>
        <p:spPr>
          <a:xfrm>
            <a:off x="6172200" y="4206240"/>
            <a:ext cx="5577840" cy="1188720"/>
          </a:xfrm>
          <a:prstGeom prst="roundRect">
            <a:avLst>
              <a:gd name="adj" fmla="val 6154"/>
            </a:avLst>
          </a:prstGeom>
          <a:solidFill>
            <a:srgbClr val="F2F6F8"/>
          </a:solidFill>
          <a:ln w="12700">
            <a:solidFill>
              <a:srgbClr val="F2F6F8"/>
            </a:solidFill>
            <a:prstDash val="solid"/>
          </a:ln>
        </p:spPr>
        <p:txBody>
          <a:bodyPr/>
          <a:lstStyle/>
          <a:p>
            <a:endParaRPr lang="en-GB"/>
          </a:p>
        </p:txBody>
      </p:sp>
      <p:sp>
        <p:nvSpPr>
          <p:cNvPr id="20" name="text_441"/>
          <p:cNvSpPr txBox="1"/>
          <p:nvPr/>
        </p:nvSpPr>
        <p:spPr>
          <a:xfrm>
            <a:off x="6400800" y="4206240"/>
            <a:ext cx="4480560" cy="1188720"/>
          </a:xfrm>
          <a:prstGeom prst="rect">
            <a:avLst/>
          </a:prstGeom>
          <a:noFill/>
          <a:ln/>
        </p:spPr>
        <p:txBody>
          <a:bodyPr wrap="square" lIns="0" tIns="0" rIns="0" bIns="0" rtlCol="0" anchor="ctr"/>
          <a:lstStyle/>
          <a:p>
            <a:pPr marL="0" indent="0">
              <a:buNone/>
            </a:pPr>
            <a:r>
              <a:rPr lang="en-US" sz="2200" b="1" dirty="0">
                <a:solidFill>
                  <a:srgbClr val="1B7C8A"/>
                </a:solidFill>
                <a:latin typeface="Calibri" pitchFamily="34" charset="0"/>
                <a:ea typeface="Calibri" pitchFamily="34" charset="-122"/>
                <a:cs typeface="Calibri" pitchFamily="34" charset="-120"/>
              </a:rPr>
              <a:t>TC-14  </a:t>
            </a:r>
            <a:r>
              <a:rPr lang="en-US" sz="2200" dirty="0">
                <a:solidFill>
                  <a:srgbClr val="0D1B2A"/>
                </a:solidFill>
                <a:latin typeface="Calibri" pitchFamily="34" charset="0"/>
                <a:ea typeface="Calibri" pitchFamily="34" charset="-122"/>
                <a:cs typeface="Calibri" pitchFamily="34" charset="-120"/>
              </a:rPr>
              <a:t>No e-mailed code: refused, logged</a:t>
            </a:r>
            <a:endParaRPr lang="en-US" sz="2200" dirty="0"/>
          </a:p>
        </p:txBody>
      </p:sp>
      <p:sp>
        <p:nvSpPr>
          <p:cNvPr id="21" name="text_442"/>
          <p:cNvSpPr txBox="1"/>
          <p:nvPr/>
        </p:nvSpPr>
        <p:spPr>
          <a:xfrm>
            <a:off x="10744200" y="4206240"/>
            <a:ext cx="822960" cy="1188720"/>
          </a:xfrm>
          <a:prstGeom prst="rect">
            <a:avLst/>
          </a:prstGeom>
          <a:noFill/>
          <a:ln/>
        </p:spPr>
        <p:txBody>
          <a:bodyPr wrap="square" lIns="0" tIns="0" rIns="0" bIns="0" rtlCol="0" anchor="ctr"/>
          <a:lstStyle/>
          <a:p>
            <a:pPr marL="0" indent="0" algn="r">
              <a:buNone/>
            </a:pPr>
            <a:r>
              <a:rPr lang="en-US" sz="2000" b="1" dirty="0">
                <a:solidFill>
                  <a:srgbClr val="0F6B3E"/>
                </a:solidFill>
                <a:latin typeface="Calibri" pitchFamily="34" charset="0"/>
                <a:ea typeface="Calibri" pitchFamily="34" charset="-122"/>
                <a:cs typeface="Calibri" pitchFamily="34" charset="-120"/>
              </a:rPr>
              <a:t>Pass</a:t>
            </a:r>
            <a:endParaRPr lang="en-US" sz="2000" dirty="0"/>
          </a:p>
        </p:txBody>
      </p:sp>
      <p:sp>
        <p:nvSpPr>
          <p:cNvPr id="22" name="text_443"/>
          <p:cNvSpPr txBox="1"/>
          <p:nvPr/>
        </p:nvSpPr>
        <p:spPr>
          <a:xfrm>
            <a:off x="457200" y="5715000"/>
            <a:ext cx="11292840" cy="411480"/>
          </a:xfrm>
          <a:prstGeom prst="rect">
            <a:avLst/>
          </a:prstGeom>
          <a:noFill/>
          <a:ln/>
        </p:spPr>
        <p:txBody>
          <a:bodyPr wrap="square" lIns="0" tIns="0" rIns="0" bIns="0" rtlCol="0" anchor="ctr"/>
          <a:lstStyle/>
          <a:p>
            <a:pPr marL="0" indent="0">
              <a:buNone/>
            </a:pPr>
            <a:r>
              <a:rPr lang="en-US" sz="1800" dirty="0">
                <a:solidFill>
                  <a:srgbClr val="4A6274"/>
                </a:solidFill>
                <a:latin typeface="Calibri" pitchFamily="34" charset="0"/>
                <a:ea typeface="Calibri" pitchFamily="34" charset="-122"/>
                <a:cs typeface="Calibri" pitchFamily="34" charset="-120"/>
              </a:rPr>
              <a:t>Appendix A</a:t>
            </a:r>
            <a:endParaRPr lang="en-US" sz="1800" dirty="0"/>
          </a:p>
        </p:txBody>
      </p:sp>
      <p:sp>
        <p:nvSpPr>
          <p:cNvPr id="25" name="Slide Number Placeholder 0"/>
          <p:cNvSpPr>
            <a:spLocks noGrp="1"/>
          </p:cNvSpPr>
          <p:nvPr>
            <p:ph type="sldNum" sz="quarter" idx="4294967295"/>
          </p:nvPr>
        </p:nvSpPr>
        <p:spPr>
          <a:xfrm>
            <a:off x="11155680" y="6419088"/>
            <a:ext cx="576072" cy="310896"/>
          </a:xfrm>
          <a:prstGeom prst="rect">
            <a:avLst/>
          </a:prstGeom>
          <a:extLst>
            <a:ext uri="{C572A759-6A51-4108-AA02-DFA0A04FC94B}">
              <ma14:wrappingTextBoxFlag xmlns:ma14="http://schemas.microsoft.com/office/mac/drawingml/2011/main" xmlns="" val="0"/>
            </a:ext>
          </a:extLst>
        </p:spPr>
        <p:txBody>
          <a:bodyPr/>
          <a:lstStyle>
            <a:lvl1pPr>
              <a:defRPr sz="1200">
                <a:solidFill>
                  <a:srgbClr val="4A6274"/>
                </a:solidFill>
              </a:defRPr>
            </a:lvl1pPr>
          </a:lstStyle>
          <a:p>
            <a:pPr algn="r"/>
            <a:fld id="{F7021451-1387-4CA6-816F-3879F97B5CBC}" type="slidenum">
              <a:rPr lang="en-US" b="0"/>
              <a:t>25</a:t>
            </a:fld>
            <a:endParaRPr lang="en-US"/>
          </a:p>
        </p:txBody>
      </p:sp>
    </p:spTree>
  </p:cSld>
  <p:clrMapOvr>
    <a:masterClrMapping/>
  </p:clrMapOvr>
</p:sld>
</file>

<file path=ppt/theme/theme1.xml><?xml version="1.0" encoding="utf-8"?>
<a:theme xmlns:a="http://schemas.openxmlformats.org/drawingml/2006/main" name="FreightProof Iteration 4">
  <a:themeElements>
    <a:clrScheme name="FreightProof Iteration 4">
      <a:dk1>
        <a:srgbClr val="0D1B2A"/>
      </a:dk1>
      <a:lt1>
        <a:srgbClr val="FFFFFF"/>
      </a:lt1>
      <a:dk2>
        <a:srgbClr val="132233"/>
      </a:dk2>
      <a:lt2>
        <a:srgbClr val="F2F6F8"/>
      </a:lt2>
      <a:accent1>
        <a:srgbClr val="1B7C8A"/>
      </a:accent1>
      <a:accent2>
        <a:srgbClr val="E8A020"/>
      </a:accent2>
      <a:accent3>
        <a:srgbClr val="22A4B8"/>
      </a:accent3>
      <a:accent4>
        <a:srgbClr val="1FAD6E"/>
      </a:accent4>
      <a:accent5>
        <a:srgbClr val="8FA8B8"/>
      </a:accent5>
      <a:accent6>
        <a:srgbClr val="C0483A"/>
      </a:accent6>
      <a:hlink>
        <a:srgbClr val="1B7C8A"/>
      </a:hlink>
      <a:folHlink>
        <a:srgbClr val="4A6274"/>
      </a:folHlink>
    </a:clrScheme>
    <a:fontScheme name="FreightProof Iteration 4">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CA07DB82222F6A4DA8DB6DD136C2094A" ma:contentTypeVersion="3" ma:contentTypeDescription="Create a new document." ma:contentTypeScope="" ma:versionID="4694164b03cb1d8b2f8f7b69ce75e654">
  <xsd:schema xmlns:xsd="http://www.w3.org/2001/XMLSchema" xmlns:xs="http://www.w3.org/2001/XMLSchema" xmlns:p="http://schemas.microsoft.com/office/2006/metadata/properties" xmlns:ns2="bd46c482-02fc-45b5-931b-650b11cd756f" targetNamespace="http://schemas.microsoft.com/office/2006/metadata/properties" ma:root="true" ma:fieldsID="e156b7d75ee805a584ab56d73341d16a" ns2:_="">
    <xsd:import namespace="bd46c482-02fc-45b5-931b-650b11cd756f"/>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bd46c482-02fc-45b5-931b-650b11cd756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6138389-127E-49E1-9C72-4D098DA5A201}">
  <ds:schemaRefs>
    <ds:schemaRef ds:uri="http://schemas.microsoft.com/sharepoint/v3/contenttype/forms"/>
  </ds:schemaRefs>
</ds:datastoreItem>
</file>

<file path=customXml/itemProps2.xml><?xml version="1.0" encoding="utf-8"?>
<ds:datastoreItem xmlns:ds="http://schemas.openxmlformats.org/officeDocument/2006/customXml" ds:itemID="{F7534B0A-75E1-412B-A4BD-3D7EC676A1F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bd46c482-02fc-45b5-931b-650b11cd756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DB369180-BB38-452E-BA84-BC406ACEA281}">
  <ds:schemaRefs>
    <ds:schemaRef ds:uri="http://purl.org/dc/dcmitype/"/>
    <ds:schemaRef ds:uri="http://purl.org/dc/terms/"/>
    <ds:schemaRef ds:uri="bd46c482-02fc-45b5-931b-650b11cd756f"/>
    <ds:schemaRef ds:uri="http://schemas.microsoft.com/office/2006/documentManagement/types"/>
    <ds:schemaRef ds:uri="http://schemas.microsoft.com/office/infopath/2007/PartnerControls"/>
    <ds:schemaRef ds:uri="http://www.w3.org/XML/1998/namespace"/>
    <ds:schemaRef ds:uri="http://schemas.openxmlformats.org/package/2006/metadata/core-properties"/>
    <ds:schemaRef ds:uri="http://schemas.microsoft.com/office/2006/metadata/properties"/>
    <ds:schemaRef ds:uri="http://purl.org/dc/elements/1.1/"/>
  </ds:schemaRefs>
</ds:datastoreItem>
</file>

<file path=docProps/app.xml><?xml version="1.0" encoding="utf-8"?>
<Properties xmlns="http://schemas.openxmlformats.org/officeDocument/2006/extended-properties" xmlns:vt="http://schemas.openxmlformats.org/officeDocument/2006/docPropsVTypes">
  <TotalTime>9</TotalTime>
  <Words>3168</Words>
  <Application>Microsoft Macintosh PowerPoint</Application>
  <PresentationFormat>Widescreen</PresentationFormat>
  <Paragraphs>468</Paragraphs>
  <Slides>26</Slides>
  <Notes>26</Notes>
  <HiddenSlides>0</HiddenSlides>
  <MMClips>1</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FreightProof Iteration 4</vt:lpstr>
      <vt:lpstr>PowerPoint Presentation</vt:lpstr>
      <vt:lpstr>The handover gap</vt:lpstr>
      <vt:lpstr>Objectives and status</vt:lpstr>
      <vt:lpstr>You asked, we built</vt:lpstr>
      <vt:lpstr>Plan and progress</vt:lpstr>
      <vt:lpstr>Story map: Iteration 4</vt:lpstr>
      <vt:lpstr>Sprints 8 and 9</vt:lpstr>
      <vt:lpstr>Risk register changes</vt:lpstr>
      <vt:lpstr>Deployment architecture</vt:lpstr>
      <vt:lpstr>Package diagram</vt:lpstr>
      <vt:lpstr>Class diagram: Iteration 4 additions</vt:lpstr>
      <vt:lpstr>State machine and use cases</vt:lpstr>
      <vt:lpstr>How we build</vt:lpstr>
      <vt:lpstr>Testing and QA</vt:lpstr>
      <vt:lpstr>AI use</vt:lpstr>
      <vt:lpstr>Status and decisions</vt:lpstr>
      <vt:lpstr>PowerPoint Presentation</vt:lpstr>
      <vt:lpstr>PowerPoint Presentation</vt:lpstr>
      <vt:lpstr>Full class diagram</vt:lpstr>
      <vt:lpstr>Database: Iteration 4 tables</vt:lpstr>
      <vt:lpstr>Use-case diagrams</vt:lpstr>
      <vt:lpstr>Configured values</vt:lpstr>
      <vt:lpstr>Receiver confirmation under ECTA</vt:lpstr>
      <vt:lpstr>Receiver identity options</vt:lpstr>
      <vt:lpstr>Sample test cases</vt:lpstr>
      <vt:lpstr>Full risk register</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FreightProof SA: Iteration 4 Presentation</dc:title>
  <dc:subject>PptxGenJS Presentation</dc:subject>
  <dc:creator>Team 05</dc:creator>
  <cp:lastModifiedBy>Ciaran Formby</cp:lastModifiedBy>
  <cp:revision>1</cp:revision>
  <dcterms:created xsi:type="dcterms:W3CDTF">2026-10-23T10:24:49Z</dcterms:created>
  <dcterms:modified xsi:type="dcterms:W3CDTF">2026-10-24T09:22:25Z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0x010100CA07DB82222F6A4DA8DB6DD136C2094A</vt:lpwstr>
  </property>
</Properties>
</file>